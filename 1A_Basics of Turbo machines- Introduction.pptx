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8.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7" r:id="rId2"/>
    <p:sldId id="314" r:id="rId3"/>
    <p:sldId id="307" r:id="rId4"/>
    <p:sldId id="315" r:id="rId5"/>
    <p:sldId id="308" r:id="rId6"/>
    <p:sldId id="309" r:id="rId7"/>
    <p:sldId id="310" r:id="rId8"/>
    <p:sldId id="311" r:id="rId9"/>
    <p:sldId id="312" r:id="rId10"/>
    <p:sldId id="313" r:id="rId11"/>
    <p:sldId id="287" r:id="rId12"/>
    <p:sldId id="288" r:id="rId13"/>
    <p:sldId id="316" r:id="rId14"/>
    <p:sldId id="290" r:id="rId15"/>
    <p:sldId id="317" r:id="rId16"/>
    <p:sldId id="291" r:id="rId17"/>
    <p:sldId id="292" r:id="rId18"/>
    <p:sldId id="289" r:id="rId19"/>
    <p:sldId id="293" r:id="rId20"/>
    <p:sldId id="318" r:id="rId21"/>
    <p:sldId id="294" r:id="rId22"/>
    <p:sldId id="295" r:id="rId23"/>
    <p:sldId id="296" r:id="rId24"/>
    <p:sldId id="28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cEbSQMpes8RW0FC6Ma5SYQ==" hashData="619f2aNU6UiB612i7wtR97DOS6RIQ2+EXKlfLkC+eIofGFDccqiSkKiO6mR9tjHeD7Rk/1bxvwMGrg8dXP2t6A=="/>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jiv.Thakur" initials="R" lastIdx="12" clrIdx="0">
    <p:extLst>
      <p:ext uri="{19B8F6BF-5375-455C-9EA6-DF929625EA0E}">
        <p15:presenceInfo xmlns:p15="http://schemas.microsoft.com/office/powerpoint/2012/main" userId="Rajiv.Thaku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3399"/>
    <a:srgbClr val="130244"/>
    <a:srgbClr val="FF0066"/>
    <a:srgbClr val="0A6253"/>
    <a:srgbClr val="0E665C"/>
    <a:srgbClr val="6F1B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838" autoAdjust="0"/>
    <p:restoredTop sz="94660"/>
  </p:normalViewPr>
  <p:slideViewPr>
    <p:cSldViewPr snapToGrid="0" showGuides="1">
      <p:cViewPr varScale="1">
        <p:scale>
          <a:sx n="88" d="100"/>
          <a:sy n="88" d="100"/>
        </p:scale>
        <p:origin x="869" y="62"/>
      </p:cViewPr>
      <p:guideLst>
        <p:guide orient="horz" pos="2136"/>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92496A-ADA5-428E-944D-D783E307BB82}" type="datetimeFigureOut">
              <a:rPr lang="en-IN" smtClean="0"/>
              <a:pPr/>
              <a:t>23-07-2020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ADAE0C-B21C-419B-B441-157B3530F68E}" type="slidenum">
              <a:rPr lang="en-IN" smtClean="0"/>
              <a:pPr/>
              <a:t>‹#›</a:t>
            </a:fld>
            <a:endParaRPr lang="en-IN"/>
          </a:p>
        </p:txBody>
      </p:sp>
    </p:spTree>
    <p:extLst>
      <p:ext uri="{BB962C8B-B14F-4D97-AF65-F5344CB8AC3E}">
        <p14:creationId xmlns:p14="http://schemas.microsoft.com/office/powerpoint/2010/main" val="3376203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02B33BC-896A-4221-80CA-407E07B54428}" type="datetimeFigureOut">
              <a:rPr lang="en-US" smtClean="0"/>
              <a:pPr/>
              <a:t>7/23/2020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0E7C0D-F7A7-4CCA-998A-E5C598638FB5}" type="slidenum">
              <a:rPr lang="en-US" smtClean="0"/>
              <a:pPr/>
              <a:t>‹#›</a:t>
            </a:fld>
            <a:endParaRPr lang="en-US"/>
          </a:p>
        </p:txBody>
      </p:sp>
      <p:pic>
        <p:nvPicPr>
          <p:cNvPr id="9" name="Picture 8"/>
          <p:cNvPicPr>
            <a:picLocks noChangeAspect="1"/>
          </p:cNvPicPr>
          <p:nvPr userDrawn="1"/>
        </p:nvPicPr>
        <p:blipFill>
          <a:blip r:embed="rId2"/>
          <a:stretch>
            <a:fillRect/>
          </a:stretch>
        </p:blipFill>
        <p:spPr>
          <a:xfrm>
            <a:off x="-529" y="-297"/>
            <a:ext cx="12193057" cy="6858594"/>
          </a:xfrm>
          <a:prstGeom prst="rect">
            <a:avLst/>
          </a:prstGeom>
        </p:spPr>
      </p:pic>
    </p:spTree>
    <p:extLst>
      <p:ext uri="{BB962C8B-B14F-4D97-AF65-F5344CB8AC3E}">
        <p14:creationId xmlns:p14="http://schemas.microsoft.com/office/powerpoint/2010/main" val="4272553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02B33BC-896A-4221-80CA-407E07B54428}" type="datetimeFigureOut">
              <a:rPr lang="en-US" smtClean="0"/>
              <a:pPr/>
              <a:t>7/23/2020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0E7C0D-F7A7-4CCA-998A-E5C598638FB5}" type="slidenum">
              <a:rPr lang="en-US" smtClean="0"/>
              <a:pPr/>
              <a:t>‹#›</a:t>
            </a:fld>
            <a:endParaRPr lang="en-US"/>
          </a:p>
        </p:txBody>
      </p:sp>
      <p:pic>
        <p:nvPicPr>
          <p:cNvPr id="8" name="Picture 7"/>
          <p:cNvPicPr>
            <a:picLocks noChangeAspect="1"/>
          </p:cNvPicPr>
          <p:nvPr userDrawn="1"/>
        </p:nvPicPr>
        <p:blipFill>
          <a:blip r:embed="rId2"/>
          <a:stretch>
            <a:fillRect/>
          </a:stretch>
        </p:blipFill>
        <p:spPr>
          <a:xfrm>
            <a:off x="-529" y="-297"/>
            <a:ext cx="12193057" cy="6858594"/>
          </a:xfrm>
          <a:prstGeom prst="rect">
            <a:avLst/>
          </a:prstGeom>
        </p:spPr>
      </p:pic>
    </p:spTree>
    <p:extLst>
      <p:ext uri="{BB962C8B-B14F-4D97-AF65-F5344CB8AC3E}">
        <p14:creationId xmlns:p14="http://schemas.microsoft.com/office/powerpoint/2010/main" val="31136336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2B33BC-896A-4221-80CA-407E07B54428}" type="datetimeFigureOut">
              <a:rPr lang="en-US" smtClean="0"/>
              <a:pPr/>
              <a:t>7/23/2020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0E7C0D-F7A7-4CCA-998A-E5C598638FB5}" type="slidenum">
              <a:rPr lang="en-US" smtClean="0"/>
              <a:pPr/>
              <a:t>‹#›</a:t>
            </a:fld>
            <a:endParaRPr lang="en-US"/>
          </a:p>
        </p:txBody>
      </p:sp>
    </p:spTree>
    <p:extLst>
      <p:ext uri="{BB962C8B-B14F-4D97-AF65-F5344CB8AC3E}">
        <p14:creationId xmlns:p14="http://schemas.microsoft.com/office/powerpoint/2010/main" val="1010089686"/>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britannica.com/topic/volume" TargetMode="External"/><Relationship Id="rId2" Type="http://schemas.openxmlformats.org/officeDocument/2006/relationships/hyperlink" Target="https://www.britannica.com/science/mass-physics"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682114" y="157352"/>
            <a:ext cx="4604271" cy="1323975"/>
          </a:xfrm>
          <a:prstGeom prst="rect">
            <a:avLst/>
          </a:prstGeom>
        </p:spPr>
      </p:pic>
      <p:sp>
        <p:nvSpPr>
          <p:cNvPr id="7" name="object 6"/>
          <p:cNvSpPr txBox="1"/>
          <p:nvPr/>
        </p:nvSpPr>
        <p:spPr>
          <a:xfrm>
            <a:off x="2838678" y="2460608"/>
            <a:ext cx="6656831" cy="2115964"/>
          </a:xfrm>
          <a:prstGeom prst="rect">
            <a:avLst/>
          </a:prstGeom>
        </p:spPr>
        <p:txBody>
          <a:bodyPr vert="horz" wrap="square" lIns="0" tIns="12700" rIns="0" bIns="0" rtlCol="0">
            <a:spAutoFit/>
          </a:bodyPr>
          <a:lstStyle/>
          <a:p>
            <a:pPr marL="5715" algn="ctr">
              <a:lnSpc>
                <a:spcPct val="100000"/>
              </a:lnSpc>
              <a:spcBef>
                <a:spcPts val="2180"/>
              </a:spcBef>
            </a:pPr>
            <a:r>
              <a:rPr lang="en-IN" sz="3600" b="1" spc="-150" dirty="0" smtClean="0">
                <a:solidFill>
                  <a:srgbClr val="002060"/>
                </a:solidFill>
                <a:uFill>
                  <a:solidFill>
                    <a:srgbClr val="000000"/>
                  </a:solidFill>
                </a:uFill>
                <a:cs typeface="Arial"/>
              </a:rPr>
              <a:t>Turbo  Machines</a:t>
            </a:r>
          </a:p>
          <a:p>
            <a:pPr marL="5715" algn="ctr">
              <a:lnSpc>
                <a:spcPct val="100000"/>
              </a:lnSpc>
              <a:spcBef>
                <a:spcPts val="2180"/>
              </a:spcBef>
            </a:pPr>
            <a:r>
              <a:rPr lang="en-US" sz="2800" b="1" u="sng" dirty="0">
                <a:solidFill>
                  <a:srgbClr val="FF0000"/>
                </a:solidFill>
                <a:latin typeface="Times New Roman"/>
                <a:cs typeface="Times New Roman"/>
              </a:rPr>
              <a:t>Basics of Turbo machines</a:t>
            </a:r>
            <a:endParaRPr lang="en-IN" sz="2800" b="1" u="sng" spc="-150" dirty="0" smtClean="0">
              <a:solidFill>
                <a:srgbClr val="FF0000"/>
              </a:solidFill>
              <a:uFill>
                <a:solidFill>
                  <a:srgbClr val="000000"/>
                </a:solidFill>
              </a:uFill>
              <a:cs typeface="Arial"/>
            </a:endParaRPr>
          </a:p>
          <a:p>
            <a:pPr marL="5715" algn="ctr">
              <a:lnSpc>
                <a:spcPct val="100000"/>
              </a:lnSpc>
              <a:spcBef>
                <a:spcPts val="2180"/>
              </a:spcBef>
            </a:pPr>
            <a:endParaRPr lang="en-IN" sz="3600" b="1" u="sng" spc="-150" dirty="0">
              <a:solidFill>
                <a:srgbClr val="FF0000"/>
              </a:solidFill>
              <a:uFill>
                <a:solidFill>
                  <a:srgbClr val="000000"/>
                </a:solidFill>
              </a:uFill>
              <a:cs typeface="Arial"/>
            </a:endParaRPr>
          </a:p>
        </p:txBody>
      </p:sp>
      <p:sp>
        <p:nvSpPr>
          <p:cNvPr id="8" name="AutoShape 3">
            <a:extLst>
              <a:ext uri="{FF2B5EF4-FFF2-40B4-BE49-F238E27FC236}">
                <a16:creationId xmlns:a16="http://schemas.microsoft.com/office/drawing/2014/main" id="{F3FAC4EB-CF34-4E4A-BD7A-1EA72F1DED58}"/>
              </a:ext>
            </a:extLst>
          </p:cNvPr>
          <p:cNvSpPr>
            <a:spLocks noChangeArrowheads="1"/>
          </p:cNvSpPr>
          <p:nvPr/>
        </p:nvSpPr>
        <p:spPr bwMode="auto">
          <a:xfrm>
            <a:off x="501852" y="4960620"/>
            <a:ext cx="11330484" cy="914400"/>
          </a:xfrm>
          <a:custGeom>
            <a:avLst/>
            <a:gdLst>
              <a:gd name="T0" fmla="*/ 9144000 w 9144000"/>
              <a:gd name="T1" fmla="*/ 457200 h 914400"/>
              <a:gd name="T2" fmla="*/ 4572000 w 9144000"/>
              <a:gd name="T3" fmla="*/ 914400 h 914400"/>
              <a:gd name="T4" fmla="*/ 0 w 9144000"/>
              <a:gd name="T5" fmla="*/ 457200 h 914400"/>
              <a:gd name="T6" fmla="*/ 4572000 w 9144000"/>
              <a:gd name="T7" fmla="*/ 0 h 914400"/>
              <a:gd name="T8" fmla="*/ 0 60000 65536"/>
              <a:gd name="T9" fmla="*/ 5898240 60000 65536"/>
              <a:gd name="T10" fmla="*/ 11796480 60000 65536"/>
              <a:gd name="T11" fmla="*/ 17694720 60000 65536"/>
              <a:gd name="T12" fmla="*/ 0 w 9144000"/>
              <a:gd name="T13" fmla="*/ 0 h 914400"/>
              <a:gd name="T14" fmla="*/ 9144000 w 9144000"/>
              <a:gd name="T15" fmla="*/ 914400 h 914400"/>
            </a:gdLst>
            <a:ahLst/>
            <a:cxnLst>
              <a:cxn ang="T8">
                <a:pos x="T0" y="T1"/>
              </a:cxn>
              <a:cxn ang="T9">
                <a:pos x="T2" y="T3"/>
              </a:cxn>
              <a:cxn ang="T10">
                <a:pos x="T4" y="T5"/>
              </a:cxn>
              <a:cxn ang="T11">
                <a:pos x="T6" y="T7"/>
              </a:cxn>
            </a:cxnLst>
            <a:rect l="T12" t="T13" r="T14" b="T15"/>
            <a:pathLst>
              <a:path w="9144000" h="914400">
                <a:moveTo>
                  <a:pt x="0" y="1248"/>
                </a:moveTo>
                <a:lnTo>
                  <a:pt x="1248" y="1248"/>
                </a:lnTo>
                <a:lnTo>
                  <a:pt x="180" y="90"/>
                </a:lnTo>
                <a:lnTo>
                  <a:pt x="24152" y="0"/>
                </a:lnTo>
                <a:lnTo>
                  <a:pt x="1248" y="1248"/>
                </a:lnTo>
                <a:lnTo>
                  <a:pt x="270" y="90"/>
                </a:lnTo>
                <a:lnTo>
                  <a:pt x="25400" y="1292"/>
                </a:lnTo>
                <a:lnTo>
                  <a:pt x="1248" y="1248"/>
                </a:lnTo>
                <a:lnTo>
                  <a:pt x="0" y="1248"/>
                </a:lnTo>
                <a:close/>
              </a:path>
            </a:pathLst>
          </a:custGeom>
          <a:gradFill rotWithShape="0">
            <a:gsLst>
              <a:gs pos="0">
                <a:srgbClr val="E6F7FF"/>
              </a:gs>
              <a:gs pos="100000">
                <a:srgbClr val="BFECFF"/>
              </a:gs>
            </a:gsLst>
            <a:lin ang="5400000" scaled="1"/>
          </a:gradFill>
          <a:ln w="9360">
            <a:solidFill>
              <a:srgbClr val="46AAC4"/>
            </a:solidFill>
            <a:round/>
            <a:headEnd/>
            <a:tailEnd/>
          </a:ln>
          <a:effectLst>
            <a:outerShdw dist="20160" dir="5400000" algn="ctr" rotWithShape="0">
              <a:srgbClr val="000000">
                <a:alpha val="38033"/>
              </a:srgbClr>
            </a:outerShdw>
          </a:effectLst>
        </p:spPr>
        <p:txBody>
          <a:bodyPr lIns="90000" tIns="45000" rIns="90000" bIns="45000" anchor="ctr"/>
          <a:lstStyle>
            <a:lvl1pPr>
              <a:lnSpc>
                <a:spcPct val="83000"/>
              </a:lnSpc>
              <a:spcBef>
                <a:spcPts val="1425"/>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Calibri" panose="020F0502020204030204" pitchFamily="34" charset="0"/>
                <a:cs typeface="WenQuanYi Micro Hei" charset="0"/>
              </a:defRPr>
            </a:lvl1pPr>
            <a:lvl2pPr>
              <a:lnSpc>
                <a:spcPct val="83000"/>
              </a:lnSpc>
              <a:spcBef>
                <a:spcPts val="1138"/>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anose="020F0502020204030204" pitchFamily="34" charset="0"/>
                <a:cs typeface="WenQuanYi Micro Hei" charset="0"/>
              </a:defRPr>
            </a:lvl2pPr>
            <a:lvl3pPr>
              <a:lnSpc>
                <a:spcPct val="83000"/>
              </a:lnSpc>
              <a:spcBef>
                <a:spcPts val="85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WenQuanYi Micro Hei" charset="0"/>
              </a:defRPr>
            </a:lvl3pPr>
            <a:lvl4pPr>
              <a:lnSpc>
                <a:spcPct val="83000"/>
              </a:lnSpc>
              <a:spcBef>
                <a:spcPts val="575"/>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WenQuanYi Micro Hei" charset="0"/>
              </a:defRPr>
            </a:lvl4pPr>
            <a:lvl5pPr>
              <a:lnSpc>
                <a:spcPct val="83000"/>
              </a:lnSpc>
              <a:spcBef>
                <a:spcPts val="288"/>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WenQuanYi Micro Hei" charset="0"/>
              </a:defRPr>
            </a:lvl5pPr>
            <a:lvl6pPr marL="2514600" indent="-228600" defTabSz="457200" eaLnBrk="0" fontAlgn="base" hangingPunct="0">
              <a:lnSpc>
                <a:spcPct val="83000"/>
              </a:lnSpc>
              <a:spcBef>
                <a:spcPts val="288"/>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WenQuanYi Micro Hei" charset="0"/>
              </a:defRPr>
            </a:lvl6pPr>
            <a:lvl7pPr marL="2971800" indent="-228600" defTabSz="457200" eaLnBrk="0" fontAlgn="base" hangingPunct="0">
              <a:lnSpc>
                <a:spcPct val="83000"/>
              </a:lnSpc>
              <a:spcBef>
                <a:spcPts val="288"/>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WenQuanYi Micro Hei" charset="0"/>
              </a:defRPr>
            </a:lvl7pPr>
            <a:lvl8pPr marL="3429000" indent="-228600" defTabSz="457200" eaLnBrk="0" fontAlgn="base" hangingPunct="0">
              <a:lnSpc>
                <a:spcPct val="83000"/>
              </a:lnSpc>
              <a:spcBef>
                <a:spcPts val="288"/>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WenQuanYi Micro Hei" charset="0"/>
              </a:defRPr>
            </a:lvl8pPr>
            <a:lvl9pPr marL="3886200" indent="-228600" defTabSz="457200" eaLnBrk="0" fontAlgn="base" hangingPunct="0">
              <a:lnSpc>
                <a:spcPct val="83000"/>
              </a:lnSpc>
              <a:spcBef>
                <a:spcPts val="288"/>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anose="020F0502020204030204" pitchFamily="34" charset="0"/>
                <a:cs typeface="WenQuanYi Micro Hei" charset="0"/>
              </a:defRPr>
            </a:lvl9pPr>
          </a:lstStyle>
          <a:p>
            <a:pPr algn="ctr" eaLnBrk="1" hangingPunct="1">
              <a:lnSpc>
                <a:spcPct val="100000"/>
              </a:lnSpc>
              <a:spcBef>
                <a:spcPct val="0"/>
              </a:spcBef>
            </a:pPr>
            <a:r>
              <a:rPr lang="en-US" altLang="en-US" sz="2400" dirty="0">
                <a:latin typeface="Bahnschrift Condensed" panose="020B0502040204020203" pitchFamily="34" charset="0"/>
              </a:rPr>
              <a:t>Atul M.Elgandelwar, Associate Professor, </a:t>
            </a:r>
          </a:p>
          <a:p>
            <a:pPr algn="ctr" eaLnBrk="1" hangingPunct="1">
              <a:lnSpc>
                <a:spcPct val="100000"/>
              </a:lnSpc>
              <a:spcBef>
                <a:spcPct val="0"/>
              </a:spcBef>
            </a:pPr>
            <a:r>
              <a:rPr lang="en-US" altLang="en-US" sz="2400" dirty="0">
                <a:latin typeface="Bahnschrift Condensed" panose="020B0502040204020203" pitchFamily="34" charset="0"/>
              </a:rPr>
              <a:t>School of Mechanical Engineering</a:t>
            </a:r>
          </a:p>
        </p:txBody>
      </p:sp>
    </p:spTree>
    <p:extLst>
      <p:ext uri="{BB962C8B-B14F-4D97-AF65-F5344CB8AC3E}">
        <p14:creationId xmlns:p14="http://schemas.microsoft.com/office/powerpoint/2010/main" val="32620092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12" name="object 3"/>
          <p:cNvSpPr/>
          <p:nvPr/>
        </p:nvSpPr>
        <p:spPr>
          <a:xfrm>
            <a:off x="2298563" y="914399"/>
            <a:ext cx="8153400" cy="651510"/>
          </a:xfrm>
          <a:custGeom>
            <a:avLst/>
            <a:gdLst/>
            <a:ahLst/>
            <a:cxnLst/>
            <a:rect l="l" t="t" r="r" b="b"/>
            <a:pathLst>
              <a:path w="8153400" h="651510">
                <a:moveTo>
                  <a:pt x="8153400" y="571499"/>
                </a:moveTo>
                <a:lnTo>
                  <a:pt x="8151509" y="524650"/>
                </a:lnTo>
                <a:lnTo>
                  <a:pt x="8145936" y="478839"/>
                </a:lnTo>
                <a:lnTo>
                  <a:pt x="8136825" y="434214"/>
                </a:lnTo>
                <a:lnTo>
                  <a:pt x="8124322" y="390924"/>
                </a:lnTo>
                <a:lnTo>
                  <a:pt x="8108572" y="349115"/>
                </a:lnTo>
                <a:lnTo>
                  <a:pt x="8089723" y="308934"/>
                </a:lnTo>
                <a:lnTo>
                  <a:pt x="8067919" y="270530"/>
                </a:lnTo>
                <a:lnTo>
                  <a:pt x="8043306" y="234049"/>
                </a:lnTo>
                <a:lnTo>
                  <a:pt x="8016029" y="199640"/>
                </a:lnTo>
                <a:lnTo>
                  <a:pt x="7986236" y="167449"/>
                </a:lnTo>
                <a:lnTo>
                  <a:pt x="7954070" y="137624"/>
                </a:lnTo>
                <a:lnTo>
                  <a:pt x="7919679" y="110313"/>
                </a:lnTo>
                <a:lnTo>
                  <a:pt x="7883207" y="85662"/>
                </a:lnTo>
                <a:lnTo>
                  <a:pt x="7844801" y="63820"/>
                </a:lnTo>
                <a:lnTo>
                  <a:pt x="7804606" y="44934"/>
                </a:lnTo>
                <a:lnTo>
                  <a:pt x="7762768" y="29151"/>
                </a:lnTo>
                <a:lnTo>
                  <a:pt x="7719432" y="16618"/>
                </a:lnTo>
                <a:lnTo>
                  <a:pt x="7674745" y="7484"/>
                </a:lnTo>
                <a:lnTo>
                  <a:pt x="7628853" y="1895"/>
                </a:lnTo>
                <a:lnTo>
                  <a:pt x="7581900" y="0"/>
                </a:lnTo>
                <a:lnTo>
                  <a:pt x="571500" y="0"/>
                </a:lnTo>
                <a:lnTo>
                  <a:pt x="524650" y="1895"/>
                </a:lnTo>
                <a:lnTo>
                  <a:pt x="478839" y="7484"/>
                </a:lnTo>
                <a:lnTo>
                  <a:pt x="434214" y="16618"/>
                </a:lnTo>
                <a:lnTo>
                  <a:pt x="390924" y="29151"/>
                </a:lnTo>
                <a:lnTo>
                  <a:pt x="349115" y="44934"/>
                </a:lnTo>
                <a:lnTo>
                  <a:pt x="308934" y="63820"/>
                </a:lnTo>
                <a:lnTo>
                  <a:pt x="270530" y="85662"/>
                </a:lnTo>
                <a:lnTo>
                  <a:pt x="234049" y="110313"/>
                </a:lnTo>
                <a:lnTo>
                  <a:pt x="199640" y="137624"/>
                </a:lnTo>
                <a:lnTo>
                  <a:pt x="167449" y="167449"/>
                </a:lnTo>
                <a:lnTo>
                  <a:pt x="137624" y="199640"/>
                </a:lnTo>
                <a:lnTo>
                  <a:pt x="110313" y="234049"/>
                </a:lnTo>
                <a:lnTo>
                  <a:pt x="85662" y="270530"/>
                </a:lnTo>
                <a:lnTo>
                  <a:pt x="63820" y="308934"/>
                </a:lnTo>
                <a:lnTo>
                  <a:pt x="44934" y="349115"/>
                </a:lnTo>
                <a:lnTo>
                  <a:pt x="29151" y="390924"/>
                </a:lnTo>
                <a:lnTo>
                  <a:pt x="16618" y="434214"/>
                </a:lnTo>
                <a:lnTo>
                  <a:pt x="7484" y="478839"/>
                </a:lnTo>
                <a:lnTo>
                  <a:pt x="1895" y="524650"/>
                </a:lnTo>
                <a:lnTo>
                  <a:pt x="0" y="571500"/>
                </a:lnTo>
                <a:lnTo>
                  <a:pt x="1895" y="618453"/>
                </a:lnTo>
                <a:lnTo>
                  <a:pt x="5921" y="651510"/>
                </a:lnTo>
                <a:lnTo>
                  <a:pt x="8147495" y="651509"/>
                </a:lnTo>
                <a:lnTo>
                  <a:pt x="8151509" y="618453"/>
                </a:lnTo>
                <a:lnTo>
                  <a:pt x="8153400" y="571499"/>
                </a:lnTo>
                <a:close/>
              </a:path>
            </a:pathLst>
          </a:custGeom>
          <a:solidFill>
            <a:srgbClr val="3333CC"/>
          </a:solidFill>
        </p:spPr>
        <p:txBody>
          <a:bodyPr wrap="square" lIns="0" tIns="0" rIns="0" bIns="0" rtlCol="0"/>
          <a:lstStyle/>
          <a:p>
            <a:r>
              <a:rPr lang="en-US" sz="3200" b="1" dirty="0" smtClean="0">
                <a:solidFill>
                  <a:srgbClr val="FFFFFF"/>
                </a:solidFill>
                <a:latin typeface="Times New Roman"/>
                <a:cs typeface="Times New Roman"/>
              </a:rPr>
              <a:t>            </a:t>
            </a:r>
            <a:r>
              <a:rPr lang="en-US" sz="3600" b="1" dirty="0" smtClean="0">
                <a:solidFill>
                  <a:srgbClr val="FFFFFF"/>
                </a:solidFill>
                <a:latin typeface="Times New Roman"/>
                <a:cs typeface="Times New Roman"/>
              </a:rPr>
              <a:t>Basics of Turbo machines</a:t>
            </a:r>
            <a:endParaRPr sz="3600" dirty="0"/>
          </a:p>
        </p:txBody>
      </p:sp>
      <p:sp>
        <p:nvSpPr>
          <p:cNvPr id="13" name="object 6"/>
          <p:cNvSpPr/>
          <p:nvPr/>
        </p:nvSpPr>
        <p:spPr>
          <a:xfrm>
            <a:off x="2309993" y="1565909"/>
            <a:ext cx="8141970" cy="491490"/>
          </a:xfrm>
          <a:custGeom>
            <a:avLst/>
            <a:gdLst/>
            <a:ahLst/>
            <a:cxnLst/>
            <a:rect l="l" t="t" r="r" b="b"/>
            <a:pathLst>
              <a:path w="8141970" h="491489">
                <a:moveTo>
                  <a:pt x="8141573" y="0"/>
                </a:moveTo>
                <a:lnTo>
                  <a:pt x="0" y="0"/>
                </a:lnTo>
                <a:lnTo>
                  <a:pt x="1563" y="12835"/>
                </a:lnTo>
                <a:lnTo>
                  <a:pt x="10697" y="57522"/>
                </a:lnTo>
                <a:lnTo>
                  <a:pt x="23229" y="100858"/>
                </a:lnTo>
                <a:lnTo>
                  <a:pt x="39012" y="142696"/>
                </a:lnTo>
                <a:lnTo>
                  <a:pt x="57899" y="182891"/>
                </a:lnTo>
                <a:lnTo>
                  <a:pt x="79741" y="221297"/>
                </a:lnTo>
                <a:lnTo>
                  <a:pt x="104391" y="257769"/>
                </a:lnTo>
                <a:lnTo>
                  <a:pt x="131703" y="292160"/>
                </a:lnTo>
                <a:lnTo>
                  <a:pt x="161528" y="324326"/>
                </a:lnTo>
                <a:lnTo>
                  <a:pt x="193719" y="354119"/>
                </a:lnTo>
                <a:lnTo>
                  <a:pt x="228128" y="381396"/>
                </a:lnTo>
                <a:lnTo>
                  <a:pt x="264609" y="406009"/>
                </a:lnTo>
                <a:lnTo>
                  <a:pt x="303013" y="427813"/>
                </a:lnTo>
                <a:lnTo>
                  <a:pt x="343193" y="446662"/>
                </a:lnTo>
                <a:lnTo>
                  <a:pt x="385003" y="462412"/>
                </a:lnTo>
                <a:lnTo>
                  <a:pt x="428293" y="474915"/>
                </a:lnTo>
                <a:lnTo>
                  <a:pt x="472918" y="484026"/>
                </a:lnTo>
                <a:lnTo>
                  <a:pt x="518728" y="489599"/>
                </a:lnTo>
                <a:lnTo>
                  <a:pt x="565578" y="491490"/>
                </a:lnTo>
                <a:lnTo>
                  <a:pt x="7575978" y="491490"/>
                </a:lnTo>
                <a:lnTo>
                  <a:pt x="7622931" y="489599"/>
                </a:lnTo>
                <a:lnTo>
                  <a:pt x="7668824" y="484026"/>
                </a:lnTo>
                <a:lnTo>
                  <a:pt x="7713511" y="474915"/>
                </a:lnTo>
                <a:lnTo>
                  <a:pt x="7756847" y="462412"/>
                </a:lnTo>
                <a:lnTo>
                  <a:pt x="7798685" y="446662"/>
                </a:lnTo>
                <a:lnTo>
                  <a:pt x="7838880" y="427813"/>
                </a:lnTo>
                <a:lnTo>
                  <a:pt x="7877286" y="406009"/>
                </a:lnTo>
                <a:lnTo>
                  <a:pt x="7913758" y="381396"/>
                </a:lnTo>
                <a:lnTo>
                  <a:pt x="7948149" y="354119"/>
                </a:lnTo>
                <a:lnTo>
                  <a:pt x="7980315" y="324326"/>
                </a:lnTo>
                <a:lnTo>
                  <a:pt x="8010108" y="292160"/>
                </a:lnTo>
                <a:lnTo>
                  <a:pt x="8037384" y="257769"/>
                </a:lnTo>
                <a:lnTo>
                  <a:pt x="8061998" y="221297"/>
                </a:lnTo>
                <a:lnTo>
                  <a:pt x="8083802" y="182891"/>
                </a:lnTo>
                <a:lnTo>
                  <a:pt x="8102651" y="142696"/>
                </a:lnTo>
                <a:lnTo>
                  <a:pt x="8118400" y="100858"/>
                </a:lnTo>
                <a:lnTo>
                  <a:pt x="8130903" y="57522"/>
                </a:lnTo>
                <a:lnTo>
                  <a:pt x="8140014" y="12835"/>
                </a:lnTo>
                <a:lnTo>
                  <a:pt x="8141573" y="0"/>
                </a:lnTo>
                <a:close/>
              </a:path>
            </a:pathLst>
          </a:custGeom>
          <a:solidFill>
            <a:srgbClr val="3333CC"/>
          </a:solidFill>
        </p:spPr>
        <p:txBody>
          <a:bodyPr wrap="square" lIns="0" tIns="0" rIns="0" bIns="0" rtlCol="0"/>
          <a:lstStyle/>
          <a:p>
            <a:endParaRPr/>
          </a:p>
        </p:txBody>
      </p:sp>
      <p:sp>
        <p:nvSpPr>
          <p:cNvPr id="5" name="TextBox 4"/>
          <p:cNvSpPr txBox="1"/>
          <p:nvPr/>
        </p:nvSpPr>
        <p:spPr>
          <a:xfrm>
            <a:off x="568410" y="2264375"/>
            <a:ext cx="11294076" cy="1384995"/>
          </a:xfrm>
          <a:prstGeom prst="rect">
            <a:avLst/>
          </a:prstGeom>
          <a:noFill/>
        </p:spPr>
        <p:txBody>
          <a:bodyPr wrap="square" rtlCol="0">
            <a:spAutoFit/>
          </a:bodyPr>
          <a:lstStyle/>
          <a:p>
            <a:pPr algn="just"/>
            <a:r>
              <a:rPr lang="en-US" sz="2800" dirty="0" smtClean="0"/>
              <a:t>Part (A)</a:t>
            </a:r>
          </a:p>
          <a:p>
            <a:pPr algn="just"/>
            <a:r>
              <a:rPr lang="en-US" sz="2800" dirty="0" smtClean="0"/>
              <a:t>Introduction : Definition ,Classification , Fundamental equations, Comparison with positive displacement machines, Applications of turbo machines</a:t>
            </a:r>
            <a:endParaRPr lang="en-US" sz="2800" dirty="0"/>
          </a:p>
        </p:txBody>
      </p:sp>
      <p:sp>
        <p:nvSpPr>
          <p:cNvPr id="6" name="Rectangle 5"/>
          <p:cNvSpPr/>
          <p:nvPr/>
        </p:nvSpPr>
        <p:spPr>
          <a:xfrm>
            <a:off x="568410" y="4004435"/>
            <a:ext cx="11294076" cy="1815882"/>
          </a:xfrm>
          <a:prstGeom prst="rect">
            <a:avLst/>
          </a:prstGeom>
        </p:spPr>
        <p:txBody>
          <a:bodyPr wrap="square">
            <a:spAutoFit/>
          </a:bodyPr>
          <a:lstStyle/>
          <a:p>
            <a:pPr algn="just"/>
            <a:r>
              <a:rPr lang="en-US" sz="2800" dirty="0" smtClean="0"/>
              <a:t>Part (B)</a:t>
            </a:r>
          </a:p>
          <a:p>
            <a:pPr algn="just"/>
            <a:r>
              <a:rPr lang="en-US" sz="2800" dirty="0" smtClean="0"/>
              <a:t>Impact jet : Laws of Impulse momentum and it’s application ,Force exerted on fixed and moving flat plate , curved vanes , series of flat plates and radial vanes, velocity triangles and their analysis, work done and efficiency.</a:t>
            </a:r>
            <a:endParaRPr lang="en-US" sz="2800" dirty="0"/>
          </a:p>
        </p:txBody>
      </p:sp>
    </p:spTree>
    <p:extLst>
      <p:ext uri="{BB962C8B-B14F-4D97-AF65-F5344CB8AC3E}">
        <p14:creationId xmlns:p14="http://schemas.microsoft.com/office/powerpoint/2010/main" val="8679945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1795272" y="128016"/>
            <a:ext cx="6196584" cy="694943"/>
          </a:xfrm>
        </p:spPr>
        <p:txBody>
          <a:bodyPr>
            <a:normAutofit fontScale="90000"/>
          </a:bodyPr>
          <a:lstStyle/>
          <a:p>
            <a:pPr algn="ctr" eaLnBrk="1" fontAlgn="auto" hangingPunct="1">
              <a:spcAft>
                <a:spcPts val="0"/>
              </a:spcAft>
              <a:defRPr/>
            </a:pPr>
            <a:r>
              <a:rPr lang="en-GB" sz="2400" b="1" dirty="0" smtClean="0">
                <a:solidFill>
                  <a:srgbClr val="FF0000"/>
                </a:solidFill>
                <a:latin typeface="Times New Roman" pitchFamily="18" charset="0"/>
                <a:cs typeface="Times New Roman" pitchFamily="18" charset="0"/>
              </a:rPr>
              <a:t/>
            </a:r>
            <a:br>
              <a:rPr lang="en-GB" sz="2400" b="1" dirty="0" smtClean="0">
                <a:solidFill>
                  <a:srgbClr val="FF0000"/>
                </a:solidFill>
                <a:latin typeface="Times New Roman" pitchFamily="18" charset="0"/>
                <a:cs typeface="Times New Roman" pitchFamily="18" charset="0"/>
              </a:rPr>
            </a:br>
            <a:r>
              <a:rPr lang="en-US" sz="3100" b="1" u="sng" dirty="0" smtClean="0">
                <a:solidFill>
                  <a:srgbClr val="FF0000"/>
                </a:solidFill>
                <a:latin typeface="+mn-lt"/>
                <a:cs typeface="Times New Roman" pitchFamily="18" charset="0"/>
              </a:rPr>
              <a:t>Introduction to Turbo Machines</a:t>
            </a:r>
            <a:endParaRPr lang="en-CA" sz="3100" b="1" u="sng" dirty="0" smtClean="0">
              <a:solidFill>
                <a:srgbClr val="FF0000"/>
              </a:solidFill>
              <a:latin typeface="+mn-lt"/>
              <a:cs typeface="Times New Roman" pitchFamily="18" charset="0"/>
            </a:endParaRPr>
          </a:p>
        </p:txBody>
      </p:sp>
      <p:sp>
        <p:nvSpPr>
          <p:cNvPr id="6" name="object 4"/>
          <p:cNvSpPr txBox="1"/>
          <p:nvPr/>
        </p:nvSpPr>
        <p:spPr>
          <a:xfrm>
            <a:off x="295146" y="1899717"/>
            <a:ext cx="6978396" cy="2305759"/>
          </a:xfrm>
          <a:prstGeom prst="rect">
            <a:avLst/>
          </a:prstGeom>
        </p:spPr>
        <p:txBody>
          <a:bodyPr vert="horz" wrap="square" lIns="0" tIns="12700" rIns="0" bIns="0" rtlCol="0">
            <a:spAutoFit/>
          </a:bodyPr>
          <a:lstStyle/>
          <a:p>
            <a:pPr marL="355600" marR="27940" indent="-342900" algn="just">
              <a:lnSpc>
                <a:spcPct val="100000"/>
              </a:lnSpc>
              <a:spcBef>
                <a:spcPts val="100"/>
              </a:spcBef>
              <a:buSzPct val="125000"/>
              <a:buChar char="•"/>
              <a:tabLst>
                <a:tab pos="354965" algn="l"/>
                <a:tab pos="355600" algn="l"/>
              </a:tabLst>
            </a:pPr>
            <a:r>
              <a:rPr sz="2000" spc="-5" dirty="0">
                <a:cs typeface="Times New Roman"/>
              </a:rPr>
              <a:t>A </a:t>
            </a:r>
            <a:r>
              <a:rPr sz="2000" dirty="0">
                <a:cs typeface="Times New Roman"/>
              </a:rPr>
              <a:t>turbomachine </a:t>
            </a:r>
            <a:r>
              <a:rPr sz="2000" spc="-5" dirty="0">
                <a:cs typeface="Times New Roman"/>
              </a:rPr>
              <a:t>is </a:t>
            </a:r>
            <a:r>
              <a:rPr sz="2000" dirty="0">
                <a:cs typeface="Times New Roman"/>
              </a:rPr>
              <a:t>basically a</a:t>
            </a:r>
            <a:r>
              <a:rPr sz="2000" spc="-270" dirty="0">
                <a:cs typeface="Times New Roman"/>
              </a:rPr>
              <a:t> </a:t>
            </a:r>
            <a:r>
              <a:rPr lang="en-US" sz="2000" spc="-270" dirty="0" smtClean="0">
                <a:cs typeface="Times New Roman"/>
              </a:rPr>
              <a:t> </a:t>
            </a:r>
            <a:r>
              <a:rPr sz="2000" dirty="0" smtClean="0">
                <a:cs typeface="Times New Roman"/>
              </a:rPr>
              <a:t>rotating  machine</a:t>
            </a:r>
            <a:r>
              <a:rPr lang="en-US" sz="2000" dirty="0" smtClean="0">
                <a:cs typeface="Times New Roman"/>
              </a:rPr>
              <a:t>.</a:t>
            </a:r>
            <a:endParaRPr sz="2000" dirty="0">
              <a:cs typeface="Times New Roman"/>
            </a:endParaRPr>
          </a:p>
          <a:p>
            <a:pPr marL="355600" marR="234315" indent="-342900" algn="just">
              <a:lnSpc>
                <a:spcPct val="100000"/>
              </a:lnSpc>
              <a:spcBef>
                <a:spcPts val="575"/>
              </a:spcBef>
              <a:buSzPct val="125000"/>
              <a:buChar char="•"/>
              <a:tabLst>
                <a:tab pos="354965" algn="l"/>
                <a:tab pos="355600" algn="l"/>
              </a:tabLst>
            </a:pPr>
            <a:r>
              <a:rPr sz="2000" dirty="0">
                <a:cs typeface="Times New Roman"/>
              </a:rPr>
              <a:t>The rotating wheel </a:t>
            </a:r>
            <a:r>
              <a:rPr sz="2000" spc="-5" dirty="0">
                <a:cs typeface="Times New Roman"/>
              </a:rPr>
              <a:t>is </a:t>
            </a:r>
            <a:r>
              <a:rPr sz="2000" dirty="0">
                <a:cs typeface="Times New Roman"/>
              </a:rPr>
              <a:t>called a rotor</a:t>
            </a:r>
            <a:r>
              <a:rPr sz="2000" spc="-155" dirty="0">
                <a:cs typeface="Times New Roman"/>
              </a:rPr>
              <a:t> </a:t>
            </a:r>
            <a:r>
              <a:rPr sz="2000" dirty="0">
                <a:cs typeface="Times New Roman"/>
              </a:rPr>
              <a:t>/  </a:t>
            </a:r>
            <a:r>
              <a:rPr sz="2000" spc="-5" dirty="0">
                <a:cs typeface="Times New Roman"/>
              </a:rPr>
              <a:t>runner </a:t>
            </a:r>
            <a:r>
              <a:rPr sz="2000" dirty="0">
                <a:cs typeface="Times New Roman"/>
              </a:rPr>
              <a:t>/</a:t>
            </a:r>
            <a:r>
              <a:rPr sz="2000" spc="-20" dirty="0">
                <a:cs typeface="Times New Roman"/>
              </a:rPr>
              <a:t> </a:t>
            </a:r>
            <a:r>
              <a:rPr sz="2000" spc="-5" dirty="0" smtClean="0">
                <a:cs typeface="Times New Roman"/>
              </a:rPr>
              <a:t>impeller</a:t>
            </a:r>
            <a:r>
              <a:rPr lang="en-US" sz="2000" spc="-5" dirty="0" smtClean="0">
                <a:cs typeface="Times New Roman"/>
              </a:rPr>
              <a:t>.</a:t>
            </a:r>
            <a:endParaRPr sz="2000" dirty="0">
              <a:cs typeface="Times New Roman"/>
            </a:endParaRPr>
          </a:p>
          <a:p>
            <a:pPr marL="355600" marR="148590" indent="-342900" algn="just">
              <a:lnSpc>
                <a:spcPct val="100000"/>
              </a:lnSpc>
              <a:spcBef>
                <a:spcPts val="575"/>
              </a:spcBef>
              <a:buSzPct val="125000"/>
              <a:buChar char="•"/>
              <a:tabLst>
                <a:tab pos="354965" algn="l"/>
                <a:tab pos="355600" algn="l"/>
              </a:tabLst>
            </a:pPr>
            <a:r>
              <a:rPr sz="2000" dirty="0">
                <a:cs typeface="Times New Roman"/>
              </a:rPr>
              <a:t>The </a:t>
            </a:r>
            <a:r>
              <a:rPr sz="2000" spc="-5" dirty="0">
                <a:cs typeface="Times New Roman"/>
              </a:rPr>
              <a:t>rotor will be </a:t>
            </a:r>
            <a:r>
              <a:rPr sz="2000" dirty="0">
                <a:cs typeface="Times New Roman"/>
              </a:rPr>
              <a:t>immersed in a</a:t>
            </a:r>
            <a:r>
              <a:rPr sz="2000" spc="-140" dirty="0">
                <a:cs typeface="Times New Roman"/>
              </a:rPr>
              <a:t> </a:t>
            </a:r>
            <a:r>
              <a:rPr sz="2000" spc="-5" dirty="0">
                <a:cs typeface="Times New Roman"/>
              </a:rPr>
              <a:t>fluid  </a:t>
            </a:r>
            <a:r>
              <a:rPr sz="2000" dirty="0" smtClean="0">
                <a:cs typeface="Times New Roman"/>
              </a:rPr>
              <a:t>continuum</a:t>
            </a:r>
            <a:endParaRPr lang="en-US" sz="2000" dirty="0" smtClean="0">
              <a:cs typeface="Times New Roman"/>
            </a:endParaRPr>
          </a:p>
          <a:p>
            <a:pPr marL="355600" marR="5080" indent="-342900" algn="just">
              <a:lnSpc>
                <a:spcPct val="100000"/>
              </a:lnSpc>
              <a:spcBef>
                <a:spcPts val="575"/>
              </a:spcBef>
              <a:buSzPct val="125000"/>
              <a:buFont typeface="Arial" panose="020B0604020202020204" pitchFamily="34" charset="0"/>
              <a:buChar char="•"/>
              <a:tabLst>
                <a:tab pos="354965" algn="l"/>
                <a:tab pos="355600" algn="l"/>
              </a:tabLst>
            </a:pPr>
            <a:r>
              <a:rPr sz="2000" spc="-5" dirty="0" smtClean="0">
                <a:cs typeface="Times New Roman"/>
              </a:rPr>
              <a:t>The </a:t>
            </a:r>
            <a:r>
              <a:rPr sz="2000" spc="-5" dirty="0">
                <a:cs typeface="Times New Roman"/>
              </a:rPr>
              <a:t>fluid medium </a:t>
            </a:r>
            <a:r>
              <a:rPr sz="2000" dirty="0">
                <a:cs typeface="Times New Roman"/>
              </a:rPr>
              <a:t>can be </a:t>
            </a:r>
            <a:r>
              <a:rPr sz="2000" spc="-5" dirty="0">
                <a:cs typeface="Times New Roman"/>
              </a:rPr>
              <a:t>gas </a:t>
            </a:r>
            <a:r>
              <a:rPr sz="2000" dirty="0">
                <a:cs typeface="Times New Roman"/>
              </a:rPr>
              <a:t>/ steam</a:t>
            </a:r>
            <a:r>
              <a:rPr sz="2000" spc="-105" dirty="0">
                <a:cs typeface="Times New Roman"/>
              </a:rPr>
              <a:t> </a:t>
            </a:r>
            <a:r>
              <a:rPr sz="2000" dirty="0">
                <a:cs typeface="Times New Roman"/>
              </a:rPr>
              <a:t>/  water /</a:t>
            </a:r>
            <a:r>
              <a:rPr sz="2000" spc="-25" dirty="0">
                <a:cs typeface="Times New Roman"/>
              </a:rPr>
              <a:t> </a:t>
            </a:r>
            <a:r>
              <a:rPr sz="2000" dirty="0">
                <a:cs typeface="Times New Roman"/>
              </a:rPr>
              <a:t>air</a:t>
            </a:r>
          </a:p>
          <a:p>
            <a:pPr marL="355600" indent="-342900" algn="just">
              <a:lnSpc>
                <a:spcPct val="100000"/>
              </a:lnSpc>
              <a:spcBef>
                <a:spcPts val="575"/>
              </a:spcBef>
              <a:buSzPct val="125000"/>
              <a:buChar char="•"/>
              <a:tabLst>
                <a:tab pos="354965" algn="l"/>
                <a:tab pos="355600" algn="l"/>
              </a:tabLst>
            </a:pPr>
            <a:r>
              <a:rPr sz="2000" spc="-10" dirty="0">
                <a:cs typeface="Times New Roman"/>
              </a:rPr>
              <a:t>Energy </a:t>
            </a:r>
            <a:r>
              <a:rPr sz="2000" dirty="0">
                <a:cs typeface="Times New Roman"/>
              </a:rPr>
              <a:t>transfer takes place</a:t>
            </a:r>
            <a:r>
              <a:rPr sz="2000" spc="-80" dirty="0">
                <a:cs typeface="Times New Roman"/>
              </a:rPr>
              <a:t> </a:t>
            </a:r>
            <a:r>
              <a:rPr sz="2000" dirty="0" smtClean="0">
                <a:cs typeface="Times New Roman"/>
              </a:rPr>
              <a:t>either</a:t>
            </a:r>
            <a:endParaRPr lang="en-US" sz="2000" dirty="0" smtClean="0">
              <a:cs typeface="Times New Roman"/>
            </a:endParaRPr>
          </a:p>
          <a:p>
            <a:pPr marL="355600" indent="-342900">
              <a:lnSpc>
                <a:spcPct val="100000"/>
              </a:lnSpc>
              <a:spcBef>
                <a:spcPts val="575"/>
              </a:spcBef>
              <a:buSzPct val="125000"/>
              <a:buChar char="•"/>
              <a:tabLst>
                <a:tab pos="354965" algn="l"/>
                <a:tab pos="355600" algn="l"/>
              </a:tabLst>
            </a:pPr>
            <a:endParaRPr sz="2400" dirty="0">
              <a:cs typeface="Times New Roman"/>
            </a:endParaRPr>
          </a:p>
        </p:txBody>
      </p:sp>
      <p:sp>
        <p:nvSpPr>
          <p:cNvPr id="7" name="object 10"/>
          <p:cNvSpPr txBox="1"/>
          <p:nvPr/>
        </p:nvSpPr>
        <p:spPr>
          <a:xfrm>
            <a:off x="752728" y="3851027"/>
            <a:ext cx="5218685" cy="779059"/>
          </a:xfrm>
          <a:prstGeom prst="rect">
            <a:avLst/>
          </a:prstGeom>
        </p:spPr>
        <p:txBody>
          <a:bodyPr vert="horz" wrap="square" lIns="0" tIns="85725" rIns="0" bIns="0" rtlCol="0">
            <a:spAutoFit/>
          </a:bodyPr>
          <a:lstStyle/>
          <a:p>
            <a:pPr marL="298450" indent="-285750">
              <a:lnSpc>
                <a:spcPct val="100000"/>
              </a:lnSpc>
              <a:spcBef>
                <a:spcPts val="675"/>
              </a:spcBef>
              <a:buFont typeface="Wingdings"/>
              <a:buChar char=""/>
              <a:tabLst>
                <a:tab pos="298450" algn="l"/>
              </a:tabLst>
            </a:pPr>
            <a:r>
              <a:rPr sz="2000" spc="-5" dirty="0">
                <a:latin typeface="+mj-lt"/>
                <a:cs typeface="Times New Roman"/>
              </a:rPr>
              <a:t>from rotor to fluid,</a:t>
            </a:r>
            <a:r>
              <a:rPr sz="2000" spc="-80" dirty="0">
                <a:latin typeface="+mj-lt"/>
                <a:cs typeface="Times New Roman"/>
              </a:rPr>
              <a:t> </a:t>
            </a:r>
            <a:r>
              <a:rPr sz="2000" i="1" spc="-5" dirty="0">
                <a:latin typeface="+mj-lt"/>
                <a:cs typeface="Times New Roman"/>
              </a:rPr>
              <a:t>or</a:t>
            </a:r>
            <a:endParaRPr sz="2000" dirty="0">
              <a:latin typeface="+mj-lt"/>
              <a:cs typeface="Times New Roman"/>
            </a:endParaRPr>
          </a:p>
          <a:p>
            <a:pPr marL="298450" indent="-285750">
              <a:lnSpc>
                <a:spcPct val="100000"/>
              </a:lnSpc>
              <a:spcBef>
                <a:spcPts val="575"/>
              </a:spcBef>
              <a:buFont typeface="Wingdings"/>
              <a:buChar char=""/>
              <a:tabLst>
                <a:tab pos="298450" algn="l"/>
              </a:tabLst>
            </a:pPr>
            <a:r>
              <a:rPr sz="2000" spc="-5" dirty="0">
                <a:latin typeface="+mj-lt"/>
                <a:cs typeface="Times New Roman"/>
              </a:rPr>
              <a:t>from fluid to</a:t>
            </a:r>
            <a:r>
              <a:rPr sz="2000" spc="-35" dirty="0">
                <a:latin typeface="+mj-lt"/>
                <a:cs typeface="Times New Roman"/>
              </a:rPr>
              <a:t> </a:t>
            </a:r>
            <a:r>
              <a:rPr sz="2000" spc="-5" dirty="0">
                <a:latin typeface="+mj-lt"/>
                <a:cs typeface="Times New Roman"/>
              </a:rPr>
              <a:t>rotor</a:t>
            </a:r>
            <a:endParaRPr sz="2000" dirty="0">
              <a:latin typeface="+mj-lt"/>
              <a:cs typeface="Times New Roman"/>
            </a:endParaRPr>
          </a:p>
        </p:txBody>
      </p:sp>
      <p:sp>
        <p:nvSpPr>
          <p:cNvPr id="8" name="object 5"/>
          <p:cNvSpPr/>
          <p:nvPr/>
        </p:nvSpPr>
        <p:spPr>
          <a:xfrm>
            <a:off x="6428995" y="2274782"/>
            <a:ext cx="4163568" cy="3587431"/>
          </a:xfrm>
          <a:prstGeom prst="rect">
            <a:avLst/>
          </a:prstGeom>
          <a:blipFill>
            <a:blip r:embed="rId2" cstate="print"/>
            <a:stretch>
              <a:fillRect/>
            </a:stretch>
          </a:blipFill>
        </p:spPr>
        <p:txBody>
          <a:bodyPr wrap="square" lIns="0" tIns="0" rIns="0" bIns="0" rtlCol="0"/>
          <a:lstStyle/>
          <a:p>
            <a:endParaRPr/>
          </a:p>
        </p:txBody>
      </p:sp>
      <p:sp>
        <p:nvSpPr>
          <p:cNvPr id="9" name="Oval Callout 8"/>
          <p:cNvSpPr/>
          <p:nvPr/>
        </p:nvSpPr>
        <p:spPr>
          <a:xfrm rot="20493667">
            <a:off x="6577026" y="1610475"/>
            <a:ext cx="2834640" cy="1396131"/>
          </a:xfrm>
          <a:prstGeom prst="wedgeEllipseCallou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1440" marR="175260" algn="ctr">
              <a:lnSpc>
                <a:spcPct val="100000"/>
              </a:lnSpc>
              <a:spcBef>
                <a:spcPts val="305"/>
              </a:spcBef>
            </a:pPr>
            <a:r>
              <a:rPr lang="en-US" sz="2000" b="1" spc="-5" dirty="0">
                <a:solidFill>
                  <a:srgbClr val="002060"/>
                </a:solidFill>
                <a:latin typeface="+mj-lt"/>
                <a:cs typeface="Times New Roman"/>
              </a:rPr>
              <a:t>Compressor</a:t>
            </a:r>
            <a:r>
              <a:rPr lang="en-US" sz="2000" b="1" spc="-95" dirty="0">
                <a:solidFill>
                  <a:srgbClr val="002060"/>
                </a:solidFill>
                <a:latin typeface="+mj-lt"/>
                <a:cs typeface="Times New Roman"/>
              </a:rPr>
              <a:t> </a:t>
            </a:r>
            <a:r>
              <a:rPr lang="en-US" sz="2000" b="1" spc="-10" dirty="0">
                <a:solidFill>
                  <a:srgbClr val="002060"/>
                </a:solidFill>
                <a:latin typeface="+mj-lt"/>
                <a:cs typeface="Times New Roman"/>
              </a:rPr>
              <a:t>rotor  </a:t>
            </a:r>
            <a:r>
              <a:rPr lang="en-US" b="1" spc="-5" dirty="0">
                <a:solidFill>
                  <a:srgbClr val="002060"/>
                </a:solidFill>
                <a:latin typeface="+mj-lt"/>
                <a:cs typeface="Times New Roman"/>
              </a:rPr>
              <a:t>(imparts energy to  the</a:t>
            </a:r>
            <a:r>
              <a:rPr lang="en-US" b="1" spc="-15" dirty="0">
                <a:solidFill>
                  <a:srgbClr val="002060"/>
                </a:solidFill>
                <a:latin typeface="+mj-lt"/>
                <a:cs typeface="Times New Roman"/>
              </a:rPr>
              <a:t> </a:t>
            </a:r>
            <a:r>
              <a:rPr lang="en-US" b="1" spc="-5" dirty="0">
                <a:solidFill>
                  <a:srgbClr val="002060"/>
                </a:solidFill>
                <a:latin typeface="+mj-lt"/>
                <a:cs typeface="Times New Roman"/>
              </a:rPr>
              <a:t>fluid)</a:t>
            </a:r>
            <a:endParaRPr lang="en-US" dirty="0">
              <a:solidFill>
                <a:srgbClr val="002060"/>
              </a:solidFill>
              <a:latin typeface="+mj-lt"/>
              <a:cs typeface="Times New Roman"/>
            </a:endParaRPr>
          </a:p>
        </p:txBody>
      </p:sp>
      <p:sp>
        <p:nvSpPr>
          <p:cNvPr id="13" name="Oval Callout 12"/>
          <p:cNvSpPr/>
          <p:nvPr/>
        </p:nvSpPr>
        <p:spPr>
          <a:xfrm rot="1020849">
            <a:off x="9397964" y="2066372"/>
            <a:ext cx="2864419" cy="1396131"/>
          </a:xfrm>
          <a:prstGeom prst="wedgeEllipseCallou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1440" marR="175260" algn="ctr">
              <a:lnSpc>
                <a:spcPct val="100000"/>
              </a:lnSpc>
              <a:spcBef>
                <a:spcPts val="305"/>
              </a:spcBef>
            </a:pPr>
            <a:r>
              <a:rPr lang="en-US" sz="2000" b="1" spc="-5" dirty="0" smtClean="0">
                <a:solidFill>
                  <a:srgbClr val="002060"/>
                </a:solidFill>
                <a:latin typeface="+mj-lt"/>
                <a:cs typeface="Times New Roman"/>
              </a:rPr>
              <a:t>Turbine rotor </a:t>
            </a:r>
            <a:r>
              <a:rPr lang="en-US" b="1" spc="-5" dirty="0" smtClean="0">
                <a:solidFill>
                  <a:srgbClr val="002060"/>
                </a:solidFill>
                <a:latin typeface="+mj-lt"/>
                <a:cs typeface="Times New Roman"/>
              </a:rPr>
              <a:t>(extracts </a:t>
            </a:r>
            <a:r>
              <a:rPr lang="en-US" b="1" spc="-5" dirty="0">
                <a:solidFill>
                  <a:srgbClr val="002060"/>
                </a:solidFill>
                <a:latin typeface="+mj-lt"/>
                <a:cs typeface="Times New Roman"/>
              </a:rPr>
              <a:t>energy </a:t>
            </a:r>
            <a:r>
              <a:rPr lang="en-US" b="1" spc="-5" dirty="0" smtClean="0">
                <a:solidFill>
                  <a:srgbClr val="002060"/>
                </a:solidFill>
                <a:latin typeface="+mj-lt"/>
                <a:cs typeface="Times New Roman"/>
              </a:rPr>
              <a:t>from the</a:t>
            </a:r>
            <a:r>
              <a:rPr lang="en-US" b="1" spc="-15" dirty="0" smtClean="0">
                <a:solidFill>
                  <a:srgbClr val="002060"/>
                </a:solidFill>
                <a:latin typeface="+mj-lt"/>
                <a:cs typeface="Times New Roman"/>
              </a:rPr>
              <a:t> </a:t>
            </a:r>
            <a:r>
              <a:rPr lang="en-US" b="1" spc="-5" dirty="0">
                <a:solidFill>
                  <a:srgbClr val="002060"/>
                </a:solidFill>
                <a:latin typeface="+mj-lt"/>
                <a:cs typeface="Times New Roman"/>
              </a:rPr>
              <a:t>fluid</a:t>
            </a:r>
            <a:r>
              <a:rPr lang="en-US" b="1" spc="-5" dirty="0">
                <a:solidFill>
                  <a:srgbClr val="002060"/>
                </a:solidFill>
                <a:latin typeface="Times New Roman"/>
                <a:cs typeface="Times New Roman"/>
              </a:rPr>
              <a:t>)</a:t>
            </a:r>
            <a:endParaRPr lang="en-US" dirty="0">
              <a:solidFill>
                <a:srgbClr val="002060"/>
              </a:solidFill>
              <a:latin typeface="Times New Roman"/>
              <a:cs typeface="Times New Roman"/>
            </a:endParaRPr>
          </a:p>
        </p:txBody>
      </p:sp>
    </p:spTree>
    <p:extLst>
      <p:ext uri="{BB962C8B-B14F-4D97-AF65-F5344CB8AC3E}">
        <p14:creationId xmlns:p14="http://schemas.microsoft.com/office/powerpoint/2010/main" val="9224830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1795272" y="128016"/>
            <a:ext cx="6196584" cy="694943"/>
          </a:xfrm>
        </p:spPr>
        <p:txBody>
          <a:bodyPr>
            <a:normAutofit fontScale="90000"/>
          </a:bodyPr>
          <a:lstStyle/>
          <a:p>
            <a:pPr algn="ctr" eaLnBrk="1" fontAlgn="auto" hangingPunct="1">
              <a:spcAft>
                <a:spcPts val="0"/>
              </a:spcAft>
              <a:defRPr/>
            </a:pPr>
            <a:r>
              <a:rPr lang="en-GB" sz="2400" b="1" dirty="0" smtClean="0">
                <a:solidFill>
                  <a:srgbClr val="FF0000"/>
                </a:solidFill>
                <a:latin typeface="Times New Roman" pitchFamily="18" charset="0"/>
                <a:cs typeface="Times New Roman" pitchFamily="18" charset="0"/>
              </a:rPr>
              <a:t/>
            </a:r>
            <a:br>
              <a:rPr lang="en-GB" sz="2400" b="1" dirty="0" smtClean="0">
                <a:solidFill>
                  <a:srgbClr val="FF0000"/>
                </a:solidFill>
                <a:latin typeface="Times New Roman" pitchFamily="18" charset="0"/>
                <a:cs typeface="Times New Roman" pitchFamily="18" charset="0"/>
              </a:rPr>
            </a:br>
            <a:r>
              <a:rPr lang="en-US" sz="3100" b="1" u="sng" dirty="0" smtClean="0">
                <a:solidFill>
                  <a:srgbClr val="FF0000"/>
                </a:solidFill>
                <a:cs typeface="Times New Roman" pitchFamily="18" charset="0"/>
              </a:rPr>
              <a:t>Introduction to Turbo Machines</a:t>
            </a:r>
            <a:endParaRPr lang="en-CA" sz="3100" b="1" u="sng" dirty="0" smtClean="0">
              <a:solidFill>
                <a:srgbClr val="FF0000"/>
              </a:solidFill>
              <a:cs typeface="Times New Roman" pitchFamily="18" charset="0"/>
            </a:endParaRPr>
          </a:p>
        </p:txBody>
      </p:sp>
      <p:sp>
        <p:nvSpPr>
          <p:cNvPr id="3" name="Content Placeholder 2"/>
          <p:cNvSpPr>
            <a:spLocks noGrp="1"/>
          </p:cNvSpPr>
          <p:nvPr>
            <p:ph idx="1"/>
          </p:nvPr>
        </p:nvSpPr>
        <p:spPr>
          <a:xfrm>
            <a:off x="0" y="1676400"/>
            <a:ext cx="12051792" cy="4419600"/>
          </a:xfrm>
        </p:spPr>
        <p:txBody>
          <a:bodyPr>
            <a:normAutofit/>
          </a:bodyPr>
          <a:lstStyle/>
          <a:p>
            <a:pPr algn="just">
              <a:defRPr/>
            </a:pPr>
            <a:r>
              <a:rPr lang="en-US" sz="2800" dirty="0" smtClean="0">
                <a:solidFill>
                  <a:srgbClr val="002060"/>
                </a:solidFill>
                <a:cs typeface="Times New Roman" pitchFamily="18" charset="0"/>
              </a:rPr>
              <a:t>Definition</a:t>
            </a:r>
          </a:p>
          <a:p>
            <a:pPr algn="just">
              <a:buNone/>
              <a:defRPr/>
            </a:pPr>
            <a:r>
              <a:rPr lang="en-US" sz="2800" dirty="0" smtClean="0">
                <a:cs typeface="Times New Roman" pitchFamily="18" charset="0"/>
              </a:rPr>
              <a:t>	A turbo machine </a:t>
            </a:r>
            <a:r>
              <a:rPr lang="en-US" sz="2800" dirty="0">
                <a:cs typeface="Times New Roman" pitchFamily="18" charset="0"/>
              </a:rPr>
              <a:t>is a device in </a:t>
            </a:r>
            <a:r>
              <a:rPr lang="en-US" sz="2800" dirty="0" smtClean="0">
                <a:cs typeface="Times New Roman" pitchFamily="18" charset="0"/>
              </a:rPr>
              <a:t>which there </a:t>
            </a:r>
            <a:r>
              <a:rPr lang="en-US" sz="2800" dirty="0" smtClean="0">
                <a:solidFill>
                  <a:srgbClr val="FF0000"/>
                </a:solidFill>
                <a:cs typeface="Times New Roman" pitchFamily="18" charset="0"/>
              </a:rPr>
              <a:t>is </a:t>
            </a:r>
            <a:r>
              <a:rPr lang="en-US" sz="2800" i="1" dirty="0" smtClean="0">
                <a:solidFill>
                  <a:srgbClr val="FF0000"/>
                </a:solidFill>
                <a:cs typeface="Times New Roman" pitchFamily="18" charset="0"/>
              </a:rPr>
              <a:t>continuous</a:t>
            </a:r>
            <a:r>
              <a:rPr lang="en-US" sz="2800" dirty="0" smtClean="0">
                <a:solidFill>
                  <a:srgbClr val="FF0000"/>
                </a:solidFill>
                <a:cs typeface="Times New Roman" pitchFamily="18" charset="0"/>
              </a:rPr>
              <a:t> </a:t>
            </a:r>
            <a:r>
              <a:rPr lang="en-US" sz="2800" i="1" dirty="0" smtClean="0">
                <a:solidFill>
                  <a:srgbClr val="FF0000"/>
                </a:solidFill>
                <a:cs typeface="Times New Roman" pitchFamily="18" charset="0"/>
              </a:rPr>
              <a:t>transfer of energy</a:t>
            </a:r>
            <a:r>
              <a:rPr lang="en-US" sz="2800" i="1" dirty="0" smtClean="0">
                <a:cs typeface="Times New Roman" pitchFamily="18" charset="0"/>
              </a:rPr>
              <a:t> </a:t>
            </a:r>
            <a:r>
              <a:rPr lang="en-US" sz="2800" dirty="0" smtClean="0">
                <a:cs typeface="Times New Roman" pitchFamily="18" charset="0"/>
              </a:rPr>
              <a:t>between a rotating member and a flowing fluid, due to </a:t>
            </a:r>
            <a:r>
              <a:rPr lang="en-US" sz="2800" i="1" dirty="0" smtClean="0">
                <a:solidFill>
                  <a:srgbClr val="FF0000"/>
                </a:solidFill>
                <a:cs typeface="Times New Roman" pitchFamily="18" charset="0"/>
              </a:rPr>
              <a:t>dynamic action </a:t>
            </a:r>
            <a:r>
              <a:rPr lang="en-US" sz="2800" dirty="0" smtClean="0">
                <a:cs typeface="Times New Roman" pitchFamily="18" charset="0"/>
              </a:rPr>
              <a:t>resulting in the </a:t>
            </a:r>
            <a:r>
              <a:rPr lang="en-US" sz="2800" i="1" dirty="0" smtClean="0">
                <a:solidFill>
                  <a:srgbClr val="FF0000"/>
                </a:solidFill>
                <a:cs typeface="Times New Roman" pitchFamily="18" charset="0"/>
              </a:rPr>
              <a:t>change in the pressure and /or the momentum </a:t>
            </a:r>
            <a:r>
              <a:rPr lang="en-US" sz="2800" dirty="0" smtClean="0">
                <a:cs typeface="Times New Roman" pitchFamily="18" charset="0"/>
              </a:rPr>
              <a:t>of the fluid. </a:t>
            </a:r>
          </a:p>
          <a:p>
            <a:pPr algn="just">
              <a:buNone/>
              <a:defRPr/>
            </a:pPr>
            <a:endParaRPr lang="en-US" sz="2800" dirty="0" smtClean="0">
              <a:cs typeface="Times New Roman" pitchFamily="18" charset="0"/>
            </a:endParaRPr>
          </a:p>
          <a:p>
            <a:pPr algn="just">
              <a:buFont typeface="Arial" pitchFamily="34" charset="0"/>
              <a:buChar char="•"/>
              <a:defRPr/>
            </a:pPr>
            <a:r>
              <a:rPr lang="en-US" sz="2800" dirty="0" smtClean="0">
                <a:cs typeface="Times New Roman" pitchFamily="18" charset="0"/>
              </a:rPr>
              <a:t>The word Turbo implies that which spins or whirls around.</a:t>
            </a:r>
          </a:p>
          <a:p>
            <a:pPr algn="just">
              <a:buFont typeface="Wingdings 2" pitchFamily="18" charset="2"/>
              <a:buNone/>
              <a:defRPr/>
            </a:pPr>
            <a:endParaRPr lang="en-US" sz="2800" dirty="0" smtClean="0">
              <a:cs typeface="Times New Roman" pitchFamily="18" charset="0"/>
            </a:endParaRPr>
          </a:p>
          <a:p>
            <a:pPr algn="just">
              <a:defRPr/>
            </a:pPr>
            <a:r>
              <a:rPr lang="en-US" sz="2800" dirty="0" smtClean="0">
                <a:solidFill>
                  <a:srgbClr val="002060"/>
                </a:solidFill>
                <a:cs typeface="Times New Roman" pitchFamily="18" charset="0"/>
              </a:rPr>
              <a:t>Example :</a:t>
            </a:r>
            <a:r>
              <a:rPr lang="en-US" sz="2800" dirty="0" smtClean="0">
                <a:cs typeface="Times New Roman" pitchFamily="18" charset="0"/>
              </a:rPr>
              <a:t> Turbines, </a:t>
            </a:r>
            <a:r>
              <a:rPr lang="en-US" sz="2800" dirty="0">
                <a:cs typeface="Times New Roman" pitchFamily="18" charset="0"/>
              </a:rPr>
              <a:t>c</a:t>
            </a:r>
            <a:r>
              <a:rPr lang="en-US" sz="2800" dirty="0" smtClean="0">
                <a:cs typeface="Times New Roman" pitchFamily="18" charset="0"/>
              </a:rPr>
              <a:t>ompressors, pumps, fans etc.</a:t>
            </a:r>
          </a:p>
        </p:txBody>
      </p:sp>
    </p:spTree>
    <p:extLst>
      <p:ext uri="{BB962C8B-B14F-4D97-AF65-F5344CB8AC3E}">
        <p14:creationId xmlns:p14="http://schemas.microsoft.com/office/powerpoint/2010/main" val="38653245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p:cNvSpPr txBox="1"/>
          <p:nvPr/>
        </p:nvSpPr>
        <p:spPr>
          <a:xfrm>
            <a:off x="285750" y="1515059"/>
            <a:ext cx="11906250" cy="4418517"/>
          </a:xfrm>
          <a:prstGeom prst="rect">
            <a:avLst/>
          </a:prstGeom>
        </p:spPr>
        <p:txBody>
          <a:bodyPr vert="horz" wrap="square" lIns="0" tIns="60325" rIns="0" bIns="0" rtlCol="0">
            <a:spAutoFit/>
          </a:bodyPr>
          <a:lstStyle/>
          <a:p>
            <a:pPr marL="546100" marR="158115" indent="-457200">
              <a:lnSpc>
                <a:spcPts val="3030"/>
              </a:lnSpc>
              <a:spcBef>
                <a:spcPts val="475"/>
              </a:spcBef>
              <a:buFont typeface="Wingdings" panose="05000000000000000000" pitchFamily="2" charset="2"/>
              <a:buChar char="§"/>
              <a:tabLst>
                <a:tab pos="1372235" algn="l"/>
                <a:tab pos="2013585" algn="l"/>
                <a:tab pos="3591560" algn="l"/>
                <a:tab pos="4146550" algn="l"/>
                <a:tab pos="4798695" algn="l"/>
                <a:tab pos="5928360" algn="l"/>
                <a:tab pos="7143115" algn="l"/>
                <a:tab pos="8019415" algn="l"/>
              </a:tabLst>
            </a:pPr>
            <a:r>
              <a:rPr sz="2800" spc="-5" dirty="0" smtClean="0">
                <a:solidFill>
                  <a:srgbClr val="002060"/>
                </a:solidFill>
                <a:latin typeface="+mj-lt"/>
                <a:cs typeface="Comic Sans MS"/>
              </a:rPr>
              <a:t>Tur</a:t>
            </a:r>
            <a:r>
              <a:rPr sz="2800" spc="-15" dirty="0" smtClean="0">
                <a:solidFill>
                  <a:srgbClr val="002060"/>
                </a:solidFill>
                <a:latin typeface="+mj-lt"/>
                <a:cs typeface="Comic Sans MS"/>
              </a:rPr>
              <a:t>b</a:t>
            </a:r>
            <a:r>
              <a:rPr sz="2800" spc="-5" dirty="0" smtClean="0">
                <a:solidFill>
                  <a:srgbClr val="002060"/>
                </a:solidFill>
                <a:latin typeface="+mj-lt"/>
                <a:cs typeface="Comic Sans MS"/>
              </a:rPr>
              <a:t>o</a:t>
            </a:r>
            <a:r>
              <a:rPr lang="en-US" sz="2800" spc="-5" dirty="0" smtClean="0">
                <a:solidFill>
                  <a:srgbClr val="002060"/>
                </a:solidFill>
                <a:latin typeface="+mj-lt"/>
                <a:cs typeface="Comic Sans MS"/>
              </a:rPr>
              <a:t> </a:t>
            </a:r>
            <a:r>
              <a:rPr sz="2800" spc="10" dirty="0" smtClean="0">
                <a:solidFill>
                  <a:srgbClr val="002060"/>
                </a:solidFill>
                <a:latin typeface="+mj-lt"/>
                <a:cs typeface="Comic Sans MS"/>
              </a:rPr>
              <a:t>o</a:t>
            </a:r>
            <a:r>
              <a:rPr sz="2800" spc="-5" dirty="0" smtClean="0">
                <a:solidFill>
                  <a:srgbClr val="002060"/>
                </a:solidFill>
                <a:latin typeface="+mj-lt"/>
                <a:cs typeface="Comic Sans MS"/>
              </a:rPr>
              <a:t>r</a:t>
            </a:r>
            <a:r>
              <a:rPr lang="en-US" sz="2800" dirty="0">
                <a:solidFill>
                  <a:srgbClr val="002060"/>
                </a:solidFill>
                <a:latin typeface="+mj-lt"/>
                <a:cs typeface="Comic Sans MS"/>
              </a:rPr>
              <a:t> </a:t>
            </a:r>
            <a:r>
              <a:rPr sz="2800" spc="-10" dirty="0" smtClean="0">
                <a:solidFill>
                  <a:srgbClr val="002060"/>
                </a:solidFill>
                <a:latin typeface="+mj-lt"/>
                <a:cs typeface="Comic Sans MS"/>
              </a:rPr>
              <a:t>t</a:t>
            </a:r>
            <a:r>
              <a:rPr sz="2800" spc="5" dirty="0" smtClean="0">
                <a:solidFill>
                  <a:srgbClr val="002060"/>
                </a:solidFill>
                <a:latin typeface="+mj-lt"/>
                <a:cs typeface="Comic Sans MS"/>
              </a:rPr>
              <a:t>u</a:t>
            </a:r>
            <a:r>
              <a:rPr sz="2800" spc="-10" dirty="0" smtClean="0">
                <a:solidFill>
                  <a:srgbClr val="002060"/>
                </a:solidFill>
                <a:latin typeface="+mj-lt"/>
                <a:cs typeface="Comic Sans MS"/>
              </a:rPr>
              <a:t>r</a:t>
            </a:r>
            <a:r>
              <a:rPr sz="2800" dirty="0" smtClean="0">
                <a:solidFill>
                  <a:srgbClr val="002060"/>
                </a:solidFill>
                <a:latin typeface="+mj-lt"/>
                <a:cs typeface="Comic Sans MS"/>
              </a:rPr>
              <a:t>b</a:t>
            </a:r>
            <a:r>
              <a:rPr sz="2800" spc="-10" dirty="0" smtClean="0">
                <a:solidFill>
                  <a:srgbClr val="002060"/>
                </a:solidFill>
                <a:latin typeface="+mj-lt"/>
                <a:cs typeface="Comic Sans MS"/>
              </a:rPr>
              <a:t>i</a:t>
            </a:r>
            <a:r>
              <a:rPr sz="2800" spc="5" dirty="0" smtClean="0">
                <a:solidFill>
                  <a:srgbClr val="002060"/>
                </a:solidFill>
                <a:latin typeface="+mj-lt"/>
                <a:cs typeface="Comic Sans MS"/>
              </a:rPr>
              <a:t>n</a:t>
            </a:r>
            <a:r>
              <a:rPr sz="2800" spc="-10" dirty="0" smtClean="0">
                <a:solidFill>
                  <a:srgbClr val="002060"/>
                </a:solidFill>
                <a:latin typeface="+mj-lt"/>
                <a:cs typeface="Comic Sans MS"/>
              </a:rPr>
              <a:t>i</a:t>
            </a:r>
            <a:r>
              <a:rPr sz="2800" spc="-5" dirty="0" smtClean="0">
                <a:solidFill>
                  <a:srgbClr val="002060"/>
                </a:solidFill>
                <a:latin typeface="+mj-lt"/>
                <a:cs typeface="Comic Sans MS"/>
              </a:rPr>
              <a:t>s</a:t>
            </a:r>
            <a:r>
              <a:rPr lang="en-US" sz="2800" spc="-5" dirty="0" smtClean="0">
                <a:solidFill>
                  <a:srgbClr val="002060"/>
                </a:solidFill>
                <a:latin typeface="+mj-lt"/>
                <a:cs typeface="Comic Sans MS"/>
              </a:rPr>
              <a:t> </a:t>
            </a:r>
            <a:r>
              <a:rPr sz="2800" dirty="0" smtClean="0">
                <a:solidFill>
                  <a:srgbClr val="002060"/>
                </a:solidFill>
                <a:latin typeface="+mj-lt"/>
                <a:cs typeface="Comic Sans MS"/>
              </a:rPr>
              <a:t>i</a:t>
            </a:r>
            <a:r>
              <a:rPr sz="2800" spc="-5" dirty="0" smtClean="0">
                <a:solidFill>
                  <a:srgbClr val="002060"/>
                </a:solidFill>
                <a:latin typeface="+mj-lt"/>
                <a:cs typeface="Comic Sans MS"/>
              </a:rPr>
              <a:t>s</a:t>
            </a:r>
            <a:r>
              <a:rPr lang="en-US" sz="2800" dirty="0">
                <a:solidFill>
                  <a:srgbClr val="002060"/>
                </a:solidFill>
                <a:latin typeface="+mj-lt"/>
                <a:cs typeface="Comic Sans MS"/>
              </a:rPr>
              <a:t> </a:t>
            </a:r>
            <a:r>
              <a:rPr sz="2800" spc="10" dirty="0" smtClean="0">
                <a:solidFill>
                  <a:srgbClr val="002060"/>
                </a:solidFill>
                <a:latin typeface="+mj-lt"/>
                <a:cs typeface="Comic Sans MS"/>
              </a:rPr>
              <a:t>o</a:t>
            </a:r>
            <a:r>
              <a:rPr sz="2800" spc="-5" dirty="0" smtClean="0">
                <a:solidFill>
                  <a:srgbClr val="002060"/>
                </a:solidFill>
                <a:latin typeface="+mj-lt"/>
                <a:cs typeface="Comic Sans MS"/>
              </a:rPr>
              <a:t>f</a:t>
            </a:r>
            <a:r>
              <a:rPr lang="en-US" sz="2800" spc="-5" dirty="0" smtClean="0">
                <a:solidFill>
                  <a:srgbClr val="002060"/>
                </a:solidFill>
                <a:latin typeface="+mj-lt"/>
                <a:cs typeface="Comic Sans MS"/>
              </a:rPr>
              <a:t> </a:t>
            </a:r>
            <a:r>
              <a:rPr sz="2800" spc="-5" dirty="0" smtClean="0">
                <a:solidFill>
                  <a:srgbClr val="002060"/>
                </a:solidFill>
                <a:latin typeface="+mj-lt"/>
                <a:cs typeface="Comic Sans MS"/>
              </a:rPr>
              <a:t>L</a:t>
            </a:r>
            <a:r>
              <a:rPr sz="2800" spc="-20" dirty="0" smtClean="0">
                <a:solidFill>
                  <a:srgbClr val="002060"/>
                </a:solidFill>
                <a:latin typeface="+mj-lt"/>
                <a:cs typeface="Comic Sans MS"/>
              </a:rPr>
              <a:t>a</a:t>
            </a:r>
            <a:r>
              <a:rPr sz="2800" spc="5" dirty="0" smtClean="0">
                <a:solidFill>
                  <a:srgbClr val="002060"/>
                </a:solidFill>
                <a:latin typeface="+mj-lt"/>
                <a:cs typeface="Comic Sans MS"/>
              </a:rPr>
              <a:t>t</a:t>
            </a:r>
            <a:r>
              <a:rPr sz="2800" spc="-10" dirty="0" smtClean="0">
                <a:solidFill>
                  <a:srgbClr val="002060"/>
                </a:solidFill>
                <a:latin typeface="+mj-lt"/>
                <a:cs typeface="Comic Sans MS"/>
              </a:rPr>
              <a:t>i</a:t>
            </a:r>
            <a:r>
              <a:rPr sz="2800" spc="-5" dirty="0" smtClean="0">
                <a:solidFill>
                  <a:srgbClr val="002060"/>
                </a:solidFill>
                <a:latin typeface="+mj-lt"/>
                <a:cs typeface="Comic Sans MS"/>
              </a:rPr>
              <a:t>n</a:t>
            </a:r>
            <a:r>
              <a:rPr lang="en-US" sz="2800" spc="-5" dirty="0" smtClean="0">
                <a:solidFill>
                  <a:srgbClr val="002060"/>
                </a:solidFill>
                <a:latin typeface="+mj-lt"/>
                <a:cs typeface="Comic Sans MS"/>
              </a:rPr>
              <a:t> </a:t>
            </a:r>
            <a:r>
              <a:rPr sz="2800" spc="-5" dirty="0" smtClean="0">
                <a:solidFill>
                  <a:srgbClr val="002060"/>
                </a:solidFill>
                <a:latin typeface="+mj-lt"/>
                <a:cs typeface="Comic Sans MS"/>
              </a:rPr>
              <a:t>ori</a:t>
            </a:r>
            <a:r>
              <a:rPr sz="2800" spc="5" dirty="0" smtClean="0">
                <a:solidFill>
                  <a:srgbClr val="002060"/>
                </a:solidFill>
                <a:latin typeface="+mj-lt"/>
                <a:cs typeface="Comic Sans MS"/>
              </a:rPr>
              <a:t>g</a:t>
            </a:r>
            <a:r>
              <a:rPr sz="2800" spc="-10" dirty="0" smtClean="0">
                <a:solidFill>
                  <a:srgbClr val="002060"/>
                </a:solidFill>
                <a:latin typeface="+mj-lt"/>
                <a:cs typeface="Comic Sans MS"/>
              </a:rPr>
              <a:t>i</a:t>
            </a:r>
            <a:r>
              <a:rPr sz="2800" spc="-5" dirty="0" smtClean="0">
                <a:solidFill>
                  <a:srgbClr val="002060"/>
                </a:solidFill>
                <a:latin typeface="+mj-lt"/>
                <a:cs typeface="Comic Sans MS"/>
              </a:rPr>
              <a:t>n</a:t>
            </a:r>
            <a:r>
              <a:rPr lang="en-US" sz="2800" dirty="0">
                <a:solidFill>
                  <a:srgbClr val="002060"/>
                </a:solidFill>
                <a:latin typeface="+mj-lt"/>
                <a:cs typeface="Comic Sans MS"/>
              </a:rPr>
              <a:t> </a:t>
            </a:r>
            <a:r>
              <a:rPr sz="2800" spc="-5" dirty="0" smtClean="0">
                <a:solidFill>
                  <a:srgbClr val="002060"/>
                </a:solidFill>
                <a:latin typeface="+mj-lt"/>
                <a:cs typeface="Comic Sans MS"/>
              </a:rPr>
              <a:t>a</a:t>
            </a:r>
            <a:r>
              <a:rPr sz="2800" dirty="0" smtClean="0">
                <a:solidFill>
                  <a:srgbClr val="002060"/>
                </a:solidFill>
                <a:latin typeface="+mj-lt"/>
                <a:cs typeface="Comic Sans MS"/>
              </a:rPr>
              <a:t>n</a:t>
            </a:r>
            <a:r>
              <a:rPr sz="2800" spc="-5" dirty="0" smtClean="0">
                <a:solidFill>
                  <a:srgbClr val="002060"/>
                </a:solidFill>
                <a:latin typeface="+mj-lt"/>
                <a:cs typeface="Comic Sans MS"/>
              </a:rPr>
              <a:t>d</a:t>
            </a:r>
            <a:r>
              <a:rPr lang="en-US" sz="2800" dirty="0">
                <a:solidFill>
                  <a:srgbClr val="002060"/>
                </a:solidFill>
                <a:latin typeface="+mj-lt"/>
                <a:cs typeface="Comic Sans MS"/>
              </a:rPr>
              <a:t> </a:t>
            </a:r>
            <a:r>
              <a:rPr sz="2800" spc="-10" dirty="0" smtClean="0">
                <a:solidFill>
                  <a:srgbClr val="002060"/>
                </a:solidFill>
                <a:latin typeface="+mj-lt"/>
                <a:cs typeface="Comic Sans MS"/>
              </a:rPr>
              <a:t>it</a:t>
            </a:r>
            <a:r>
              <a:rPr lang="en-US" sz="2800" spc="-10" dirty="0" smtClean="0">
                <a:solidFill>
                  <a:srgbClr val="002060"/>
                </a:solidFill>
                <a:latin typeface="+mj-lt"/>
                <a:cs typeface="Comic Sans MS"/>
              </a:rPr>
              <a:t> </a:t>
            </a:r>
            <a:r>
              <a:rPr sz="2800" spc="-10" dirty="0" smtClean="0">
                <a:solidFill>
                  <a:srgbClr val="002060"/>
                </a:solidFill>
                <a:latin typeface="+mj-lt"/>
                <a:cs typeface="Comic Sans MS"/>
              </a:rPr>
              <a:t>implies </a:t>
            </a:r>
            <a:r>
              <a:rPr sz="2800" spc="-10" dirty="0">
                <a:solidFill>
                  <a:srgbClr val="002060"/>
                </a:solidFill>
                <a:latin typeface="+mj-lt"/>
                <a:cs typeface="Comic Sans MS"/>
              </a:rPr>
              <a:t>that which </a:t>
            </a:r>
            <a:r>
              <a:rPr sz="2800" spc="-5" dirty="0">
                <a:solidFill>
                  <a:srgbClr val="002060"/>
                </a:solidFill>
                <a:latin typeface="+mj-lt"/>
                <a:cs typeface="Comic Sans MS"/>
              </a:rPr>
              <a:t>spins </a:t>
            </a:r>
            <a:r>
              <a:rPr sz="2800" dirty="0">
                <a:solidFill>
                  <a:srgbClr val="002060"/>
                </a:solidFill>
                <a:latin typeface="+mj-lt"/>
                <a:cs typeface="Comic Sans MS"/>
              </a:rPr>
              <a:t>or </a:t>
            </a:r>
            <a:r>
              <a:rPr sz="2800" spc="-10" dirty="0">
                <a:solidFill>
                  <a:srgbClr val="002060"/>
                </a:solidFill>
                <a:latin typeface="+mj-lt"/>
                <a:cs typeface="Comic Sans MS"/>
              </a:rPr>
              <a:t>whirls</a:t>
            </a:r>
            <a:r>
              <a:rPr sz="2800" spc="80" dirty="0">
                <a:solidFill>
                  <a:srgbClr val="002060"/>
                </a:solidFill>
                <a:latin typeface="+mj-lt"/>
                <a:cs typeface="Comic Sans MS"/>
              </a:rPr>
              <a:t> </a:t>
            </a:r>
            <a:r>
              <a:rPr sz="2800" spc="-5" dirty="0">
                <a:solidFill>
                  <a:srgbClr val="002060"/>
                </a:solidFill>
                <a:latin typeface="+mj-lt"/>
                <a:cs typeface="Comic Sans MS"/>
              </a:rPr>
              <a:t>around.</a:t>
            </a:r>
            <a:endParaRPr sz="2800" dirty="0">
              <a:solidFill>
                <a:srgbClr val="002060"/>
              </a:solidFill>
              <a:latin typeface="+mj-lt"/>
              <a:cs typeface="Comic Sans MS"/>
            </a:endParaRPr>
          </a:p>
          <a:p>
            <a:pPr marL="469900" indent="-457200">
              <a:lnSpc>
                <a:spcPct val="100000"/>
              </a:lnSpc>
              <a:spcBef>
                <a:spcPts val="1065"/>
              </a:spcBef>
              <a:buSzPct val="96428"/>
              <a:buFont typeface="Wingdings" panose="05000000000000000000" pitchFamily="2" charset="2"/>
              <a:buChar char="§"/>
              <a:tabLst>
                <a:tab pos="191135" algn="l"/>
              </a:tabLst>
            </a:pPr>
            <a:r>
              <a:rPr lang="en-US" sz="2800" spc="-80" dirty="0" smtClean="0">
                <a:solidFill>
                  <a:srgbClr val="002060"/>
                </a:solidFill>
                <a:latin typeface="+mj-lt"/>
                <a:cs typeface="Trebuchet MS"/>
              </a:rPr>
              <a:t> </a:t>
            </a:r>
            <a:r>
              <a:rPr sz="2800" spc="-80" dirty="0" smtClean="0">
                <a:solidFill>
                  <a:srgbClr val="002060"/>
                </a:solidFill>
                <a:latin typeface="+mj-lt"/>
                <a:cs typeface="Trebuchet MS"/>
              </a:rPr>
              <a:t>A </a:t>
            </a:r>
            <a:r>
              <a:rPr sz="2800" spc="-160" dirty="0">
                <a:solidFill>
                  <a:srgbClr val="002060"/>
                </a:solidFill>
                <a:latin typeface="+mj-lt"/>
                <a:cs typeface="Trebuchet MS"/>
              </a:rPr>
              <a:t>turbomachine </a:t>
            </a:r>
            <a:r>
              <a:rPr sz="2800" spc="-125" dirty="0">
                <a:solidFill>
                  <a:srgbClr val="002060"/>
                </a:solidFill>
                <a:latin typeface="+mj-lt"/>
                <a:cs typeface="Trebuchet MS"/>
              </a:rPr>
              <a:t>is </a:t>
            </a:r>
            <a:r>
              <a:rPr sz="2800" spc="-114" dirty="0">
                <a:solidFill>
                  <a:srgbClr val="002060"/>
                </a:solidFill>
                <a:latin typeface="+mj-lt"/>
                <a:cs typeface="Trebuchet MS"/>
              </a:rPr>
              <a:t>a </a:t>
            </a:r>
            <a:r>
              <a:rPr sz="2800" spc="-160" dirty="0">
                <a:solidFill>
                  <a:srgbClr val="FF0000"/>
                </a:solidFill>
                <a:latin typeface="+mj-lt"/>
                <a:cs typeface="Trebuchet MS"/>
              </a:rPr>
              <a:t>rotary</a:t>
            </a:r>
            <a:r>
              <a:rPr sz="2800" spc="-520" dirty="0">
                <a:solidFill>
                  <a:srgbClr val="FF0000"/>
                </a:solidFill>
                <a:latin typeface="+mj-lt"/>
                <a:cs typeface="Trebuchet MS"/>
              </a:rPr>
              <a:t> </a:t>
            </a:r>
            <a:r>
              <a:rPr lang="en-US" sz="2800" spc="-520" dirty="0" smtClean="0">
                <a:solidFill>
                  <a:srgbClr val="FF0000"/>
                </a:solidFill>
                <a:latin typeface="+mj-lt"/>
                <a:cs typeface="Trebuchet MS"/>
              </a:rPr>
              <a:t> </a:t>
            </a:r>
            <a:r>
              <a:rPr sz="2800" spc="-170" dirty="0" smtClean="0">
                <a:solidFill>
                  <a:srgbClr val="FF0000"/>
                </a:solidFill>
                <a:latin typeface="+mj-lt"/>
                <a:cs typeface="Trebuchet MS"/>
              </a:rPr>
              <a:t>machine</a:t>
            </a:r>
            <a:r>
              <a:rPr lang="en-US" sz="2800" spc="-170" dirty="0" smtClean="0">
                <a:solidFill>
                  <a:srgbClr val="FF0000"/>
                </a:solidFill>
                <a:latin typeface="+mj-lt"/>
                <a:cs typeface="Trebuchet MS"/>
              </a:rPr>
              <a:t>.</a:t>
            </a:r>
            <a:endParaRPr sz="2800" dirty="0">
              <a:latin typeface="+mj-lt"/>
              <a:cs typeface="Trebuchet MS"/>
            </a:endParaRPr>
          </a:p>
          <a:p>
            <a:pPr marL="457200" indent="-457200">
              <a:lnSpc>
                <a:spcPct val="100000"/>
              </a:lnSpc>
              <a:spcBef>
                <a:spcPts val="25"/>
              </a:spcBef>
              <a:buClr>
                <a:srgbClr val="6F2F9F"/>
              </a:buClr>
              <a:buFont typeface="Wingdings" panose="05000000000000000000" pitchFamily="2" charset="2"/>
              <a:buChar char="§"/>
            </a:pPr>
            <a:endParaRPr sz="2800" dirty="0">
              <a:latin typeface="+mj-lt"/>
              <a:cs typeface="Times New Roman"/>
            </a:endParaRPr>
          </a:p>
          <a:p>
            <a:pPr marL="469900" marR="5080" indent="-457200">
              <a:lnSpc>
                <a:spcPct val="100000"/>
              </a:lnSpc>
              <a:buSzPct val="96428"/>
              <a:buFont typeface="Wingdings" panose="05000000000000000000" pitchFamily="2" charset="2"/>
              <a:buChar char="§"/>
              <a:tabLst>
                <a:tab pos="191135" algn="l"/>
              </a:tabLst>
            </a:pPr>
            <a:r>
              <a:rPr lang="en-US" sz="2800" spc="-140" dirty="0" smtClean="0">
                <a:solidFill>
                  <a:srgbClr val="6F2F9F"/>
                </a:solidFill>
                <a:latin typeface="+mj-lt"/>
                <a:cs typeface="Trebuchet MS"/>
              </a:rPr>
              <a:t> </a:t>
            </a:r>
            <a:r>
              <a:rPr sz="2800" spc="-140" dirty="0" smtClean="0">
                <a:solidFill>
                  <a:srgbClr val="002060"/>
                </a:solidFill>
                <a:latin typeface="+mj-lt"/>
                <a:cs typeface="Trebuchet MS"/>
              </a:rPr>
              <a:t>Which </a:t>
            </a:r>
            <a:r>
              <a:rPr sz="2800" spc="-140" dirty="0">
                <a:solidFill>
                  <a:srgbClr val="002060"/>
                </a:solidFill>
                <a:latin typeface="+mj-lt"/>
                <a:cs typeface="Trebuchet MS"/>
              </a:rPr>
              <a:t>always </a:t>
            </a:r>
            <a:r>
              <a:rPr sz="2800" spc="-155" dirty="0">
                <a:solidFill>
                  <a:srgbClr val="002060"/>
                </a:solidFill>
                <a:latin typeface="+mj-lt"/>
                <a:cs typeface="Trebuchet MS"/>
              </a:rPr>
              <a:t>involves </a:t>
            </a:r>
            <a:r>
              <a:rPr sz="2800" spc="-135" dirty="0">
                <a:solidFill>
                  <a:srgbClr val="002060"/>
                </a:solidFill>
                <a:latin typeface="+mj-lt"/>
                <a:cs typeface="Trebuchet MS"/>
              </a:rPr>
              <a:t>an </a:t>
            </a:r>
            <a:r>
              <a:rPr sz="2800" spc="-175" dirty="0">
                <a:solidFill>
                  <a:srgbClr val="FF0000"/>
                </a:solidFill>
                <a:latin typeface="+mj-lt"/>
                <a:cs typeface="Trebuchet MS"/>
              </a:rPr>
              <a:t>energy transfer </a:t>
            </a:r>
            <a:r>
              <a:rPr sz="2800" spc="-170" dirty="0">
                <a:solidFill>
                  <a:srgbClr val="FF0000"/>
                </a:solidFill>
                <a:latin typeface="+mj-lt"/>
                <a:cs typeface="Trebuchet MS"/>
              </a:rPr>
              <a:t>between </a:t>
            </a:r>
            <a:r>
              <a:rPr sz="2800" spc="-114" dirty="0">
                <a:solidFill>
                  <a:srgbClr val="FF0000"/>
                </a:solidFill>
                <a:latin typeface="+mj-lt"/>
                <a:cs typeface="Trebuchet MS"/>
              </a:rPr>
              <a:t>a </a:t>
            </a:r>
            <a:r>
              <a:rPr sz="2800" spc="610" dirty="0">
                <a:solidFill>
                  <a:srgbClr val="FF0000"/>
                </a:solidFill>
                <a:latin typeface="+mj-lt"/>
                <a:cs typeface="Trebuchet MS"/>
              </a:rPr>
              <a:t> </a:t>
            </a:r>
            <a:r>
              <a:rPr sz="2800" spc="-150" dirty="0">
                <a:solidFill>
                  <a:srgbClr val="FF0000"/>
                </a:solidFill>
                <a:latin typeface="+mj-lt"/>
                <a:cs typeface="Trebuchet MS"/>
              </a:rPr>
              <a:t>continuously </a:t>
            </a:r>
            <a:r>
              <a:rPr sz="2800" spc="-125" dirty="0">
                <a:solidFill>
                  <a:srgbClr val="FF0000"/>
                </a:solidFill>
                <a:latin typeface="+mj-lt"/>
                <a:cs typeface="Trebuchet MS"/>
              </a:rPr>
              <a:t>flowing </a:t>
            </a:r>
            <a:r>
              <a:rPr sz="2800" spc="-150" dirty="0">
                <a:solidFill>
                  <a:srgbClr val="FF0000"/>
                </a:solidFill>
                <a:latin typeface="+mj-lt"/>
                <a:cs typeface="Trebuchet MS"/>
              </a:rPr>
              <a:t>fluid </a:t>
            </a:r>
            <a:r>
              <a:rPr sz="2800" spc="-135" dirty="0">
                <a:solidFill>
                  <a:srgbClr val="FF0000"/>
                </a:solidFill>
                <a:latin typeface="+mj-lt"/>
                <a:cs typeface="Trebuchet MS"/>
              </a:rPr>
              <a:t>and </a:t>
            </a:r>
            <a:r>
              <a:rPr sz="2800" spc="-114" dirty="0">
                <a:solidFill>
                  <a:srgbClr val="FF0000"/>
                </a:solidFill>
                <a:latin typeface="+mj-lt"/>
                <a:cs typeface="Trebuchet MS"/>
              </a:rPr>
              <a:t>a</a:t>
            </a:r>
            <a:r>
              <a:rPr sz="2800" spc="-480" dirty="0">
                <a:solidFill>
                  <a:srgbClr val="FF0000"/>
                </a:solidFill>
                <a:latin typeface="+mj-lt"/>
                <a:cs typeface="Trebuchet MS"/>
              </a:rPr>
              <a:t> </a:t>
            </a:r>
            <a:r>
              <a:rPr lang="en-US" sz="2800" spc="-480" dirty="0" smtClean="0">
                <a:solidFill>
                  <a:srgbClr val="FF0000"/>
                </a:solidFill>
                <a:latin typeface="+mj-lt"/>
                <a:cs typeface="Trebuchet MS"/>
              </a:rPr>
              <a:t> </a:t>
            </a:r>
            <a:r>
              <a:rPr sz="2800" spc="-155" dirty="0" smtClean="0">
                <a:solidFill>
                  <a:srgbClr val="FF0000"/>
                </a:solidFill>
                <a:latin typeface="+mj-lt"/>
                <a:cs typeface="Trebuchet MS"/>
              </a:rPr>
              <a:t>rotor</a:t>
            </a:r>
            <a:endParaRPr sz="2800" dirty="0">
              <a:latin typeface="+mj-lt"/>
              <a:cs typeface="Trebuchet MS"/>
            </a:endParaRPr>
          </a:p>
          <a:p>
            <a:pPr marL="457200" indent="-457200">
              <a:lnSpc>
                <a:spcPct val="100000"/>
              </a:lnSpc>
              <a:spcBef>
                <a:spcPts val="30"/>
              </a:spcBef>
              <a:buClr>
                <a:srgbClr val="6F2F9F"/>
              </a:buClr>
              <a:buFont typeface="Wingdings" panose="05000000000000000000" pitchFamily="2" charset="2"/>
              <a:buChar char="§"/>
            </a:pPr>
            <a:endParaRPr sz="2800" dirty="0">
              <a:latin typeface="+mj-lt"/>
              <a:cs typeface="Times New Roman"/>
            </a:endParaRPr>
          </a:p>
          <a:p>
            <a:pPr marL="469900" indent="-457200">
              <a:lnSpc>
                <a:spcPct val="100000"/>
              </a:lnSpc>
              <a:buSzPct val="96428"/>
              <a:buFont typeface="Wingdings" panose="05000000000000000000" pitchFamily="2" charset="2"/>
              <a:buChar char="§"/>
              <a:tabLst>
                <a:tab pos="191135" algn="l"/>
              </a:tabLst>
            </a:pPr>
            <a:r>
              <a:rPr lang="en-US" sz="2800" spc="-90" dirty="0" smtClean="0">
                <a:solidFill>
                  <a:srgbClr val="002060"/>
                </a:solidFill>
                <a:latin typeface="+mj-lt"/>
                <a:cs typeface="Trebuchet MS"/>
              </a:rPr>
              <a:t> </a:t>
            </a:r>
            <a:r>
              <a:rPr sz="2800" spc="-90" dirty="0" smtClean="0">
                <a:solidFill>
                  <a:srgbClr val="002060"/>
                </a:solidFill>
                <a:latin typeface="+mj-lt"/>
                <a:cs typeface="Trebuchet MS"/>
              </a:rPr>
              <a:t>It </a:t>
            </a:r>
            <a:r>
              <a:rPr sz="2800" spc="-125" dirty="0">
                <a:solidFill>
                  <a:srgbClr val="002060"/>
                </a:solidFill>
                <a:latin typeface="+mj-lt"/>
                <a:cs typeface="Trebuchet MS"/>
              </a:rPr>
              <a:t>is </a:t>
            </a:r>
            <a:r>
              <a:rPr sz="2800" spc="-114" dirty="0">
                <a:solidFill>
                  <a:srgbClr val="002060"/>
                </a:solidFill>
                <a:latin typeface="+mj-lt"/>
                <a:cs typeface="Trebuchet MS"/>
              </a:rPr>
              <a:t>a </a:t>
            </a:r>
            <a:r>
              <a:rPr sz="2800" spc="-155" dirty="0">
                <a:solidFill>
                  <a:srgbClr val="FF0000"/>
                </a:solidFill>
                <a:latin typeface="+mj-lt"/>
                <a:cs typeface="Trebuchet MS"/>
              </a:rPr>
              <a:t>power </a:t>
            </a:r>
            <a:r>
              <a:rPr sz="2800" spc="-145" dirty="0">
                <a:solidFill>
                  <a:srgbClr val="FF0000"/>
                </a:solidFill>
                <a:latin typeface="+mj-lt"/>
                <a:cs typeface="Trebuchet MS"/>
              </a:rPr>
              <a:t>or </a:t>
            </a:r>
            <a:r>
              <a:rPr sz="2800" spc="-155" dirty="0">
                <a:solidFill>
                  <a:srgbClr val="FF0000"/>
                </a:solidFill>
                <a:latin typeface="+mj-lt"/>
                <a:cs typeface="Trebuchet MS"/>
              </a:rPr>
              <a:t>head </a:t>
            </a:r>
            <a:r>
              <a:rPr sz="2800" spc="-165" dirty="0">
                <a:solidFill>
                  <a:srgbClr val="FF0000"/>
                </a:solidFill>
                <a:latin typeface="+mj-lt"/>
                <a:cs typeface="Trebuchet MS"/>
              </a:rPr>
              <a:t>generating</a:t>
            </a:r>
            <a:r>
              <a:rPr sz="2800" spc="-600" dirty="0">
                <a:solidFill>
                  <a:srgbClr val="FF0000"/>
                </a:solidFill>
                <a:latin typeface="+mj-lt"/>
                <a:cs typeface="Trebuchet MS"/>
              </a:rPr>
              <a:t> </a:t>
            </a:r>
            <a:r>
              <a:rPr lang="en-US" sz="2800" spc="-600" dirty="0" smtClean="0">
                <a:solidFill>
                  <a:srgbClr val="FF0000"/>
                </a:solidFill>
                <a:latin typeface="+mj-lt"/>
                <a:cs typeface="Trebuchet MS"/>
              </a:rPr>
              <a:t>          </a:t>
            </a:r>
            <a:r>
              <a:rPr sz="2800" spc="-170" dirty="0" smtClean="0">
                <a:solidFill>
                  <a:srgbClr val="002060"/>
                </a:solidFill>
                <a:latin typeface="+mj-lt"/>
                <a:cs typeface="Trebuchet MS"/>
              </a:rPr>
              <a:t>machine</a:t>
            </a:r>
            <a:endParaRPr sz="2800" dirty="0">
              <a:solidFill>
                <a:srgbClr val="002060"/>
              </a:solidFill>
              <a:latin typeface="+mj-lt"/>
              <a:cs typeface="Trebuchet MS"/>
            </a:endParaRPr>
          </a:p>
          <a:p>
            <a:pPr marL="457200" indent="-457200">
              <a:lnSpc>
                <a:spcPct val="100000"/>
              </a:lnSpc>
              <a:spcBef>
                <a:spcPts val="25"/>
              </a:spcBef>
              <a:buClr>
                <a:srgbClr val="6F2F9F"/>
              </a:buClr>
              <a:buFont typeface="Wingdings" panose="05000000000000000000" pitchFamily="2" charset="2"/>
              <a:buChar char="§"/>
            </a:pPr>
            <a:endParaRPr sz="2800" dirty="0">
              <a:latin typeface="+mj-lt"/>
              <a:cs typeface="Times New Roman"/>
            </a:endParaRPr>
          </a:p>
          <a:p>
            <a:pPr marL="469900" marR="5080" indent="-457200">
              <a:lnSpc>
                <a:spcPct val="100000"/>
              </a:lnSpc>
              <a:buSzPct val="96428"/>
              <a:buFont typeface="Wingdings" panose="05000000000000000000" pitchFamily="2" charset="2"/>
              <a:buChar char="§"/>
              <a:tabLst>
                <a:tab pos="191135" algn="l"/>
                <a:tab pos="7950834" algn="l"/>
              </a:tabLst>
            </a:pPr>
            <a:r>
              <a:rPr lang="en-US" sz="2800" spc="-90" dirty="0" smtClean="0">
                <a:solidFill>
                  <a:srgbClr val="002060"/>
                </a:solidFill>
                <a:latin typeface="+mj-lt"/>
                <a:cs typeface="Trebuchet MS"/>
              </a:rPr>
              <a:t> </a:t>
            </a:r>
            <a:r>
              <a:rPr sz="2800" spc="-90" dirty="0" smtClean="0">
                <a:solidFill>
                  <a:srgbClr val="002060"/>
                </a:solidFill>
                <a:latin typeface="+mj-lt"/>
                <a:cs typeface="Trebuchet MS"/>
              </a:rPr>
              <a:t>It </a:t>
            </a:r>
            <a:r>
              <a:rPr sz="2800" spc="-135" dirty="0">
                <a:solidFill>
                  <a:srgbClr val="002060"/>
                </a:solidFill>
                <a:latin typeface="+mj-lt"/>
                <a:cs typeface="Trebuchet MS"/>
              </a:rPr>
              <a:t>uses </a:t>
            </a:r>
            <a:r>
              <a:rPr sz="2800" spc="-170" dirty="0">
                <a:solidFill>
                  <a:srgbClr val="002060"/>
                </a:solidFill>
                <a:latin typeface="+mj-lt"/>
                <a:cs typeface="Trebuchet MS"/>
              </a:rPr>
              <a:t>the </a:t>
            </a:r>
            <a:r>
              <a:rPr sz="2800" spc="-160" dirty="0">
                <a:solidFill>
                  <a:srgbClr val="FF0000"/>
                </a:solidFill>
                <a:latin typeface="+mj-lt"/>
                <a:cs typeface="Trebuchet MS"/>
              </a:rPr>
              <a:t>dynamic </a:t>
            </a:r>
            <a:r>
              <a:rPr sz="2800" spc="-150" dirty="0">
                <a:solidFill>
                  <a:srgbClr val="FF0000"/>
                </a:solidFill>
                <a:latin typeface="+mj-lt"/>
                <a:cs typeface="Trebuchet MS"/>
              </a:rPr>
              <a:t>action </a:t>
            </a:r>
            <a:r>
              <a:rPr sz="2800" spc="-114" dirty="0">
                <a:solidFill>
                  <a:srgbClr val="FF0000"/>
                </a:solidFill>
                <a:latin typeface="+mj-lt"/>
                <a:cs typeface="Trebuchet MS"/>
              </a:rPr>
              <a:t>of </a:t>
            </a:r>
            <a:r>
              <a:rPr sz="2800" spc="-170" dirty="0">
                <a:solidFill>
                  <a:srgbClr val="FF0000"/>
                </a:solidFill>
                <a:latin typeface="+mj-lt"/>
                <a:cs typeface="Trebuchet MS"/>
              </a:rPr>
              <a:t>the </a:t>
            </a:r>
            <a:r>
              <a:rPr sz="2800" spc="-155" dirty="0">
                <a:solidFill>
                  <a:srgbClr val="FF0000"/>
                </a:solidFill>
                <a:latin typeface="+mj-lt"/>
                <a:cs typeface="Trebuchet MS"/>
              </a:rPr>
              <a:t>rotor </a:t>
            </a:r>
            <a:r>
              <a:rPr sz="2800" spc="-145" dirty="0">
                <a:solidFill>
                  <a:srgbClr val="002060"/>
                </a:solidFill>
                <a:latin typeface="+mj-lt"/>
                <a:cs typeface="Trebuchet MS"/>
              </a:rPr>
              <a:t>or </a:t>
            </a:r>
            <a:r>
              <a:rPr sz="2800" spc="-165" dirty="0">
                <a:solidFill>
                  <a:srgbClr val="002060"/>
                </a:solidFill>
                <a:latin typeface="+mj-lt"/>
                <a:cs typeface="Trebuchet MS"/>
              </a:rPr>
              <a:t>impeller </a:t>
            </a:r>
            <a:r>
              <a:rPr sz="2800" spc="-150" dirty="0">
                <a:solidFill>
                  <a:srgbClr val="002060"/>
                </a:solidFill>
                <a:latin typeface="+mj-lt"/>
                <a:cs typeface="Trebuchet MS"/>
              </a:rPr>
              <a:t>or  </a:t>
            </a:r>
            <a:r>
              <a:rPr sz="2800" spc="-185" dirty="0">
                <a:solidFill>
                  <a:srgbClr val="002060"/>
                </a:solidFill>
                <a:latin typeface="+mj-lt"/>
                <a:cs typeface="Trebuchet MS"/>
              </a:rPr>
              <a:t>runner </a:t>
            </a:r>
            <a:r>
              <a:rPr sz="2800" spc="-175" dirty="0">
                <a:solidFill>
                  <a:srgbClr val="002060"/>
                </a:solidFill>
                <a:latin typeface="+mj-lt"/>
                <a:cs typeface="Trebuchet MS"/>
              </a:rPr>
              <a:t>which </a:t>
            </a:r>
            <a:r>
              <a:rPr sz="2800" spc="-160" dirty="0">
                <a:solidFill>
                  <a:srgbClr val="FF0000"/>
                </a:solidFill>
                <a:latin typeface="+mj-lt"/>
                <a:cs typeface="Trebuchet MS"/>
              </a:rPr>
              <a:t>changes </a:t>
            </a:r>
            <a:r>
              <a:rPr sz="2800" spc="-170" dirty="0">
                <a:solidFill>
                  <a:srgbClr val="FF0000"/>
                </a:solidFill>
                <a:latin typeface="+mj-lt"/>
                <a:cs typeface="Trebuchet MS"/>
              </a:rPr>
              <a:t>the </a:t>
            </a:r>
            <a:r>
              <a:rPr sz="2800" spc="-175" dirty="0">
                <a:solidFill>
                  <a:srgbClr val="FF0000"/>
                </a:solidFill>
                <a:latin typeface="+mj-lt"/>
                <a:cs typeface="Trebuchet MS"/>
              </a:rPr>
              <a:t>energy level </a:t>
            </a:r>
            <a:r>
              <a:rPr sz="2800" spc="-114" dirty="0">
                <a:solidFill>
                  <a:srgbClr val="FF0000"/>
                </a:solidFill>
                <a:latin typeface="+mj-lt"/>
                <a:cs typeface="Trebuchet MS"/>
              </a:rPr>
              <a:t>of  </a:t>
            </a:r>
            <a:r>
              <a:rPr sz="2800" spc="-170" dirty="0">
                <a:solidFill>
                  <a:srgbClr val="FF0000"/>
                </a:solidFill>
                <a:latin typeface="+mj-lt"/>
                <a:cs typeface="Trebuchet MS"/>
              </a:rPr>
              <a:t>the  </a:t>
            </a:r>
            <a:r>
              <a:rPr sz="2800" spc="-150" dirty="0">
                <a:solidFill>
                  <a:srgbClr val="FF0000"/>
                </a:solidFill>
                <a:latin typeface="+mj-lt"/>
                <a:cs typeface="Trebuchet MS"/>
              </a:rPr>
              <a:t>continuously </a:t>
            </a:r>
            <a:r>
              <a:rPr sz="2800" spc="-125" dirty="0">
                <a:solidFill>
                  <a:srgbClr val="FF0000"/>
                </a:solidFill>
                <a:latin typeface="+mj-lt"/>
                <a:cs typeface="Trebuchet MS"/>
              </a:rPr>
              <a:t>flowing </a:t>
            </a:r>
            <a:r>
              <a:rPr sz="2800" spc="-150" dirty="0">
                <a:solidFill>
                  <a:srgbClr val="FF0000"/>
                </a:solidFill>
                <a:latin typeface="+mj-lt"/>
                <a:cs typeface="Trebuchet MS"/>
              </a:rPr>
              <a:t>fluid </a:t>
            </a:r>
            <a:r>
              <a:rPr sz="2800" spc="-150" dirty="0" smtClean="0">
                <a:solidFill>
                  <a:srgbClr val="002060"/>
                </a:solidFill>
                <a:latin typeface="+mj-lt"/>
                <a:cs typeface="Trebuchet MS"/>
              </a:rPr>
              <a:t>through</a:t>
            </a:r>
            <a:r>
              <a:rPr lang="en-US" sz="2800" spc="-150" dirty="0" smtClean="0">
                <a:solidFill>
                  <a:srgbClr val="002060"/>
                </a:solidFill>
                <a:latin typeface="+mj-lt"/>
                <a:cs typeface="Trebuchet MS"/>
              </a:rPr>
              <a:t> </a:t>
            </a:r>
            <a:r>
              <a:rPr sz="2800" spc="-350" dirty="0" smtClean="0">
                <a:solidFill>
                  <a:srgbClr val="002060"/>
                </a:solidFill>
                <a:latin typeface="+mj-lt"/>
                <a:cs typeface="Trebuchet MS"/>
              </a:rPr>
              <a:t> </a:t>
            </a:r>
            <a:r>
              <a:rPr sz="2800" spc="-170" dirty="0">
                <a:solidFill>
                  <a:srgbClr val="002060"/>
                </a:solidFill>
                <a:latin typeface="+mj-lt"/>
                <a:cs typeface="Trebuchet MS"/>
              </a:rPr>
              <a:t>the</a:t>
            </a:r>
            <a:r>
              <a:rPr sz="2800" spc="-185" dirty="0">
                <a:solidFill>
                  <a:srgbClr val="002060"/>
                </a:solidFill>
                <a:latin typeface="+mj-lt"/>
                <a:cs typeface="Trebuchet MS"/>
              </a:rPr>
              <a:t> </a:t>
            </a:r>
            <a:r>
              <a:rPr sz="2800" spc="-220" dirty="0">
                <a:solidFill>
                  <a:srgbClr val="002060"/>
                </a:solidFill>
                <a:latin typeface="+mj-lt"/>
                <a:cs typeface="Trebuchet MS"/>
              </a:rPr>
              <a:t>rotor</a:t>
            </a:r>
            <a:r>
              <a:rPr sz="2800" spc="-220" dirty="0" smtClean="0">
                <a:solidFill>
                  <a:srgbClr val="002060"/>
                </a:solidFill>
                <a:latin typeface="+mj-lt"/>
                <a:cs typeface="Trebuchet MS"/>
              </a:rPr>
              <a:t>.</a:t>
            </a:r>
            <a:endParaRPr sz="2800" baseline="13888" dirty="0">
              <a:solidFill>
                <a:srgbClr val="002060"/>
              </a:solidFill>
              <a:latin typeface="+mj-lt"/>
              <a:cs typeface="Arial"/>
            </a:endParaRPr>
          </a:p>
        </p:txBody>
      </p:sp>
    </p:spTree>
    <p:extLst>
      <p:ext uri="{BB962C8B-B14F-4D97-AF65-F5344CB8AC3E}">
        <p14:creationId xmlns:p14="http://schemas.microsoft.com/office/powerpoint/2010/main" val="36135496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171450" y="1695450"/>
            <a:ext cx="11868150" cy="2266950"/>
          </a:xfrm>
          <a:prstGeom prst="rect">
            <a:avLst/>
          </a:prstGeom>
        </p:spPr>
        <p:txBody>
          <a:bodyPr>
            <a:normAutofit/>
          </a:bodyPr>
          <a:lstStyle/>
          <a:p>
            <a:pPr marL="457200" indent="-457200" algn="just" eaLnBrk="0" hangingPunct="0">
              <a:spcBef>
                <a:spcPts val="600"/>
              </a:spcBef>
              <a:buClr>
                <a:schemeClr val="tx1"/>
              </a:buClr>
              <a:buSzPct val="80000"/>
              <a:buFont typeface="+mj-lt"/>
              <a:buAutoNum type="arabicPeriod"/>
              <a:defRPr/>
            </a:pPr>
            <a:r>
              <a:rPr kumimoji="0" lang="en-US" sz="2400" dirty="0" smtClean="0">
                <a:latin typeface="+mj-lt"/>
                <a:cs typeface="Times New Roman" pitchFamily="18" charset="0"/>
              </a:rPr>
              <a:t>There </a:t>
            </a:r>
            <a:r>
              <a:rPr kumimoji="0" lang="en-US" sz="2400" dirty="0">
                <a:latin typeface="+mj-lt"/>
                <a:cs typeface="Times New Roman" pitchFamily="18" charset="0"/>
              </a:rPr>
              <a:t>is basically a shaft mounted on bearings.</a:t>
            </a:r>
          </a:p>
          <a:p>
            <a:pPr marL="457200" indent="-457200" algn="just" eaLnBrk="0" hangingPunct="0">
              <a:spcBef>
                <a:spcPts val="600"/>
              </a:spcBef>
              <a:buClr>
                <a:schemeClr val="tx1"/>
              </a:buClr>
              <a:buSzPct val="80000"/>
              <a:buFont typeface="+mj-lt"/>
              <a:buAutoNum type="arabicPeriod"/>
              <a:defRPr/>
            </a:pPr>
            <a:r>
              <a:rPr kumimoji="0" lang="en-US" sz="2400" dirty="0">
                <a:latin typeface="+mj-lt"/>
                <a:cs typeface="Times New Roman" pitchFamily="18" charset="0"/>
              </a:rPr>
              <a:t>The “vaned rotor” is keyed onto the shaft.</a:t>
            </a:r>
          </a:p>
          <a:p>
            <a:pPr marL="457200" indent="-457200" algn="just" eaLnBrk="0" hangingPunct="0">
              <a:spcBef>
                <a:spcPts val="600"/>
              </a:spcBef>
              <a:buClr>
                <a:schemeClr val="tx1"/>
              </a:buClr>
              <a:buSzPct val="80000"/>
              <a:buFont typeface="+mj-lt"/>
              <a:buAutoNum type="arabicPeriod"/>
              <a:defRPr/>
            </a:pPr>
            <a:r>
              <a:rPr kumimoji="0" lang="en-US" sz="2400" dirty="0">
                <a:latin typeface="+mj-lt"/>
                <a:cs typeface="Times New Roman" pitchFamily="18" charset="0"/>
              </a:rPr>
              <a:t>“Rotor” is a general name :</a:t>
            </a:r>
          </a:p>
          <a:p>
            <a:pPr marL="403225" lvl="1" algn="just" eaLnBrk="0" hangingPunct="0">
              <a:spcBef>
                <a:spcPts val="550"/>
              </a:spcBef>
              <a:buClr>
                <a:schemeClr val="accent1"/>
              </a:buClr>
              <a:defRPr/>
            </a:pPr>
            <a:r>
              <a:rPr kumimoji="0" lang="en-US" sz="2400" dirty="0" smtClean="0">
                <a:latin typeface="+mj-lt"/>
                <a:cs typeface="Times New Roman" pitchFamily="18" charset="0"/>
              </a:rPr>
              <a:t> Rotor  </a:t>
            </a:r>
            <a:r>
              <a:rPr kumimoji="0" lang="en-US" sz="2400" dirty="0">
                <a:latin typeface="+mj-lt"/>
                <a:cs typeface="Times New Roman" pitchFamily="18" charset="0"/>
              </a:rPr>
              <a:t>is known as </a:t>
            </a:r>
            <a:r>
              <a:rPr kumimoji="0" lang="en-US" sz="2400" i="1" dirty="0">
                <a:solidFill>
                  <a:srgbClr val="FF0000"/>
                </a:solidFill>
                <a:latin typeface="+mj-lt"/>
                <a:cs typeface="Times New Roman" pitchFamily="18" charset="0"/>
              </a:rPr>
              <a:t>runner </a:t>
            </a:r>
            <a:r>
              <a:rPr kumimoji="0" lang="en-US" sz="2400" dirty="0">
                <a:latin typeface="+mj-lt"/>
                <a:cs typeface="Times New Roman" pitchFamily="18" charset="0"/>
              </a:rPr>
              <a:t>in work-producing turbo machines or turbines.</a:t>
            </a:r>
          </a:p>
          <a:p>
            <a:pPr marL="403225" lvl="1" algn="just" eaLnBrk="0" hangingPunct="0">
              <a:spcBef>
                <a:spcPts val="550"/>
              </a:spcBef>
              <a:buClr>
                <a:schemeClr val="accent1"/>
              </a:buClr>
              <a:defRPr/>
            </a:pPr>
            <a:r>
              <a:rPr kumimoji="0" lang="en-US" sz="2400" i="1" dirty="0">
                <a:latin typeface="+mj-lt"/>
                <a:cs typeface="Times New Roman" pitchFamily="18" charset="0"/>
              </a:rPr>
              <a:t> </a:t>
            </a:r>
            <a:r>
              <a:rPr kumimoji="0" lang="en-US" sz="2400" dirty="0">
                <a:latin typeface="+mj-lt"/>
                <a:cs typeface="Times New Roman" pitchFamily="18" charset="0"/>
              </a:rPr>
              <a:t>Rotor  is known as </a:t>
            </a:r>
            <a:r>
              <a:rPr kumimoji="0" lang="en-US" sz="2400" i="1" dirty="0">
                <a:solidFill>
                  <a:srgbClr val="FF0000"/>
                </a:solidFill>
                <a:latin typeface="+mj-lt"/>
                <a:cs typeface="Times New Roman" pitchFamily="18" charset="0"/>
              </a:rPr>
              <a:t>impeller</a:t>
            </a:r>
            <a:r>
              <a:rPr kumimoji="0" lang="en-US" sz="2400" dirty="0">
                <a:latin typeface="+mj-lt"/>
                <a:cs typeface="Times New Roman" pitchFamily="18" charset="0"/>
              </a:rPr>
              <a:t> in the work-absorbing turbo machines, pumps or </a:t>
            </a:r>
            <a:r>
              <a:rPr kumimoji="0" lang="en-US" sz="2400" dirty="0" smtClean="0">
                <a:latin typeface="+mj-lt"/>
                <a:cs typeface="Times New Roman" pitchFamily="18" charset="0"/>
              </a:rPr>
              <a:t>compressors</a:t>
            </a:r>
          </a:p>
          <a:p>
            <a:pPr marL="403225" lvl="1" algn="just" eaLnBrk="0" hangingPunct="0">
              <a:spcBef>
                <a:spcPts val="550"/>
              </a:spcBef>
              <a:buClr>
                <a:schemeClr val="accent1"/>
              </a:buClr>
              <a:defRPr/>
            </a:pPr>
            <a:endParaRPr kumimoji="0" lang="en-US" dirty="0">
              <a:solidFill>
                <a:srgbClr val="FF0000"/>
              </a:solidFill>
              <a:latin typeface="+mn-lt"/>
            </a:endParaRPr>
          </a:p>
          <a:p>
            <a:pPr marL="365125" indent="-282575" algn="just" eaLnBrk="0" hangingPunct="0">
              <a:spcBef>
                <a:spcPts val="600"/>
              </a:spcBef>
              <a:buClr>
                <a:schemeClr val="accent1"/>
              </a:buClr>
              <a:buSzPct val="80000"/>
              <a:buFont typeface="Wingdings 2" pitchFamily="18" charset="2"/>
              <a:buChar char=""/>
              <a:defRPr/>
            </a:pPr>
            <a:endParaRPr kumimoji="0" lang="en-US" dirty="0">
              <a:latin typeface="Times New Roman" pitchFamily="18" charset="0"/>
              <a:cs typeface="Times New Roman" pitchFamily="18" charset="0"/>
            </a:endParaRPr>
          </a:p>
        </p:txBody>
      </p:sp>
      <p:sp>
        <p:nvSpPr>
          <p:cNvPr id="3" name="TextBox 2"/>
          <p:cNvSpPr txBox="1"/>
          <p:nvPr/>
        </p:nvSpPr>
        <p:spPr>
          <a:xfrm>
            <a:off x="2438400" y="476250"/>
            <a:ext cx="4781550" cy="523220"/>
          </a:xfrm>
          <a:prstGeom prst="rect">
            <a:avLst/>
          </a:prstGeom>
          <a:noFill/>
        </p:spPr>
        <p:txBody>
          <a:bodyPr wrap="square" rtlCol="0">
            <a:spAutoFit/>
          </a:bodyPr>
          <a:lstStyle/>
          <a:p>
            <a:pPr marL="82550" algn="just" eaLnBrk="0" hangingPunct="0">
              <a:spcBef>
                <a:spcPts val="600"/>
              </a:spcBef>
              <a:buClr>
                <a:schemeClr val="accent1"/>
              </a:buClr>
              <a:buSzPct val="80000"/>
              <a:defRPr/>
            </a:pPr>
            <a:r>
              <a:rPr lang="en-US" sz="2800" b="1" u="sng" dirty="0">
                <a:solidFill>
                  <a:srgbClr val="FF0000"/>
                </a:solidFill>
                <a:latin typeface="+mj-lt"/>
                <a:cs typeface="Times New Roman" pitchFamily="18" charset="0"/>
              </a:rPr>
              <a:t>Features of turbo machines</a:t>
            </a:r>
          </a:p>
        </p:txBody>
      </p:sp>
      <p:sp>
        <p:nvSpPr>
          <p:cNvPr id="4" name="TextBox 3"/>
          <p:cNvSpPr txBox="1"/>
          <p:nvPr/>
        </p:nvSpPr>
        <p:spPr>
          <a:xfrm>
            <a:off x="-209550" y="4095750"/>
            <a:ext cx="12115800" cy="1277273"/>
          </a:xfrm>
          <a:prstGeom prst="rect">
            <a:avLst/>
          </a:prstGeom>
          <a:noFill/>
        </p:spPr>
        <p:txBody>
          <a:bodyPr wrap="square" rtlCol="0">
            <a:spAutoFit/>
          </a:bodyPr>
          <a:lstStyle/>
          <a:p>
            <a:pPr marL="860425" lvl="1" indent="-457200" algn="just" eaLnBrk="0" hangingPunct="0">
              <a:spcBef>
                <a:spcPts val="550"/>
              </a:spcBef>
              <a:buClr>
                <a:schemeClr val="tx1"/>
              </a:buClr>
              <a:buFont typeface="+mj-lt"/>
              <a:buAutoNum type="arabicPeriod" startAt="4"/>
              <a:defRPr/>
            </a:pPr>
            <a:r>
              <a:rPr lang="en-US" sz="2400" dirty="0">
                <a:cs typeface="Times New Roman" pitchFamily="18" charset="0"/>
              </a:rPr>
              <a:t>Shaft is coupled to either a generator ( to produce   power) or a motor (to utilize power)</a:t>
            </a:r>
          </a:p>
          <a:p>
            <a:pPr marL="860425" lvl="1" indent="-457200" algn="just" eaLnBrk="0" hangingPunct="0">
              <a:spcBef>
                <a:spcPts val="550"/>
              </a:spcBef>
              <a:buClr>
                <a:schemeClr val="tx1"/>
              </a:buClr>
              <a:buFont typeface="+mj-lt"/>
              <a:buAutoNum type="arabicPeriod" startAt="4"/>
              <a:defRPr/>
            </a:pPr>
            <a:r>
              <a:rPr lang="en-US" sz="2400" dirty="0">
                <a:cs typeface="Times New Roman" pitchFamily="18" charset="0"/>
              </a:rPr>
              <a:t>A stator encloses the rotor, it guides the flow of fluid also it houses components such as guide vanes, nozzles, or diffusers.</a:t>
            </a:r>
          </a:p>
        </p:txBody>
      </p:sp>
    </p:spTree>
    <p:extLst>
      <p:ext uri="{BB962C8B-B14F-4D97-AF65-F5344CB8AC3E}">
        <p14:creationId xmlns:p14="http://schemas.microsoft.com/office/powerpoint/2010/main" val="28068457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6700" y="1693926"/>
            <a:ext cx="11925300" cy="3970318"/>
          </a:xfrm>
          <a:prstGeom prst="rect">
            <a:avLst/>
          </a:prstGeom>
          <a:noFill/>
        </p:spPr>
        <p:txBody>
          <a:bodyPr wrap="square" rtlCol="0">
            <a:spAutoFit/>
          </a:bodyPr>
          <a:lstStyle/>
          <a:p>
            <a:r>
              <a:rPr lang="en-US" sz="2800" dirty="0" smtClean="0"/>
              <a:t>Turbo machine  is device that exchange energy with fluid using continuously flowing fluid and rotating blade.</a:t>
            </a:r>
          </a:p>
          <a:p>
            <a:endParaRPr lang="en-US" sz="2800" dirty="0" smtClean="0"/>
          </a:p>
          <a:p>
            <a:r>
              <a:rPr lang="en-US" sz="2800" dirty="0" smtClean="0"/>
              <a:t>Eg. Aircraft engine &amp;  Wind turbine.</a:t>
            </a:r>
          </a:p>
          <a:p>
            <a:endParaRPr lang="en-US" sz="2800" dirty="0"/>
          </a:p>
          <a:p>
            <a:r>
              <a:rPr lang="en-US" sz="2800" b="1" dirty="0" smtClean="0">
                <a:solidFill>
                  <a:srgbClr val="FF0000"/>
                </a:solidFill>
              </a:rPr>
              <a:t>Turbine	</a:t>
            </a:r>
            <a:r>
              <a:rPr lang="en-US" sz="2800" dirty="0" smtClean="0"/>
              <a:t>				</a:t>
            </a:r>
            <a:r>
              <a:rPr lang="en-US" sz="2800" b="1" dirty="0" smtClean="0">
                <a:solidFill>
                  <a:srgbClr val="FF0000"/>
                </a:solidFill>
              </a:rPr>
              <a:t>- </a:t>
            </a:r>
            <a:r>
              <a:rPr lang="en-US" sz="2800" dirty="0" smtClean="0"/>
              <a:t>A device  extract energy from the fluid. </a:t>
            </a:r>
          </a:p>
          <a:p>
            <a:r>
              <a:rPr lang="en-US" sz="2800" b="1" dirty="0" smtClean="0">
                <a:solidFill>
                  <a:srgbClr val="FF0000"/>
                </a:solidFill>
              </a:rPr>
              <a:t>Compressor, fan, blower or pump-</a:t>
            </a:r>
            <a:r>
              <a:rPr lang="en-US" sz="2800" dirty="0" smtClean="0"/>
              <a:t>	</a:t>
            </a:r>
            <a:r>
              <a:rPr lang="en-US" sz="2800" b="1" dirty="0" smtClean="0">
                <a:solidFill>
                  <a:srgbClr val="FF0000"/>
                </a:solidFill>
              </a:rPr>
              <a:t>- </a:t>
            </a:r>
            <a:r>
              <a:rPr lang="en-US" sz="2800" dirty="0" smtClean="0"/>
              <a:t>The device deliver energy to fluid.</a:t>
            </a:r>
          </a:p>
          <a:p>
            <a:endParaRPr lang="en-US" sz="2800" dirty="0"/>
          </a:p>
          <a:p>
            <a:r>
              <a:rPr lang="en-US" sz="2800" dirty="0" smtClean="0"/>
              <a:t>Depending on the fluid used and magnitude of the change in pressure .	</a:t>
            </a:r>
            <a:endParaRPr lang="en-US" sz="2800" dirty="0"/>
          </a:p>
        </p:txBody>
      </p:sp>
    </p:spTree>
    <p:extLst>
      <p:ext uri="{BB962C8B-B14F-4D97-AF65-F5344CB8AC3E}">
        <p14:creationId xmlns:p14="http://schemas.microsoft.com/office/powerpoint/2010/main" val="3668505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50" y="1092339"/>
            <a:ext cx="11696700" cy="4893647"/>
          </a:xfrm>
          <a:prstGeom prst="rect">
            <a:avLst/>
          </a:prstGeom>
          <a:noFill/>
        </p:spPr>
        <p:txBody>
          <a:bodyPr wrap="square" rtlCol="0">
            <a:spAutoFit/>
          </a:bodyPr>
          <a:lstStyle/>
          <a:p>
            <a:pPr algn="just">
              <a:buNone/>
              <a:defRPr/>
            </a:pPr>
            <a:endParaRPr lang="en-US" sz="2400" dirty="0" smtClean="0">
              <a:solidFill>
                <a:srgbClr val="002060"/>
              </a:solidFill>
              <a:cs typeface="Times New Roman" pitchFamily="18" charset="0"/>
            </a:endParaRPr>
          </a:p>
          <a:p>
            <a:pPr algn="just">
              <a:buNone/>
              <a:defRPr/>
            </a:pPr>
            <a:r>
              <a:rPr lang="en-US" sz="2400" b="1" dirty="0" smtClean="0">
                <a:solidFill>
                  <a:srgbClr val="FF0000"/>
                </a:solidFill>
                <a:cs typeface="Times New Roman" pitchFamily="18" charset="0"/>
              </a:rPr>
              <a:t>Turbo </a:t>
            </a:r>
            <a:r>
              <a:rPr lang="en-US" sz="2400" b="1" dirty="0">
                <a:solidFill>
                  <a:srgbClr val="FF0000"/>
                </a:solidFill>
                <a:cs typeface="Times New Roman" pitchFamily="18" charset="0"/>
              </a:rPr>
              <a:t>machine </a:t>
            </a:r>
            <a:r>
              <a:rPr lang="en-US" sz="2400" b="1" dirty="0" smtClean="0">
                <a:solidFill>
                  <a:srgbClr val="FF0000"/>
                </a:solidFill>
                <a:cs typeface="Times New Roman" pitchFamily="18" charset="0"/>
              </a:rPr>
              <a:t>–</a:t>
            </a:r>
            <a:r>
              <a:rPr lang="en-US" sz="2400" dirty="0" smtClean="0">
                <a:solidFill>
                  <a:srgbClr val="002060"/>
                </a:solidFill>
                <a:cs typeface="Times New Roman" pitchFamily="18" charset="0"/>
              </a:rPr>
              <a:t> It is </a:t>
            </a:r>
            <a:r>
              <a:rPr lang="en-US" sz="2400" dirty="0">
                <a:solidFill>
                  <a:srgbClr val="002060"/>
                </a:solidFill>
                <a:cs typeface="Times New Roman" pitchFamily="18" charset="0"/>
              </a:rPr>
              <a:t>a device in which </a:t>
            </a:r>
            <a:r>
              <a:rPr lang="en-US" sz="2400" i="1" dirty="0" smtClean="0">
                <a:solidFill>
                  <a:srgbClr val="002060"/>
                </a:solidFill>
                <a:cs typeface="Times New Roman" pitchFamily="18" charset="0"/>
              </a:rPr>
              <a:t>energy transfer occurs between  </a:t>
            </a:r>
            <a:r>
              <a:rPr lang="en-US" sz="2400" dirty="0" smtClean="0">
                <a:solidFill>
                  <a:srgbClr val="002060"/>
                </a:solidFill>
                <a:cs typeface="Times New Roman" pitchFamily="18" charset="0"/>
              </a:rPr>
              <a:t>fluid and rotating element , </a:t>
            </a:r>
            <a:r>
              <a:rPr lang="en-US" sz="2400" dirty="0">
                <a:solidFill>
                  <a:srgbClr val="002060"/>
                </a:solidFill>
                <a:cs typeface="Times New Roman" pitchFamily="18" charset="0"/>
              </a:rPr>
              <a:t>due to </a:t>
            </a:r>
            <a:r>
              <a:rPr lang="en-US" sz="2400" i="1" dirty="0">
                <a:solidFill>
                  <a:srgbClr val="002060"/>
                </a:solidFill>
                <a:cs typeface="Times New Roman" pitchFamily="18" charset="0"/>
              </a:rPr>
              <a:t>dynamic action </a:t>
            </a:r>
            <a:r>
              <a:rPr lang="en-US" sz="2400" i="1" dirty="0" smtClean="0">
                <a:solidFill>
                  <a:srgbClr val="002060"/>
                </a:solidFill>
                <a:cs typeface="Times New Roman" pitchFamily="18" charset="0"/>
              </a:rPr>
              <a:t>&amp; </a:t>
            </a:r>
            <a:r>
              <a:rPr lang="en-US" sz="2400" dirty="0" smtClean="0">
                <a:solidFill>
                  <a:srgbClr val="002060"/>
                </a:solidFill>
                <a:cs typeface="Times New Roman" pitchFamily="18" charset="0"/>
              </a:rPr>
              <a:t>result </a:t>
            </a:r>
            <a:r>
              <a:rPr lang="en-US" sz="2400" dirty="0">
                <a:solidFill>
                  <a:srgbClr val="002060"/>
                </a:solidFill>
                <a:cs typeface="Times New Roman" pitchFamily="18" charset="0"/>
              </a:rPr>
              <a:t>in </a:t>
            </a:r>
            <a:r>
              <a:rPr lang="en-US" sz="2400" dirty="0" smtClean="0">
                <a:solidFill>
                  <a:srgbClr val="002060"/>
                </a:solidFill>
                <a:cs typeface="Times New Roman" pitchFamily="18" charset="0"/>
              </a:rPr>
              <a:t>to change in </a:t>
            </a:r>
            <a:r>
              <a:rPr lang="en-US" sz="2400" i="1" dirty="0" smtClean="0">
                <a:solidFill>
                  <a:srgbClr val="002060"/>
                </a:solidFill>
                <a:cs typeface="Times New Roman" pitchFamily="18" charset="0"/>
              </a:rPr>
              <a:t>pressure </a:t>
            </a:r>
            <a:r>
              <a:rPr lang="en-US" sz="2400" i="1" dirty="0">
                <a:solidFill>
                  <a:srgbClr val="002060"/>
                </a:solidFill>
                <a:cs typeface="Times New Roman" pitchFamily="18" charset="0"/>
              </a:rPr>
              <a:t>and </a:t>
            </a:r>
            <a:r>
              <a:rPr lang="en-US" sz="2400" i="1" dirty="0" smtClean="0">
                <a:solidFill>
                  <a:srgbClr val="002060"/>
                </a:solidFill>
                <a:cs typeface="Times New Roman" pitchFamily="18" charset="0"/>
              </a:rPr>
              <a:t> </a:t>
            </a:r>
            <a:r>
              <a:rPr lang="en-US" sz="2400" i="1" dirty="0">
                <a:solidFill>
                  <a:srgbClr val="002060"/>
                </a:solidFill>
                <a:cs typeface="Times New Roman" pitchFamily="18" charset="0"/>
              </a:rPr>
              <a:t>the momentum </a:t>
            </a:r>
            <a:r>
              <a:rPr lang="en-US" sz="2400" dirty="0">
                <a:solidFill>
                  <a:srgbClr val="002060"/>
                </a:solidFill>
                <a:cs typeface="Times New Roman" pitchFamily="18" charset="0"/>
              </a:rPr>
              <a:t>of the fluid. </a:t>
            </a:r>
            <a:endParaRPr lang="en-US" sz="2400" dirty="0" smtClean="0">
              <a:solidFill>
                <a:srgbClr val="002060"/>
              </a:solidFill>
              <a:cs typeface="Times New Roman" pitchFamily="18" charset="0"/>
            </a:endParaRPr>
          </a:p>
          <a:p>
            <a:pPr algn="just">
              <a:buNone/>
              <a:defRPr/>
            </a:pPr>
            <a:endParaRPr lang="en-US" sz="2400" dirty="0">
              <a:solidFill>
                <a:srgbClr val="002060"/>
              </a:solidFill>
              <a:cs typeface="Times New Roman" pitchFamily="18" charset="0"/>
            </a:endParaRPr>
          </a:p>
          <a:p>
            <a:pPr algn="just">
              <a:buNone/>
              <a:defRPr/>
            </a:pPr>
            <a:r>
              <a:rPr lang="en-US" sz="2400" b="1" dirty="0" smtClean="0">
                <a:solidFill>
                  <a:srgbClr val="FF0000"/>
                </a:solidFill>
                <a:cs typeface="Times New Roman" pitchFamily="18" charset="0"/>
              </a:rPr>
              <a:t>Pump- </a:t>
            </a:r>
            <a:r>
              <a:rPr lang="en-US" sz="2400" dirty="0" smtClean="0">
                <a:solidFill>
                  <a:srgbClr val="002060"/>
                </a:solidFill>
                <a:cs typeface="Times New Roman" pitchFamily="18" charset="0"/>
              </a:rPr>
              <a:t>It is hydraulic machine which convert the mechanical energy in to hydraulic energy.</a:t>
            </a:r>
          </a:p>
          <a:p>
            <a:pPr algn="just">
              <a:buNone/>
              <a:defRPr/>
            </a:pPr>
            <a:r>
              <a:rPr lang="en-US" sz="2400" dirty="0" smtClean="0">
                <a:solidFill>
                  <a:srgbClr val="002060"/>
                </a:solidFill>
                <a:cs typeface="Times New Roman" pitchFamily="18" charset="0"/>
              </a:rPr>
              <a:t>Hydraulic energy is in the form of pressure energy . Increase in the pressure energy or kinetic energy  or both pressure and kinetic energy of fluid by converting the mechanical energy.</a:t>
            </a:r>
          </a:p>
          <a:p>
            <a:pPr algn="just">
              <a:buNone/>
              <a:defRPr/>
            </a:pPr>
            <a:endParaRPr lang="en-US" sz="2400" dirty="0">
              <a:solidFill>
                <a:srgbClr val="002060"/>
              </a:solidFill>
              <a:cs typeface="Times New Roman" pitchFamily="18" charset="0"/>
            </a:endParaRPr>
          </a:p>
          <a:p>
            <a:pPr algn="just">
              <a:buNone/>
              <a:defRPr/>
            </a:pPr>
            <a:r>
              <a:rPr lang="en-US" sz="2400" b="1" dirty="0" smtClean="0">
                <a:solidFill>
                  <a:srgbClr val="FF0000"/>
                </a:solidFill>
                <a:cs typeface="Times New Roman" pitchFamily="18" charset="0"/>
              </a:rPr>
              <a:t>Compressor – </a:t>
            </a:r>
            <a:r>
              <a:rPr lang="en-US" sz="2400" dirty="0" smtClean="0">
                <a:solidFill>
                  <a:srgbClr val="002060"/>
                </a:solidFill>
                <a:cs typeface="Times New Roman" pitchFamily="18" charset="0"/>
              </a:rPr>
              <a:t>A device or machine providing air at high pressure .</a:t>
            </a:r>
          </a:p>
          <a:p>
            <a:pPr algn="just">
              <a:buNone/>
              <a:defRPr/>
            </a:pPr>
            <a:endParaRPr lang="en-US" sz="2400" b="1" dirty="0">
              <a:solidFill>
                <a:srgbClr val="FF0000"/>
              </a:solidFill>
              <a:cs typeface="Times New Roman" pitchFamily="18" charset="0"/>
            </a:endParaRPr>
          </a:p>
          <a:p>
            <a:pPr algn="just">
              <a:buNone/>
              <a:defRPr/>
            </a:pPr>
            <a:r>
              <a:rPr lang="en-US" sz="2400" b="1" dirty="0" smtClean="0">
                <a:solidFill>
                  <a:srgbClr val="FF0000"/>
                </a:solidFill>
                <a:cs typeface="Times New Roman" pitchFamily="18" charset="0"/>
              </a:rPr>
              <a:t>Receiver – </a:t>
            </a:r>
            <a:r>
              <a:rPr lang="en-US" sz="2400" dirty="0" smtClean="0">
                <a:solidFill>
                  <a:srgbClr val="002060"/>
                </a:solidFill>
                <a:cs typeface="Times New Roman" pitchFamily="18" charset="0"/>
              </a:rPr>
              <a:t>An air compressor takes in air at atmospheric pressure , compresses it  and delivers the high pressure air to a storage vessel.</a:t>
            </a:r>
            <a:endParaRPr lang="en-US" sz="2400" dirty="0">
              <a:solidFill>
                <a:srgbClr val="002060"/>
              </a:solidFill>
              <a:cs typeface="Times New Roman" pitchFamily="18" charset="0"/>
            </a:endParaRPr>
          </a:p>
        </p:txBody>
      </p:sp>
    </p:spTree>
    <p:extLst>
      <p:ext uri="{BB962C8B-B14F-4D97-AF65-F5344CB8AC3E}">
        <p14:creationId xmlns:p14="http://schemas.microsoft.com/office/powerpoint/2010/main" val="20586244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0100" y="1866900"/>
            <a:ext cx="9944100" cy="3046988"/>
          </a:xfrm>
          <a:prstGeom prst="rect">
            <a:avLst/>
          </a:prstGeom>
          <a:noFill/>
        </p:spPr>
        <p:txBody>
          <a:bodyPr wrap="square" rtlCol="0">
            <a:spAutoFit/>
          </a:bodyPr>
          <a:lstStyle/>
          <a:p>
            <a:pPr algn="just">
              <a:buNone/>
              <a:defRPr/>
            </a:pPr>
            <a:r>
              <a:rPr lang="en-US" sz="2400" b="1" dirty="0">
                <a:solidFill>
                  <a:srgbClr val="FF0000"/>
                </a:solidFill>
                <a:cs typeface="Times New Roman" pitchFamily="18" charset="0"/>
              </a:rPr>
              <a:t>Fan –</a:t>
            </a:r>
            <a:r>
              <a:rPr lang="en-US" sz="2400" dirty="0">
                <a:solidFill>
                  <a:srgbClr val="002060"/>
                </a:solidFill>
                <a:cs typeface="Times New Roman" pitchFamily="18" charset="0"/>
              </a:rPr>
              <a:t>The primary function of fan is to circulate the air or gases in required quantity and at required places in the power plant by maintaining pressure difference</a:t>
            </a:r>
            <a:r>
              <a:rPr lang="en-US" sz="2400" dirty="0" smtClean="0">
                <a:solidFill>
                  <a:srgbClr val="002060"/>
                </a:solidFill>
                <a:cs typeface="Times New Roman" pitchFamily="18" charset="0"/>
              </a:rPr>
              <a:t>.</a:t>
            </a:r>
          </a:p>
          <a:p>
            <a:pPr algn="just">
              <a:buNone/>
              <a:defRPr/>
            </a:pPr>
            <a:endParaRPr lang="en-US" sz="2400" dirty="0">
              <a:solidFill>
                <a:srgbClr val="002060"/>
              </a:solidFill>
              <a:cs typeface="Times New Roman" pitchFamily="18" charset="0"/>
            </a:endParaRPr>
          </a:p>
          <a:p>
            <a:pPr algn="just">
              <a:buNone/>
              <a:defRPr/>
            </a:pPr>
            <a:r>
              <a:rPr lang="en-US" sz="2400" b="1" dirty="0" smtClean="0">
                <a:solidFill>
                  <a:srgbClr val="FF0000"/>
                </a:solidFill>
                <a:cs typeface="Times New Roman" pitchFamily="18" charset="0"/>
              </a:rPr>
              <a:t>Blower- </a:t>
            </a:r>
            <a:r>
              <a:rPr lang="en-US" sz="2400" dirty="0" smtClean="0">
                <a:cs typeface="Times New Roman" pitchFamily="18" charset="0"/>
              </a:rPr>
              <a:t>Displacement air compressor in which air is trapped between two mutually engaging surfaces.</a:t>
            </a:r>
          </a:p>
          <a:p>
            <a:pPr algn="just">
              <a:buNone/>
              <a:defRPr/>
            </a:pPr>
            <a:r>
              <a:rPr lang="en-US" sz="2400" dirty="0" smtClean="0">
                <a:cs typeface="Times New Roman" pitchFamily="18" charset="0"/>
              </a:rPr>
              <a:t>The squeezing action takes place on the trapped air.( also called as </a:t>
            </a:r>
            <a:r>
              <a:rPr lang="en-US" sz="2400" b="1" dirty="0" smtClean="0">
                <a:solidFill>
                  <a:srgbClr val="FF0000"/>
                </a:solidFill>
                <a:cs typeface="Times New Roman" pitchFamily="18" charset="0"/>
              </a:rPr>
              <a:t>Low pressure turbo compressor</a:t>
            </a:r>
            <a:r>
              <a:rPr lang="en-US" sz="2400" dirty="0" smtClean="0">
                <a:cs typeface="Times New Roman" pitchFamily="18" charset="0"/>
              </a:rPr>
              <a:t>)</a:t>
            </a:r>
            <a:endParaRPr lang="en-US" sz="2400" dirty="0">
              <a:cs typeface="Times New Roman" pitchFamily="18" charset="0"/>
            </a:endParaRPr>
          </a:p>
        </p:txBody>
      </p:sp>
    </p:spTree>
    <p:extLst>
      <p:ext uri="{BB962C8B-B14F-4D97-AF65-F5344CB8AC3E}">
        <p14:creationId xmlns:p14="http://schemas.microsoft.com/office/powerpoint/2010/main" val="40730203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673352" y="621792"/>
            <a:ext cx="9939528" cy="5084064"/>
          </a:xfrm>
          <a:prstGeom prst="rect">
            <a:avLst/>
          </a:prstGeom>
          <a:ln>
            <a:solidFill>
              <a:schemeClr val="tx1"/>
            </a:solidFill>
          </a:ln>
        </p:spPr>
        <p:txBody>
          <a:bodyPr>
            <a:normAutofit/>
          </a:bodyPr>
          <a:lstStyle/>
          <a:p>
            <a:pPr marL="365125" indent="-282575" algn="ctr" eaLnBrk="0" hangingPunct="0">
              <a:spcBef>
                <a:spcPts val="600"/>
              </a:spcBef>
              <a:buClr>
                <a:schemeClr val="accent1"/>
              </a:buClr>
              <a:buSzPct val="80000"/>
              <a:buFont typeface="Wingdings 2" pitchFamily="18" charset="2"/>
              <a:buNone/>
              <a:defRPr/>
            </a:pPr>
            <a:r>
              <a:rPr kumimoji="0" lang="en-US" sz="2800" b="1" i="1" u="sng" dirty="0">
                <a:solidFill>
                  <a:srgbClr val="FF0000"/>
                </a:solidFill>
                <a:latin typeface="+mj-lt"/>
                <a:cs typeface="Times New Roman" pitchFamily="18" charset="0"/>
              </a:rPr>
              <a:t>Classification of turbo machines</a:t>
            </a:r>
            <a:r>
              <a:rPr kumimoji="0" lang="en-US" sz="2800" b="1" i="1" u="sng" dirty="0" smtClean="0">
                <a:solidFill>
                  <a:schemeClr val="accent3"/>
                </a:solidFill>
                <a:latin typeface="+mj-lt"/>
                <a:cs typeface="Times New Roman" pitchFamily="18" charset="0"/>
              </a:rPr>
              <a:t>.</a:t>
            </a:r>
          </a:p>
          <a:p>
            <a:pPr marL="365125" indent="-282575" algn="ctr" eaLnBrk="0" hangingPunct="0">
              <a:spcBef>
                <a:spcPts val="600"/>
              </a:spcBef>
              <a:buClr>
                <a:schemeClr val="accent1"/>
              </a:buClr>
              <a:buSzPct val="80000"/>
              <a:buFont typeface="Wingdings 2" pitchFamily="18" charset="2"/>
              <a:buNone/>
              <a:defRPr/>
            </a:pPr>
            <a:endParaRPr kumimoji="0" lang="en-US" sz="2400" b="1" dirty="0">
              <a:solidFill>
                <a:schemeClr val="accent3"/>
              </a:solidFill>
              <a:latin typeface="+mj-lt"/>
              <a:cs typeface="Times New Roman" pitchFamily="18" charset="0"/>
            </a:endParaRPr>
          </a:p>
          <a:p>
            <a:pPr marL="514350" indent="-514350" eaLnBrk="0" hangingPunct="0">
              <a:spcBef>
                <a:spcPts val="600"/>
              </a:spcBef>
              <a:buClr>
                <a:schemeClr val="accent1"/>
              </a:buClr>
              <a:buSzPct val="80000"/>
              <a:defRPr/>
            </a:pPr>
            <a:r>
              <a:rPr kumimoji="0" lang="en-US" sz="2400" dirty="0">
                <a:latin typeface="+mj-lt"/>
                <a:cs typeface="Times New Roman" pitchFamily="18" charset="0"/>
              </a:rPr>
              <a:t>1. </a:t>
            </a:r>
            <a:r>
              <a:rPr kumimoji="0" lang="en-US" sz="2400" b="1" dirty="0">
                <a:latin typeface="+mj-lt"/>
                <a:cs typeface="Times New Roman" pitchFamily="18" charset="0"/>
              </a:rPr>
              <a:t>Based on </a:t>
            </a:r>
            <a:r>
              <a:rPr kumimoji="0" lang="en-US" sz="2400" b="1" dirty="0" smtClean="0">
                <a:latin typeface="+mj-lt"/>
                <a:cs typeface="Times New Roman" pitchFamily="18" charset="0"/>
              </a:rPr>
              <a:t> direction of Energy flow in the machine. </a:t>
            </a:r>
            <a:endParaRPr kumimoji="0" lang="en-US" sz="2400" b="1" dirty="0">
              <a:latin typeface="+mj-lt"/>
              <a:cs typeface="Times New Roman" pitchFamily="18" charset="0"/>
            </a:endParaRPr>
          </a:p>
          <a:p>
            <a:pPr marL="514350" indent="-514350" eaLnBrk="0" hangingPunct="0">
              <a:spcBef>
                <a:spcPts val="600"/>
              </a:spcBef>
              <a:buClr>
                <a:schemeClr val="accent1"/>
              </a:buClr>
              <a:buSzPct val="80000"/>
              <a:buFont typeface="Wingdings 2" pitchFamily="18" charset="2"/>
              <a:buAutoNum type="alphaLcParenR"/>
              <a:defRPr/>
            </a:pPr>
            <a:r>
              <a:rPr kumimoji="0" lang="en-US" sz="2400" dirty="0">
                <a:latin typeface="+mj-lt"/>
                <a:cs typeface="Times New Roman" pitchFamily="18" charset="0"/>
              </a:rPr>
              <a:t>Energy is given by fluid to the rotor </a:t>
            </a:r>
            <a:r>
              <a:rPr lang="en-US" sz="2400" dirty="0">
                <a:cs typeface="Times New Roman" pitchFamily="18" charset="0"/>
              </a:rPr>
              <a:t>-(working </a:t>
            </a:r>
            <a:r>
              <a:rPr lang="en-US" sz="2400" dirty="0" smtClean="0">
                <a:cs typeface="Times New Roman" pitchFamily="18" charset="0"/>
              </a:rPr>
              <a:t>medium-water)                        -</a:t>
            </a:r>
            <a:r>
              <a:rPr kumimoji="0" lang="en-US" sz="2400" dirty="0" smtClean="0">
                <a:latin typeface="+mj-lt"/>
                <a:cs typeface="Times New Roman" pitchFamily="18" charset="0"/>
              </a:rPr>
              <a:t> </a:t>
            </a:r>
            <a:r>
              <a:rPr kumimoji="0" lang="en-US" sz="2400" dirty="0">
                <a:latin typeface="+mj-lt"/>
                <a:cs typeface="Times New Roman" pitchFamily="18" charset="0"/>
              </a:rPr>
              <a:t>Power generating turbo machine </a:t>
            </a:r>
            <a:r>
              <a:rPr kumimoji="0" lang="en-US" sz="2400" dirty="0" smtClean="0">
                <a:latin typeface="+mj-lt"/>
                <a:cs typeface="Times New Roman" pitchFamily="18" charset="0"/>
              </a:rPr>
              <a:t>      E.g</a:t>
            </a:r>
            <a:r>
              <a:rPr kumimoji="0" lang="en-US" sz="2400" dirty="0">
                <a:latin typeface="+mj-lt"/>
                <a:cs typeface="Times New Roman" pitchFamily="18" charset="0"/>
              </a:rPr>
              <a:t>. Turbines</a:t>
            </a:r>
          </a:p>
          <a:p>
            <a:pPr marL="514350" indent="-514350" eaLnBrk="0" hangingPunct="0">
              <a:spcBef>
                <a:spcPts val="600"/>
              </a:spcBef>
              <a:buClr>
                <a:schemeClr val="accent1"/>
              </a:buClr>
              <a:buSzPct val="80000"/>
              <a:buFont typeface="Wingdings 2" pitchFamily="18" charset="2"/>
              <a:buAutoNum type="alphaLcParenR"/>
              <a:defRPr/>
            </a:pPr>
            <a:r>
              <a:rPr kumimoji="0" lang="en-US" sz="2400" dirty="0">
                <a:latin typeface="+mj-lt"/>
                <a:cs typeface="Times New Roman" pitchFamily="18" charset="0"/>
              </a:rPr>
              <a:t>Energy given by the rotor to the </a:t>
            </a:r>
            <a:r>
              <a:rPr kumimoji="0" lang="en-US" sz="2400" dirty="0" smtClean="0">
                <a:latin typeface="+mj-lt"/>
                <a:cs typeface="Times New Roman" pitchFamily="18" charset="0"/>
              </a:rPr>
              <a:t>fluid -(working medium-</a:t>
            </a:r>
            <a:r>
              <a:rPr lang="en-US" sz="2400" dirty="0" smtClean="0">
                <a:latin typeface="+mj-lt"/>
                <a:cs typeface="Times New Roman" pitchFamily="18" charset="0"/>
              </a:rPr>
              <a:t>ai</a:t>
            </a:r>
            <a:r>
              <a:rPr kumimoji="0" lang="en-US" sz="2400" dirty="0" smtClean="0">
                <a:latin typeface="+mj-lt"/>
                <a:cs typeface="Times New Roman" pitchFamily="18" charset="0"/>
              </a:rPr>
              <a:t>r/gas/vapour)       </a:t>
            </a:r>
            <a:r>
              <a:rPr lang="en-US" sz="2400" dirty="0">
                <a:latin typeface="+mj-lt"/>
                <a:cs typeface="Times New Roman" pitchFamily="18" charset="0"/>
              </a:rPr>
              <a:t>-</a:t>
            </a:r>
            <a:r>
              <a:rPr kumimoji="0" lang="en-US" sz="2400" dirty="0" smtClean="0">
                <a:latin typeface="+mj-lt"/>
                <a:cs typeface="Times New Roman" pitchFamily="18" charset="0"/>
              </a:rPr>
              <a:t> </a:t>
            </a:r>
            <a:r>
              <a:rPr kumimoji="0" lang="en-US" sz="2400" dirty="0">
                <a:latin typeface="+mj-lt"/>
                <a:cs typeface="Times New Roman" pitchFamily="18" charset="0"/>
              </a:rPr>
              <a:t>Power absorbing turbo </a:t>
            </a:r>
            <a:r>
              <a:rPr kumimoji="0" lang="en-US" sz="2400" dirty="0" smtClean="0">
                <a:latin typeface="+mj-lt"/>
                <a:cs typeface="Times New Roman" pitchFamily="18" charset="0"/>
              </a:rPr>
              <a:t>machine    E.g</a:t>
            </a:r>
            <a:r>
              <a:rPr kumimoji="0" lang="en-US" sz="2400" dirty="0">
                <a:latin typeface="+mj-lt"/>
                <a:cs typeface="Times New Roman" pitchFamily="18" charset="0"/>
              </a:rPr>
              <a:t>. Pumps, blowers and compressors.</a:t>
            </a:r>
          </a:p>
          <a:p>
            <a:pPr marL="514350" indent="-514350" eaLnBrk="0" hangingPunct="0">
              <a:spcBef>
                <a:spcPts val="600"/>
              </a:spcBef>
              <a:buClr>
                <a:schemeClr val="accent1"/>
              </a:buClr>
              <a:buSzPct val="80000"/>
              <a:buFont typeface="Wingdings 2" pitchFamily="18" charset="2"/>
              <a:buNone/>
              <a:defRPr/>
            </a:pPr>
            <a:r>
              <a:rPr kumimoji="0" lang="en-US" sz="2400" dirty="0">
                <a:latin typeface="+mj-lt"/>
                <a:cs typeface="Times New Roman" pitchFamily="18" charset="0"/>
              </a:rPr>
              <a:t> 2. </a:t>
            </a:r>
            <a:r>
              <a:rPr kumimoji="0" lang="en-US" sz="2400" b="1" dirty="0">
                <a:latin typeface="+mj-lt"/>
                <a:cs typeface="Times New Roman" pitchFamily="18" charset="0"/>
              </a:rPr>
              <a:t>Based on </a:t>
            </a:r>
            <a:r>
              <a:rPr kumimoji="0" lang="en-US" sz="2400" b="1" dirty="0" smtClean="0">
                <a:latin typeface="+mj-lt"/>
                <a:cs typeface="Times New Roman" pitchFamily="18" charset="0"/>
              </a:rPr>
              <a:t>type of fluid used </a:t>
            </a:r>
            <a:r>
              <a:rPr lang="en-US" sz="2400" b="1" dirty="0">
                <a:cs typeface="Times New Roman" pitchFamily="18" charset="0"/>
              </a:rPr>
              <a:t>in the </a:t>
            </a:r>
            <a:r>
              <a:rPr lang="en-US" sz="2400" b="1" dirty="0" smtClean="0">
                <a:cs typeface="Times New Roman" pitchFamily="18" charset="0"/>
              </a:rPr>
              <a:t>machine. </a:t>
            </a:r>
            <a:endParaRPr kumimoji="0" lang="en-US" sz="2400" b="1" dirty="0">
              <a:latin typeface="+mj-lt"/>
              <a:cs typeface="Times New Roman" pitchFamily="18" charset="0"/>
            </a:endParaRPr>
          </a:p>
          <a:p>
            <a:pPr marL="514350" indent="-514350" eaLnBrk="0" hangingPunct="0">
              <a:spcBef>
                <a:spcPts val="600"/>
              </a:spcBef>
              <a:buClr>
                <a:schemeClr val="accent1"/>
              </a:buClr>
              <a:buSzPct val="80000"/>
              <a:buFont typeface="Wingdings 2" pitchFamily="18" charset="2"/>
              <a:buAutoNum type="alphaLcParenR"/>
              <a:defRPr/>
            </a:pPr>
            <a:r>
              <a:rPr kumimoji="0" lang="en-US" sz="2400" dirty="0">
                <a:latin typeface="+mj-lt"/>
                <a:cs typeface="Times New Roman" pitchFamily="18" charset="0"/>
              </a:rPr>
              <a:t>Hydro turbo machines </a:t>
            </a:r>
            <a:r>
              <a:rPr kumimoji="0" lang="en-US" sz="2400" dirty="0" smtClean="0">
                <a:latin typeface="+mj-lt"/>
                <a:cs typeface="Times New Roman" pitchFamily="18" charset="0"/>
              </a:rPr>
              <a:t>–Pumps, water turbine</a:t>
            </a:r>
            <a:endParaRPr kumimoji="0" lang="en-US" sz="2400" dirty="0">
              <a:latin typeface="+mj-lt"/>
              <a:cs typeface="Times New Roman" pitchFamily="18" charset="0"/>
            </a:endParaRPr>
          </a:p>
          <a:p>
            <a:pPr marL="514350" indent="-514350" eaLnBrk="0" hangingPunct="0">
              <a:spcBef>
                <a:spcPts val="600"/>
              </a:spcBef>
              <a:buClr>
                <a:schemeClr val="accent1"/>
              </a:buClr>
              <a:buSzPct val="80000"/>
              <a:buFont typeface="Wingdings 2" pitchFamily="18" charset="2"/>
              <a:buAutoNum type="alphaLcParenR"/>
              <a:defRPr/>
            </a:pPr>
            <a:r>
              <a:rPr kumimoji="0" lang="en-US" sz="2400" dirty="0">
                <a:latin typeface="+mj-lt"/>
                <a:cs typeface="Times New Roman" pitchFamily="18" charset="0"/>
              </a:rPr>
              <a:t>Thermal turbo </a:t>
            </a:r>
            <a:r>
              <a:rPr kumimoji="0" lang="en-US" sz="2400" dirty="0" smtClean="0">
                <a:latin typeface="+mj-lt"/>
                <a:cs typeface="Times New Roman" pitchFamily="18" charset="0"/>
              </a:rPr>
              <a:t>machines- Compressors, fan, blower</a:t>
            </a:r>
            <a:endParaRPr kumimoji="0" lang="en-US" sz="2400" dirty="0">
              <a:latin typeface="+mj-lt"/>
              <a:cs typeface="Times New Roman" pitchFamily="18" charset="0"/>
            </a:endParaRPr>
          </a:p>
          <a:p>
            <a:pPr marL="514350" indent="-514350" eaLnBrk="0" hangingPunct="0">
              <a:spcBef>
                <a:spcPts val="600"/>
              </a:spcBef>
              <a:buClr>
                <a:schemeClr val="accent1"/>
              </a:buClr>
              <a:buSzPct val="80000"/>
              <a:buFont typeface="Wingdings 2" pitchFamily="18" charset="2"/>
              <a:buNone/>
              <a:defRPr/>
            </a:pPr>
            <a:r>
              <a:rPr kumimoji="0" lang="en-US" sz="2400" dirty="0">
                <a:latin typeface="+mj-lt"/>
                <a:cs typeface="Times New Roman" pitchFamily="18" charset="0"/>
              </a:rPr>
              <a:t> </a:t>
            </a:r>
            <a:endParaRPr kumimoji="0" lang="en-US" sz="3200" dirty="0">
              <a:latin typeface="+mn-lt"/>
            </a:endParaRPr>
          </a:p>
        </p:txBody>
      </p:sp>
    </p:spTree>
    <p:extLst>
      <p:ext uri="{BB962C8B-B14F-4D97-AF65-F5344CB8AC3E}">
        <p14:creationId xmlns:p14="http://schemas.microsoft.com/office/powerpoint/2010/main" val="23899951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Rectangle 1"/>
          <p:cNvSpPr/>
          <p:nvPr/>
        </p:nvSpPr>
        <p:spPr>
          <a:xfrm>
            <a:off x="1847088" y="398857"/>
            <a:ext cx="10003536" cy="5432256"/>
          </a:xfrm>
          <a:prstGeom prst="rect">
            <a:avLst/>
          </a:prstGeom>
        </p:spPr>
        <p:txBody>
          <a:bodyPr wrap="square">
            <a:spAutoFit/>
          </a:bodyPr>
          <a:lstStyle/>
          <a:p>
            <a:pPr marL="365125" indent="-282575" eaLnBrk="0" hangingPunct="0">
              <a:spcBef>
                <a:spcPts val="600"/>
              </a:spcBef>
              <a:buClr>
                <a:schemeClr val="accent1"/>
              </a:buClr>
              <a:buSzPct val="80000"/>
              <a:defRPr/>
            </a:pPr>
            <a:r>
              <a:rPr lang="en-US" sz="2400" b="1" dirty="0">
                <a:latin typeface="Times New Roman" pitchFamily="18" charset="0"/>
                <a:cs typeface="Times New Roman" pitchFamily="18" charset="0"/>
              </a:rPr>
              <a:t>3</a:t>
            </a:r>
            <a:r>
              <a:rPr lang="en-US" sz="2400" b="1" dirty="0">
                <a:cs typeface="Times New Roman" pitchFamily="18" charset="0"/>
              </a:rPr>
              <a:t>. </a:t>
            </a:r>
            <a:r>
              <a:rPr lang="en-US" sz="2400" b="1" dirty="0" smtClean="0">
                <a:cs typeface="Times New Roman" pitchFamily="18" charset="0"/>
              </a:rPr>
              <a:t>Based on  direction </a:t>
            </a:r>
            <a:r>
              <a:rPr lang="en-US" sz="2400" b="1" dirty="0">
                <a:latin typeface="+mj-lt"/>
                <a:cs typeface="Times New Roman" pitchFamily="18" charset="0"/>
              </a:rPr>
              <a:t>of fluid flow in the machines</a:t>
            </a:r>
          </a:p>
          <a:p>
            <a:pPr marL="514350" indent="-514350" eaLnBrk="0" hangingPunct="0">
              <a:spcBef>
                <a:spcPts val="600"/>
              </a:spcBef>
              <a:buClr>
                <a:schemeClr val="accent1"/>
              </a:buClr>
              <a:buSzPct val="80000"/>
              <a:buFont typeface="Wingdings 2" pitchFamily="18" charset="2"/>
              <a:buAutoNum type="alphaLcParenR"/>
              <a:defRPr/>
            </a:pPr>
            <a:r>
              <a:rPr lang="en-US" sz="2400" dirty="0">
                <a:latin typeface="+mj-lt"/>
                <a:cs typeface="Times New Roman" pitchFamily="18" charset="0"/>
              </a:rPr>
              <a:t>Axial flow – Axial </a:t>
            </a:r>
            <a:r>
              <a:rPr lang="en-US" sz="2400" dirty="0" smtClean="0">
                <a:latin typeface="+mj-lt"/>
                <a:cs typeface="Times New Roman" pitchFamily="18" charset="0"/>
              </a:rPr>
              <a:t>pump/compressor </a:t>
            </a:r>
            <a:r>
              <a:rPr lang="en-US" sz="2400" dirty="0">
                <a:latin typeface="+mj-lt"/>
                <a:cs typeface="Times New Roman" pitchFamily="18" charset="0"/>
              </a:rPr>
              <a:t>or </a:t>
            </a:r>
            <a:r>
              <a:rPr lang="en-US" sz="2400" dirty="0" smtClean="0">
                <a:latin typeface="+mj-lt"/>
                <a:cs typeface="Times New Roman" pitchFamily="18" charset="0"/>
              </a:rPr>
              <a:t>Kaplan turbine</a:t>
            </a:r>
            <a:endParaRPr lang="en-US" sz="2400" dirty="0">
              <a:latin typeface="+mj-lt"/>
              <a:cs typeface="Times New Roman" pitchFamily="18" charset="0"/>
            </a:endParaRPr>
          </a:p>
          <a:p>
            <a:pPr marL="514350" indent="-514350" eaLnBrk="0" hangingPunct="0">
              <a:spcBef>
                <a:spcPts val="600"/>
              </a:spcBef>
              <a:buClr>
                <a:schemeClr val="accent1"/>
              </a:buClr>
              <a:buSzPct val="80000"/>
              <a:buFont typeface="Wingdings 2" pitchFamily="18" charset="2"/>
              <a:buAutoNum type="alphaLcParenR"/>
              <a:defRPr/>
            </a:pPr>
            <a:r>
              <a:rPr lang="en-US" sz="2400" dirty="0">
                <a:latin typeface="+mj-lt"/>
                <a:cs typeface="Times New Roman" pitchFamily="18" charset="0"/>
              </a:rPr>
              <a:t>Mixed flow – Mixed flow pump, Francis turbine</a:t>
            </a:r>
          </a:p>
          <a:p>
            <a:pPr marL="514350" indent="-514350" eaLnBrk="0" hangingPunct="0">
              <a:spcBef>
                <a:spcPts val="600"/>
              </a:spcBef>
              <a:buClr>
                <a:schemeClr val="accent1"/>
              </a:buClr>
              <a:buSzPct val="80000"/>
              <a:buFont typeface="Wingdings 2" pitchFamily="18" charset="2"/>
              <a:buAutoNum type="alphaLcParenR"/>
              <a:defRPr/>
            </a:pPr>
            <a:r>
              <a:rPr lang="en-US" sz="2400" dirty="0">
                <a:latin typeface="+mj-lt"/>
                <a:cs typeface="Times New Roman" pitchFamily="18" charset="0"/>
              </a:rPr>
              <a:t>Radial flow – Centrifugal pump or compressor</a:t>
            </a:r>
          </a:p>
          <a:p>
            <a:pPr marL="514350" indent="-514350" eaLnBrk="0" hangingPunct="0">
              <a:spcBef>
                <a:spcPts val="600"/>
              </a:spcBef>
              <a:buClr>
                <a:schemeClr val="accent1"/>
              </a:buClr>
              <a:buSzPct val="80000"/>
              <a:buFont typeface="Wingdings 2" pitchFamily="18" charset="2"/>
              <a:buAutoNum type="alphaLcParenR"/>
              <a:defRPr/>
            </a:pPr>
            <a:r>
              <a:rPr lang="en-US" sz="2400" dirty="0">
                <a:latin typeface="+mj-lt"/>
                <a:cs typeface="Times New Roman" pitchFamily="18" charset="0"/>
              </a:rPr>
              <a:t>Tangential flow – Pelton </a:t>
            </a:r>
            <a:r>
              <a:rPr lang="en-US" sz="2400" dirty="0" smtClean="0">
                <a:latin typeface="+mj-lt"/>
                <a:cs typeface="Times New Roman" pitchFamily="18" charset="0"/>
              </a:rPr>
              <a:t>wheel </a:t>
            </a:r>
            <a:r>
              <a:rPr lang="en-US" sz="2400" dirty="0">
                <a:latin typeface="+mj-lt"/>
                <a:cs typeface="Times New Roman" pitchFamily="18" charset="0"/>
              </a:rPr>
              <a:t>turbine.</a:t>
            </a:r>
          </a:p>
          <a:p>
            <a:pPr marL="514350" indent="-514350" eaLnBrk="0" hangingPunct="0">
              <a:spcBef>
                <a:spcPts val="600"/>
              </a:spcBef>
              <a:buClr>
                <a:schemeClr val="accent1"/>
              </a:buClr>
              <a:buSzPct val="80000"/>
              <a:defRPr/>
            </a:pPr>
            <a:r>
              <a:rPr lang="en-US" sz="2400" b="1" dirty="0">
                <a:latin typeface="+mj-lt"/>
                <a:cs typeface="Times New Roman" pitchFamily="18" charset="0"/>
              </a:rPr>
              <a:t>4. Based on </a:t>
            </a:r>
            <a:r>
              <a:rPr lang="en-US" sz="2400" b="1" dirty="0" smtClean="0">
                <a:latin typeface="+mj-lt"/>
                <a:cs typeface="Times New Roman" pitchFamily="18" charset="0"/>
              </a:rPr>
              <a:t>dynamic action </a:t>
            </a:r>
            <a:r>
              <a:rPr lang="en-US" sz="2400" b="1" dirty="0">
                <a:latin typeface="+mj-lt"/>
                <a:cs typeface="Times New Roman" pitchFamily="18" charset="0"/>
              </a:rPr>
              <a:t>of fluid in turbo machine</a:t>
            </a:r>
          </a:p>
          <a:p>
            <a:pPr marL="514350" indent="-514350" eaLnBrk="0" hangingPunct="0">
              <a:spcBef>
                <a:spcPts val="600"/>
              </a:spcBef>
              <a:buClr>
                <a:schemeClr val="accent1"/>
              </a:buClr>
              <a:buSzPct val="80000"/>
              <a:buFont typeface="+mj-lt"/>
              <a:buAutoNum type="alphaLcParenR"/>
              <a:defRPr/>
            </a:pPr>
            <a:r>
              <a:rPr lang="en-US" sz="2400" dirty="0">
                <a:latin typeface="+mj-lt"/>
                <a:cs typeface="Times New Roman" pitchFamily="18" charset="0"/>
              </a:rPr>
              <a:t>Impulse type (constant pressure)   </a:t>
            </a:r>
            <a:r>
              <a:rPr lang="en-US" sz="2400" dirty="0" smtClean="0">
                <a:latin typeface="+mj-lt"/>
                <a:cs typeface="Times New Roman" pitchFamily="18" charset="0"/>
              </a:rPr>
              <a:t> </a:t>
            </a:r>
            <a:r>
              <a:rPr lang="en-US" sz="2400" dirty="0">
                <a:latin typeface="+mj-lt"/>
                <a:cs typeface="Times New Roman" pitchFamily="18" charset="0"/>
              </a:rPr>
              <a:t>E.g. Pelton turbine</a:t>
            </a:r>
          </a:p>
          <a:p>
            <a:pPr marL="514350" indent="-514350" eaLnBrk="0" hangingPunct="0">
              <a:spcBef>
                <a:spcPts val="600"/>
              </a:spcBef>
              <a:buClr>
                <a:schemeClr val="accent1"/>
              </a:buClr>
              <a:buSzPct val="80000"/>
              <a:buFont typeface="+mj-lt"/>
              <a:buAutoNum type="alphaLcParenR"/>
              <a:defRPr/>
            </a:pPr>
            <a:r>
              <a:rPr lang="en-US" sz="2400" dirty="0">
                <a:latin typeface="+mj-lt"/>
                <a:cs typeface="Times New Roman" pitchFamily="18" charset="0"/>
              </a:rPr>
              <a:t>Reaction type (variable pressure)   </a:t>
            </a:r>
            <a:r>
              <a:rPr lang="en-US" sz="2400" dirty="0" smtClean="0">
                <a:latin typeface="+mj-lt"/>
                <a:cs typeface="Times New Roman" pitchFamily="18" charset="0"/>
              </a:rPr>
              <a:t> </a:t>
            </a:r>
            <a:r>
              <a:rPr lang="en-US" sz="2400" dirty="0">
                <a:latin typeface="+mj-lt"/>
                <a:cs typeface="Times New Roman" pitchFamily="18" charset="0"/>
              </a:rPr>
              <a:t>E.g. Francis reaction turbines</a:t>
            </a:r>
          </a:p>
          <a:p>
            <a:pPr marL="514350" indent="-514350" eaLnBrk="0" hangingPunct="0">
              <a:spcBef>
                <a:spcPts val="600"/>
              </a:spcBef>
              <a:buClr>
                <a:schemeClr val="accent1"/>
              </a:buClr>
              <a:buSzPct val="80000"/>
              <a:defRPr/>
            </a:pPr>
            <a:r>
              <a:rPr lang="en-US" sz="2400" b="1" dirty="0">
                <a:latin typeface="+mj-lt"/>
                <a:cs typeface="Times New Roman" pitchFamily="18" charset="0"/>
              </a:rPr>
              <a:t>5. Based on position of rotating shaft </a:t>
            </a:r>
          </a:p>
          <a:p>
            <a:pPr marL="514350" indent="-514350" eaLnBrk="0" hangingPunct="0">
              <a:spcBef>
                <a:spcPts val="600"/>
              </a:spcBef>
              <a:buClr>
                <a:schemeClr val="accent1"/>
              </a:buClr>
              <a:buSzPct val="80000"/>
              <a:buFont typeface="Wingdings 2" pitchFamily="18" charset="2"/>
              <a:buAutoNum type="alphaLcParenR"/>
              <a:defRPr/>
            </a:pPr>
            <a:r>
              <a:rPr lang="en-US" sz="2400" dirty="0">
                <a:latin typeface="+mj-lt"/>
                <a:cs typeface="Times New Roman" pitchFamily="18" charset="0"/>
              </a:rPr>
              <a:t>Horizontal shaft – Steam turbines</a:t>
            </a:r>
          </a:p>
          <a:p>
            <a:pPr marL="514350" indent="-514350" eaLnBrk="0" hangingPunct="0">
              <a:spcBef>
                <a:spcPts val="600"/>
              </a:spcBef>
              <a:buClr>
                <a:schemeClr val="accent1"/>
              </a:buClr>
              <a:buSzPct val="80000"/>
              <a:buFont typeface="Wingdings 2" pitchFamily="18" charset="2"/>
              <a:buAutoNum type="alphaLcParenR"/>
              <a:defRPr/>
            </a:pPr>
            <a:r>
              <a:rPr lang="en-US" sz="2400" dirty="0">
                <a:latin typeface="+mj-lt"/>
                <a:cs typeface="Times New Roman" pitchFamily="18" charset="0"/>
              </a:rPr>
              <a:t>Vertical shaft – Kaplan water turbines</a:t>
            </a:r>
          </a:p>
          <a:p>
            <a:pPr marL="514350" indent="-514350" eaLnBrk="0" hangingPunct="0">
              <a:spcBef>
                <a:spcPts val="600"/>
              </a:spcBef>
              <a:buClr>
                <a:schemeClr val="accent1"/>
              </a:buClr>
              <a:buSzPct val="80000"/>
              <a:buFont typeface="Wingdings 2" pitchFamily="18" charset="2"/>
              <a:buAutoNum type="alphaLcParenR"/>
              <a:defRPr/>
            </a:pPr>
            <a:r>
              <a:rPr lang="en-US" sz="2400" dirty="0">
                <a:latin typeface="+mj-lt"/>
                <a:cs typeface="Times New Roman" pitchFamily="18" charset="0"/>
              </a:rPr>
              <a:t>Inclined shaft – Modern bulb micro</a:t>
            </a:r>
          </a:p>
        </p:txBody>
      </p:sp>
    </p:spTree>
    <p:extLst>
      <p:ext uri="{BB962C8B-B14F-4D97-AF65-F5344CB8AC3E}">
        <p14:creationId xmlns:p14="http://schemas.microsoft.com/office/powerpoint/2010/main" val="12225903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0" y="1591056"/>
                <a:ext cx="9838944" cy="3120470"/>
              </a:xfrm>
              <a:prstGeom prst="rect">
                <a:avLst/>
              </a:prstGeom>
              <a:noFill/>
            </p:spPr>
            <p:txBody>
              <a:bodyPr wrap="square" rtlCol="0">
                <a:spAutoFit/>
              </a:bodyPr>
              <a:lstStyle/>
              <a:p>
                <a:r>
                  <a:rPr lang="en-US" sz="2400" b="1" dirty="0" smtClean="0"/>
                  <a:t>Density (</a:t>
                </a:r>
                <a14:m>
                  <m:oMath xmlns:m="http://schemas.openxmlformats.org/officeDocument/2006/math">
                    <m:r>
                      <a:rPr lang="en-US" sz="2400" i="1" dirty="0">
                        <a:latin typeface="Cambria Math" panose="02040503050406030204" pitchFamily="18" charset="0"/>
                        <a:ea typeface="Cambria Math" panose="02040503050406030204" pitchFamily="18" charset="0"/>
                      </a:rPr>
                      <m:t>𝜌</m:t>
                    </m:r>
                  </m:oMath>
                </a14:m>
                <a:r>
                  <a:rPr lang="en-US" sz="2400" b="1" dirty="0" smtClean="0"/>
                  <a:t>)</a:t>
                </a:r>
                <a:r>
                  <a:rPr lang="en-US" sz="2400" dirty="0" smtClean="0"/>
                  <a:t>,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𝑘𝑔</m:t>
                        </m:r>
                      </m:num>
                      <m:den>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𝑚</m:t>
                            </m:r>
                          </m:e>
                          <m:sup>
                            <m:r>
                              <a:rPr lang="en-US" sz="2400" b="0" i="1" smtClean="0">
                                <a:latin typeface="Cambria Math" panose="02040503050406030204" pitchFamily="18" charset="0"/>
                              </a:rPr>
                              <m:t>3</m:t>
                            </m:r>
                          </m:sup>
                        </m:sSup>
                      </m:den>
                    </m:f>
                  </m:oMath>
                </a14:m>
                <a:endParaRPr lang="en-US" sz="2400" dirty="0" smtClean="0"/>
              </a:p>
              <a:p>
                <a:r>
                  <a:rPr lang="en-US" sz="2400" dirty="0" smtClean="0">
                    <a:hlinkClick r:id="rId2"/>
                  </a:rPr>
                  <a:t>mass</a:t>
                </a:r>
                <a:r>
                  <a:rPr lang="en-US" sz="2400" dirty="0" smtClean="0"/>
                  <a:t> </a:t>
                </a:r>
                <a:r>
                  <a:rPr lang="en-US" sz="2400" dirty="0"/>
                  <a:t>of a unit </a:t>
                </a:r>
                <a:r>
                  <a:rPr lang="en-US" sz="2400" dirty="0">
                    <a:hlinkClick r:id="rId3"/>
                  </a:rPr>
                  <a:t>volume</a:t>
                </a:r>
                <a:r>
                  <a:rPr lang="en-US" sz="2400" dirty="0"/>
                  <a:t> of a material substance. </a:t>
                </a:r>
                <a:endParaRPr lang="en-US" sz="2400" dirty="0" smtClean="0"/>
              </a:p>
              <a:p>
                <a:r>
                  <a:rPr lang="en-US" sz="2400" dirty="0" smtClean="0"/>
                  <a:t>The </a:t>
                </a:r>
                <a:r>
                  <a:rPr lang="en-US" sz="2400" dirty="0"/>
                  <a:t>formula for density is </a:t>
                </a:r>
                <a14:m>
                  <m:oMath xmlns:m="http://schemas.openxmlformats.org/officeDocument/2006/math">
                    <m:r>
                      <a:rPr lang="en-US" sz="2400" i="1" dirty="0" smtClean="0">
                        <a:latin typeface="Cambria Math" panose="02040503050406030204" pitchFamily="18" charset="0"/>
                        <a:ea typeface="Cambria Math" panose="02040503050406030204" pitchFamily="18" charset="0"/>
                      </a:rPr>
                      <m:t>𝜌</m:t>
                    </m:r>
                  </m:oMath>
                </a14:m>
                <a:r>
                  <a:rPr lang="en-US" sz="2400" dirty="0" smtClean="0"/>
                  <a:t>=</a:t>
                </a:r>
                <a14:m>
                  <m:oMath xmlns:m="http://schemas.openxmlformats.org/officeDocument/2006/math">
                    <m:f>
                      <m:fPr>
                        <m:ctrlPr>
                          <a:rPr lang="en-US" sz="2400" i="1" dirty="0" smtClean="0">
                            <a:latin typeface="Cambria Math" panose="02040503050406030204" pitchFamily="18" charset="0"/>
                          </a:rPr>
                        </m:ctrlPr>
                      </m:fPr>
                      <m:num>
                        <m:r>
                          <a:rPr lang="en-US" sz="2400" b="0" i="1" dirty="0" smtClean="0">
                            <a:latin typeface="Cambria Math" panose="02040503050406030204" pitchFamily="18" charset="0"/>
                          </a:rPr>
                          <m:t>𝑚</m:t>
                        </m:r>
                      </m:num>
                      <m:den>
                        <m:r>
                          <a:rPr lang="en-US" sz="2400" b="0" i="1" dirty="0" smtClean="0">
                            <a:latin typeface="Cambria Math" panose="02040503050406030204" pitchFamily="18" charset="0"/>
                          </a:rPr>
                          <m:t>𝑉</m:t>
                        </m:r>
                      </m:den>
                    </m:f>
                  </m:oMath>
                </a14:m>
                <a:r>
                  <a:rPr lang="en-US" sz="2400" dirty="0" smtClean="0"/>
                  <a:t>, </a:t>
                </a:r>
                <a:r>
                  <a:rPr lang="en-US" sz="2400" dirty="0"/>
                  <a:t>where </a:t>
                </a:r>
                <a14:m>
                  <m:oMath xmlns:m="http://schemas.openxmlformats.org/officeDocument/2006/math">
                    <m:r>
                      <a:rPr lang="en-US" sz="2400" i="1" dirty="0">
                        <a:latin typeface="Cambria Math" panose="02040503050406030204" pitchFamily="18" charset="0"/>
                        <a:ea typeface="Cambria Math" panose="02040503050406030204" pitchFamily="18" charset="0"/>
                      </a:rPr>
                      <m:t>𝜌</m:t>
                    </m:r>
                  </m:oMath>
                </a14:m>
                <a:r>
                  <a:rPr lang="en-US" sz="2400" dirty="0"/>
                  <a:t> is density, </a:t>
                </a:r>
                <a:r>
                  <a:rPr lang="en-US" sz="2400" i="1" dirty="0" smtClean="0"/>
                  <a:t>m</a:t>
                </a:r>
                <a:r>
                  <a:rPr lang="en-US" sz="2400" dirty="0" smtClean="0"/>
                  <a:t> </a:t>
                </a:r>
                <a:r>
                  <a:rPr lang="en-US" sz="2400" dirty="0"/>
                  <a:t>is mass, and </a:t>
                </a:r>
                <a:r>
                  <a:rPr lang="en-US" sz="2400" i="1" dirty="0"/>
                  <a:t>V</a:t>
                </a:r>
                <a:r>
                  <a:rPr lang="en-US" sz="2400" dirty="0"/>
                  <a:t> is volume</a:t>
                </a:r>
                <a:r>
                  <a:rPr lang="en-US" sz="2400" dirty="0" smtClean="0"/>
                  <a:t>.</a:t>
                </a:r>
              </a:p>
              <a:p>
                <a:endParaRPr lang="en-US" sz="2400" dirty="0"/>
              </a:p>
              <a:p>
                <a:r>
                  <a:rPr lang="en-US" sz="2400" dirty="0"/>
                  <a:t>The </a:t>
                </a:r>
                <a:r>
                  <a:rPr lang="en-US" sz="2400" b="1" dirty="0"/>
                  <a:t>specific </a:t>
                </a:r>
                <a:r>
                  <a:rPr lang="en-US" sz="2400" b="1" dirty="0" smtClean="0"/>
                  <a:t>weight (</a:t>
                </a:r>
                <a14:m>
                  <m:oMath xmlns:m="http://schemas.openxmlformats.org/officeDocument/2006/math">
                    <m:r>
                      <a:rPr lang="en-US" sz="2400" b="1" i="1" smtClean="0">
                        <a:latin typeface="Cambria Math" panose="02040503050406030204" pitchFamily="18" charset="0"/>
                        <a:ea typeface="Cambria Math" panose="02040503050406030204" pitchFamily="18" charset="0"/>
                      </a:rPr>
                      <m:t>𝜸</m:t>
                    </m:r>
                  </m:oMath>
                </a14:m>
                <a:r>
                  <a:rPr lang="en-US" sz="2400" b="1" dirty="0" smtClean="0"/>
                  <a:t>)</a:t>
                </a:r>
                <a:r>
                  <a:rPr lang="en-US" sz="2400" dirty="0" smtClean="0"/>
                  <a:t>, </a:t>
                </a:r>
                <a:r>
                  <a:rPr lang="en-US" sz="2400" dirty="0"/>
                  <a:t>also known as </a:t>
                </a:r>
                <a:r>
                  <a:rPr lang="en-US" sz="2400" dirty="0" smtClean="0"/>
                  <a:t>the </a:t>
                </a:r>
                <a:r>
                  <a:rPr lang="en-US" sz="2400" b="1" dirty="0" smtClean="0"/>
                  <a:t>weight density</a:t>
                </a:r>
                <a:r>
                  <a:rPr lang="en-US" sz="2400" dirty="0" smtClean="0"/>
                  <a:t>, </a:t>
                </a:r>
                <a:r>
                  <a:rPr lang="en-US" sz="2400" dirty="0"/>
                  <a:t>is the </a:t>
                </a:r>
                <a:r>
                  <a:rPr lang="en-US" sz="2400" b="1" dirty="0"/>
                  <a:t>weight</a:t>
                </a:r>
                <a:r>
                  <a:rPr lang="en-US" sz="2400" dirty="0"/>
                  <a:t> of </a:t>
                </a:r>
                <a:r>
                  <a:rPr lang="en-US" sz="2400" dirty="0" smtClean="0"/>
                  <a:t>fluid per volume </a:t>
                </a:r>
                <a:r>
                  <a:rPr lang="en-US" sz="2400" dirty="0"/>
                  <a:t>of </a:t>
                </a:r>
                <a:r>
                  <a:rPr lang="en-US" sz="2400" dirty="0" smtClean="0"/>
                  <a:t>fluid.</a:t>
                </a:r>
              </a:p>
              <a:p>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𝛾</m:t>
                        </m:r>
                      </m:e>
                      <m:sub>
                        <m:r>
                          <a:rPr lang="en-US" sz="2400" b="0" i="1" smtClean="0">
                            <a:latin typeface="Cambria Math" panose="02040503050406030204" pitchFamily="18" charset="0"/>
                          </a:rPr>
                          <m:t>𝑤𝑎𝑡𝑒𝑟</m:t>
                        </m:r>
                      </m:sub>
                    </m:sSub>
                    <m:r>
                      <a:rPr lang="en-US" sz="2400" b="0" i="1" smtClean="0">
                        <a:latin typeface="Cambria Math" panose="02040503050406030204" pitchFamily="18" charset="0"/>
                      </a:rPr>
                      <m:t>=9810</m:t>
                    </m:r>
                    <m:f>
                      <m:fPr>
                        <m:ctrlPr>
                          <a:rPr lang="en-US" sz="2400" i="1">
                            <a:latin typeface="Cambria Math" panose="02040503050406030204" pitchFamily="18" charset="0"/>
                          </a:rPr>
                        </m:ctrlPr>
                      </m:fPr>
                      <m:num>
                        <m:r>
                          <a:rPr lang="en-US" sz="2400" b="0" i="1" smtClean="0">
                            <a:latin typeface="Cambria Math" panose="02040503050406030204" pitchFamily="18" charset="0"/>
                          </a:rPr>
                          <m:t>𝑁</m:t>
                        </m:r>
                      </m:num>
                      <m:den>
                        <m:sSup>
                          <m:sSupPr>
                            <m:ctrlPr>
                              <a:rPr lang="en-US" sz="2400" i="1">
                                <a:latin typeface="Cambria Math" panose="02040503050406030204" pitchFamily="18" charset="0"/>
                              </a:rPr>
                            </m:ctrlPr>
                          </m:sSupPr>
                          <m:e>
                            <m:r>
                              <a:rPr lang="en-US" sz="2400" i="1">
                                <a:latin typeface="Cambria Math" panose="02040503050406030204" pitchFamily="18" charset="0"/>
                              </a:rPr>
                              <m:t>𝑚</m:t>
                            </m:r>
                          </m:e>
                          <m:sup>
                            <m:r>
                              <a:rPr lang="en-US" sz="2400" i="1">
                                <a:latin typeface="Cambria Math" panose="02040503050406030204" pitchFamily="18" charset="0"/>
                              </a:rPr>
                              <m:t>3</m:t>
                            </m:r>
                          </m:sup>
                        </m:sSup>
                      </m:den>
                    </m:f>
                  </m:oMath>
                </a14:m>
                <a:r>
                  <a:rPr lang="en-US" sz="2400" dirty="0" smtClean="0"/>
                  <a:t> ,</a:t>
                </a:r>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𝛾</m:t>
                        </m:r>
                      </m:e>
                      <m:sub>
                        <m:r>
                          <a:rPr lang="en-US" sz="2400" b="0" i="1" smtClean="0">
                            <a:latin typeface="Cambria Math" panose="02040503050406030204" pitchFamily="18" charset="0"/>
                          </a:rPr>
                          <m:t>𝑎𝑖𝑟</m:t>
                        </m:r>
                      </m:sub>
                    </m:sSub>
                    <m:r>
                      <a:rPr lang="en-US" sz="2400" i="1">
                        <a:latin typeface="Cambria Math" panose="02040503050406030204" pitchFamily="18" charset="0"/>
                      </a:rPr>
                      <m:t>=</m:t>
                    </m:r>
                    <m:r>
                      <a:rPr lang="en-US" sz="2400" b="0" i="1" smtClean="0">
                        <a:latin typeface="Cambria Math" panose="02040503050406030204" pitchFamily="18" charset="0"/>
                      </a:rPr>
                      <m:t>11.82</m:t>
                    </m:r>
                    <m:f>
                      <m:fPr>
                        <m:ctrlPr>
                          <a:rPr lang="en-US" sz="2400" i="1">
                            <a:latin typeface="Cambria Math" panose="02040503050406030204" pitchFamily="18" charset="0"/>
                          </a:rPr>
                        </m:ctrlPr>
                      </m:fPr>
                      <m:num>
                        <m:r>
                          <a:rPr lang="en-US" sz="2400" i="1">
                            <a:latin typeface="Cambria Math" panose="02040503050406030204" pitchFamily="18" charset="0"/>
                          </a:rPr>
                          <m:t>𝑁</m:t>
                        </m:r>
                      </m:num>
                      <m:den>
                        <m:sSup>
                          <m:sSupPr>
                            <m:ctrlPr>
                              <a:rPr lang="en-US" sz="2400" i="1">
                                <a:latin typeface="Cambria Math" panose="02040503050406030204" pitchFamily="18" charset="0"/>
                              </a:rPr>
                            </m:ctrlPr>
                          </m:sSupPr>
                          <m:e>
                            <m:r>
                              <a:rPr lang="en-US" sz="2400" i="1">
                                <a:latin typeface="Cambria Math" panose="02040503050406030204" pitchFamily="18" charset="0"/>
                              </a:rPr>
                              <m:t>𝑚</m:t>
                            </m:r>
                          </m:e>
                          <m:sup>
                            <m:r>
                              <a:rPr lang="en-US" sz="2400" i="1">
                                <a:latin typeface="Cambria Math" panose="02040503050406030204" pitchFamily="18" charset="0"/>
                              </a:rPr>
                              <m:t>3</m:t>
                            </m:r>
                          </m:sup>
                        </m:sSup>
                      </m:den>
                    </m:f>
                  </m:oMath>
                </a14:m>
                <a:endParaRPr 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0" y="1591056"/>
                <a:ext cx="9838944" cy="3120470"/>
              </a:xfrm>
              <a:prstGeom prst="rect">
                <a:avLst/>
              </a:prstGeom>
              <a:blipFill rotWithShape="0">
                <a:blip r:embed="rId4"/>
                <a:stretch>
                  <a:fillRect l="-929" r="-929" b="-977"/>
                </a:stretch>
              </a:blipFill>
            </p:spPr>
            <p:txBody>
              <a:bodyPr/>
              <a:lstStyle/>
              <a:p>
                <a:r>
                  <a:rPr lang="en-US">
                    <a:noFill/>
                  </a:rPr>
                  <a:t> </a:t>
                </a:r>
              </a:p>
            </p:txBody>
          </p:sp>
        </mc:Fallback>
      </mc:AlternateContent>
      <p:sp>
        <p:nvSpPr>
          <p:cNvPr id="3" name="TextBox 2"/>
          <p:cNvSpPr txBox="1"/>
          <p:nvPr/>
        </p:nvSpPr>
        <p:spPr>
          <a:xfrm>
            <a:off x="2295144" y="457200"/>
            <a:ext cx="5248656" cy="523220"/>
          </a:xfrm>
          <a:prstGeom prst="rect">
            <a:avLst/>
          </a:prstGeom>
          <a:noFill/>
        </p:spPr>
        <p:txBody>
          <a:bodyPr wrap="square" rtlCol="0">
            <a:spAutoFit/>
          </a:bodyPr>
          <a:lstStyle/>
          <a:p>
            <a:r>
              <a:rPr lang="en-US" sz="2800" b="1" u="sng" dirty="0">
                <a:solidFill>
                  <a:srgbClr val="FF0000"/>
                </a:solidFill>
              </a:rPr>
              <a:t>Fundamental Equations</a:t>
            </a:r>
          </a:p>
        </p:txBody>
      </p:sp>
    </p:spTree>
    <p:extLst>
      <p:ext uri="{BB962C8B-B14F-4D97-AF65-F5344CB8AC3E}">
        <p14:creationId xmlns:p14="http://schemas.microsoft.com/office/powerpoint/2010/main" val="14047692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0" y="1591056"/>
                <a:ext cx="11960352" cy="5224251"/>
              </a:xfrm>
              <a:prstGeom prst="rect">
                <a:avLst/>
              </a:prstGeom>
              <a:noFill/>
            </p:spPr>
            <p:txBody>
              <a:bodyPr wrap="square" rtlCol="0">
                <a:spAutoFit/>
              </a:bodyPr>
              <a:lstStyle/>
              <a:p>
                <a:r>
                  <a:rPr lang="en-US" sz="2400" b="1" dirty="0" smtClean="0"/>
                  <a:t>flow </a:t>
                </a:r>
                <a:r>
                  <a:rPr lang="en-US" sz="2400" b="1" dirty="0"/>
                  <a:t>rate</a:t>
                </a:r>
                <a:r>
                  <a:rPr lang="en-US" sz="2400" dirty="0"/>
                  <a:t> (also known as </a:t>
                </a:r>
                <a:r>
                  <a:rPr lang="en-US" sz="2400" b="1" dirty="0"/>
                  <a:t>volume flow rate</a:t>
                </a:r>
                <a:r>
                  <a:rPr lang="en-US" sz="2400" dirty="0"/>
                  <a:t>, </a:t>
                </a:r>
                <a:r>
                  <a:rPr lang="en-US" sz="2400" b="1" dirty="0"/>
                  <a:t>rate</a:t>
                </a:r>
                <a:r>
                  <a:rPr lang="en-US" sz="2400" dirty="0"/>
                  <a:t> of fluid </a:t>
                </a:r>
                <a:r>
                  <a:rPr lang="en-US" sz="2400" b="1" dirty="0"/>
                  <a:t>flow</a:t>
                </a:r>
                <a:r>
                  <a:rPr lang="en-US" sz="2400" dirty="0"/>
                  <a:t>, Discharge (hydrology) or </a:t>
                </a:r>
                <a:r>
                  <a:rPr lang="en-US" sz="2400" b="1" dirty="0"/>
                  <a:t>volume velocity</a:t>
                </a:r>
                <a:r>
                  <a:rPr lang="en-US" sz="2400" dirty="0" smtClean="0"/>
                  <a:t>)- </a:t>
                </a:r>
                <a:r>
                  <a:rPr lang="en-US" sz="2400" dirty="0"/>
                  <a:t>is the </a:t>
                </a:r>
                <a:r>
                  <a:rPr lang="en-US" sz="2400" b="1" dirty="0"/>
                  <a:t>volume</a:t>
                </a:r>
                <a:r>
                  <a:rPr lang="en-US" sz="2400" dirty="0"/>
                  <a:t> of fluid which passes per unit time; </a:t>
                </a:r>
                <a:endParaRPr lang="en-US" sz="2400" dirty="0" smtClean="0"/>
              </a:p>
              <a:p>
                <a:r>
                  <a:rPr lang="en-US" sz="2400" dirty="0" smtClean="0"/>
                  <a:t>usually </a:t>
                </a:r>
                <a:r>
                  <a:rPr lang="en-US" sz="2400" dirty="0"/>
                  <a:t>represented by the symbol </a:t>
                </a:r>
                <a:r>
                  <a:rPr lang="en-US" sz="2400" dirty="0" smtClean="0"/>
                  <a:t>Q , (</a:t>
                </a:r>
                <a14:m>
                  <m:oMath xmlns:m="http://schemas.openxmlformats.org/officeDocument/2006/math">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 </m:t>
                            </m:r>
                            <m:r>
                              <a:rPr lang="en-US" sz="2400" i="1">
                                <a:latin typeface="Cambria Math" panose="02040503050406030204" pitchFamily="18" charset="0"/>
                              </a:rPr>
                              <m:t>𝑚</m:t>
                            </m:r>
                          </m:e>
                          <m:sup>
                            <m:r>
                              <a:rPr lang="en-US" sz="2400" i="1">
                                <a:latin typeface="Cambria Math" panose="02040503050406030204" pitchFamily="18" charset="0"/>
                              </a:rPr>
                              <m:t>3</m:t>
                            </m:r>
                          </m:sup>
                        </m:sSup>
                      </m:num>
                      <m:den>
                        <m:r>
                          <a:rPr lang="en-US" sz="2400" i="1">
                            <a:latin typeface="Cambria Math" panose="02040503050406030204" pitchFamily="18" charset="0"/>
                          </a:rPr>
                          <m:t>𝑠</m:t>
                        </m:r>
                      </m:den>
                    </m:f>
                  </m:oMath>
                </a14:m>
                <a:r>
                  <a:rPr lang="en-US" sz="2400" dirty="0" smtClean="0"/>
                  <a:t>)</a:t>
                </a:r>
              </a:p>
              <a:p>
                <a14:m>
                  <m:oMath xmlns:m="http://schemas.openxmlformats.org/officeDocument/2006/math">
                    <m:r>
                      <a:rPr lang="en-US" sz="2400" b="0" i="1" dirty="0" smtClean="0">
                        <a:latin typeface="Cambria Math" panose="02040503050406030204" pitchFamily="18" charset="0"/>
                        <a:ea typeface="Cambria Math" panose="02040503050406030204" pitchFamily="18" charset="0"/>
                      </a:rPr>
                      <m:t>𝑄</m:t>
                    </m:r>
                  </m:oMath>
                </a14:m>
                <a:r>
                  <a:rPr lang="en-US" sz="2400" dirty="0" smtClean="0"/>
                  <a:t>= </a:t>
                </a:r>
                <a14:m>
                  <m:oMath xmlns:m="http://schemas.openxmlformats.org/officeDocument/2006/math">
                    <m:f>
                      <m:fPr>
                        <m:ctrlPr>
                          <a:rPr lang="en-US" sz="2400" i="1" dirty="0">
                            <a:latin typeface="Cambria Math" panose="02040503050406030204" pitchFamily="18" charset="0"/>
                          </a:rPr>
                        </m:ctrlPr>
                      </m:fPr>
                      <m:num>
                        <m:r>
                          <a:rPr lang="en-US" sz="2400" b="0" i="1" dirty="0" smtClean="0">
                            <a:latin typeface="Cambria Math" panose="02040503050406030204" pitchFamily="18" charset="0"/>
                          </a:rPr>
                          <m:t>𝑉</m:t>
                        </m:r>
                      </m:num>
                      <m:den>
                        <m:r>
                          <a:rPr lang="en-US" sz="2400" b="0" i="1" dirty="0" smtClean="0">
                            <a:latin typeface="Cambria Math" panose="02040503050406030204" pitchFamily="18" charset="0"/>
                          </a:rPr>
                          <m:t>𝑡</m:t>
                        </m:r>
                      </m:den>
                    </m:f>
                  </m:oMath>
                </a14:m>
                <a:r>
                  <a:rPr lang="en-US" sz="2400" dirty="0" smtClean="0"/>
                  <a:t> =</a:t>
                </a:r>
                <a14:m>
                  <m:oMath xmlns:m="http://schemas.openxmlformats.org/officeDocument/2006/math">
                    <m:r>
                      <a:rPr lang="en-US" sz="2400" b="0" i="0" dirty="0" smtClean="0">
                        <a:latin typeface="Cambria Math" panose="02040503050406030204" pitchFamily="18" charset="0"/>
                      </a:rPr>
                      <m:t> </m:t>
                    </m:r>
                    <m:r>
                      <a:rPr lang="en-US" sz="2400" b="0" i="1" dirty="0" smtClean="0">
                        <a:latin typeface="Cambria Math" panose="02040503050406030204" pitchFamily="18" charset="0"/>
                      </a:rPr>
                      <m:t>𝐴</m:t>
                    </m:r>
                    <m:r>
                      <a:rPr lang="en-US" sz="2400" b="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𝑉</m:t>
                    </m:r>
                  </m:oMath>
                </a14:m>
                <a:r>
                  <a:rPr lang="en-US" sz="2400" dirty="0" smtClean="0"/>
                  <a:t>=Area</a:t>
                </a:r>
                <a:r>
                  <a:rPr lang="en-US" sz="2400" dirty="0">
                    <a:ea typeface="Cambria Math" panose="02040503050406030204" pitchFamily="18" charset="0"/>
                  </a:rPr>
                  <a:t> </a:t>
                </a:r>
                <a14:m>
                  <m:oMath xmlns:m="http://schemas.openxmlformats.org/officeDocument/2006/math">
                    <m:r>
                      <a:rPr lang="en-US" sz="2400" i="1" dirty="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ea typeface="Cambria Math" panose="02040503050406030204" pitchFamily="18" charset="0"/>
                      </a:rPr>
                      <m:t>𝑉</m:t>
                    </m:r>
                  </m:oMath>
                </a14:m>
                <a:r>
                  <a:rPr lang="en-US" sz="2400" dirty="0" smtClean="0"/>
                  <a:t>elocity ,</a:t>
                </a:r>
                <a:r>
                  <a:rPr lang="en-US" sz="2400" dirty="0"/>
                  <a:t> (</a:t>
                </a:r>
                <a14:m>
                  <m:oMath xmlns:m="http://schemas.openxmlformats.org/officeDocument/2006/math">
                    <m:f>
                      <m:fPr>
                        <m:ctrlPr>
                          <a:rPr lang="en-US" sz="2400" i="1">
                            <a:latin typeface="Cambria Math" panose="02040503050406030204" pitchFamily="18" charset="0"/>
                          </a:rPr>
                        </m:ctrlPr>
                      </m:fPr>
                      <m:num>
                        <m:r>
                          <a:rPr lang="en-US" sz="2400" b="0" i="1" smtClean="0">
                            <a:latin typeface="Cambria Math" panose="02040503050406030204" pitchFamily="18" charset="0"/>
                          </a:rPr>
                          <m:t>𝑙𝑖𝑡</m:t>
                        </m:r>
                      </m:num>
                      <m:den>
                        <m:r>
                          <a:rPr lang="en-US" sz="2400" i="1">
                            <a:latin typeface="Cambria Math" panose="02040503050406030204" pitchFamily="18" charset="0"/>
                          </a:rPr>
                          <m:t>𝑠</m:t>
                        </m:r>
                      </m:den>
                    </m:f>
                  </m:oMath>
                </a14:m>
                <a:r>
                  <a:rPr lang="en-US" sz="2400" dirty="0" smtClean="0"/>
                  <a:t>)</a:t>
                </a:r>
              </a:p>
              <a:p>
                <a:endParaRPr lang="en-US" sz="2400" dirty="0"/>
              </a:p>
              <a:p>
                <a:r>
                  <a:rPr lang="en-US" sz="2400" b="1" dirty="0" smtClean="0"/>
                  <a:t>Mass </a:t>
                </a:r>
                <a:r>
                  <a:rPr lang="en-US" sz="2400" b="1" dirty="0"/>
                  <a:t>flow rate </a:t>
                </a:r>
                <a:r>
                  <a:rPr lang="en-US" sz="2400" dirty="0"/>
                  <a:t>can be calculated by multiplying the volume flow rate by the mass density of the fluid, ρ. The volume flow rate is calculated by multiplying the flow velocity of the mass elements, v, by the cross-sectional vector area, </a:t>
                </a:r>
                <a:r>
                  <a:rPr lang="en-US" sz="2400" dirty="0" smtClean="0"/>
                  <a:t>A</a:t>
                </a:r>
              </a:p>
              <a:p>
                <a14:m>
                  <m:oMath xmlns:m="http://schemas.openxmlformats.org/officeDocument/2006/math">
                    <m:acc>
                      <m:accPr>
                        <m:chr m:val="̇"/>
                        <m:ctrlPr>
                          <a:rPr lang="en-US" sz="240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𝑚</m:t>
                        </m:r>
                      </m:e>
                    </m:acc>
                  </m:oMath>
                </a14:m>
                <a:r>
                  <a:rPr lang="en-US" sz="2400" dirty="0" smtClean="0">
                    <a:ea typeface="Cambria Math" panose="02040503050406030204" pitchFamily="18" charset="0"/>
                  </a:rPr>
                  <a:t>=</a:t>
                </a:r>
                <a14:m>
                  <m:oMath xmlns:m="http://schemas.openxmlformats.org/officeDocument/2006/math">
                    <m:r>
                      <a:rPr lang="en-US" sz="2400" i="1" dirty="0">
                        <a:latin typeface="Cambria Math" panose="02040503050406030204" pitchFamily="18" charset="0"/>
                        <a:ea typeface="Cambria Math" panose="02040503050406030204" pitchFamily="18" charset="0"/>
                      </a:rPr>
                      <m:t>𝜌</m:t>
                    </m:r>
                    <m:r>
                      <a:rPr lang="en-US" sz="2400" i="1" dirty="0">
                        <a:latin typeface="Cambria Math" panose="02040503050406030204" pitchFamily="18" charset="0"/>
                        <a:ea typeface="Cambria Math" panose="02040503050406030204" pitchFamily="18" charset="0"/>
                      </a:rPr>
                      <m:t>× </m:t>
                    </m:r>
                    <m:r>
                      <a:rPr lang="en-US" sz="2400" i="1" dirty="0">
                        <a:latin typeface="Cambria Math" panose="02040503050406030204" pitchFamily="18" charset="0"/>
                      </a:rPr>
                      <m:t>𝐴</m:t>
                    </m:r>
                    <m:r>
                      <a:rPr lang="en-US" sz="2400" i="1" dirty="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ea typeface="Cambria Math" panose="02040503050406030204" pitchFamily="18" charset="0"/>
                      </a:rPr>
                      <m:t>𝑉</m:t>
                    </m:r>
                  </m:oMath>
                </a14:m>
                <a:r>
                  <a:rPr lang="en-US" sz="2400" dirty="0" smtClean="0"/>
                  <a:t>=</a:t>
                </a:r>
                <a:r>
                  <a:rPr lang="en-US" sz="2400" dirty="0">
                    <a:ea typeface="Cambria Math" panose="02040503050406030204" pitchFamily="18" charset="0"/>
                  </a:rPr>
                  <a:t> </a:t>
                </a:r>
                <a14:m>
                  <m:oMath xmlns:m="http://schemas.openxmlformats.org/officeDocument/2006/math">
                    <m:r>
                      <a:rPr lang="en-US" sz="2400" i="1" dirty="0">
                        <a:latin typeface="Cambria Math" panose="02040503050406030204" pitchFamily="18" charset="0"/>
                        <a:ea typeface="Cambria Math" panose="02040503050406030204" pitchFamily="18" charset="0"/>
                      </a:rPr>
                      <m:t>𝜌</m:t>
                    </m:r>
                    <m:r>
                      <a:rPr lang="en-US" sz="2400" i="1" dirty="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rPr>
                      <m:t>𝑄</m:t>
                    </m:r>
                  </m:oMath>
                </a14:m>
                <a:r>
                  <a:rPr lang="en-US" sz="2400" dirty="0" smtClean="0"/>
                  <a:t>               , </a:t>
                </a:r>
                <a:r>
                  <a:rPr lang="en-US" sz="2400" dirty="0"/>
                  <a:t>(</a:t>
                </a:r>
                <a14:m>
                  <m:oMath xmlns:m="http://schemas.openxmlformats.org/officeDocument/2006/math">
                    <m:f>
                      <m:fPr>
                        <m:ctrlPr>
                          <a:rPr lang="en-US" sz="2400" i="1">
                            <a:latin typeface="Cambria Math" panose="02040503050406030204" pitchFamily="18" charset="0"/>
                          </a:rPr>
                        </m:ctrlPr>
                      </m:fPr>
                      <m:num>
                        <m:r>
                          <a:rPr lang="en-US" sz="2400" b="0" i="1" smtClean="0">
                            <a:latin typeface="Cambria Math" panose="02040503050406030204" pitchFamily="18" charset="0"/>
                          </a:rPr>
                          <m:t>𝑘𝑔</m:t>
                        </m:r>
                      </m:num>
                      <m:den>
                        <m:r>
                          <a:rPr lang="en-US" sz="2400" i="1">
                            <a:latin typeface="Cambria Math" panose="02040503050406030204" pitchFamily="18" charset="0"/>
                          </a:rPr>
                          <m:t>𝑠</m:t>
                        </m:r>
                      </m:den>
                    </m:f>
                  </m:oMath>
                </a14:m>
                <a:r>
                  <a:rPr lang="en-US" sz="2400" dirty="0" smtClean="0"/>
                  <a:t>)</a:t>
                </a:r>
              </a:p>
              <a:p>
                <a:r>
                  <a:rPr lang="en-US" sz="2400" b="1" dirty="0" smtClean="0"/>
                  <a:t>Weight </a:t>
                </a:r>
                <a:r>
                  <a:rPr lang="en-US" sz="2400" b="1" dirty="0"/>
                  <a:t>flow rate</a:t>
                </a:r>
                <a14:m>
                  <m:oMath xmlns:m="http://schemas.openxmlformats.org/officeDocument/2006/math">
                    <m:acc>
                      <m:accPr>
                        <m:chr m:val="̇"/>
                        <m:ctrlPr>
                          <a:rPr lang="en-US" sz="2400" i="1">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𝑤</m:t>
                        </m:r>
                      </m:e>
                    </m:acc>
                  </m:oMath>
                </a14:m>
                <a:r>
                  <a:rPr lang="en-US" sz="2400" dirty="0" smtClean="0">
                    <a:ea typeface="Cambria Math" panose="02040503050406030204" pitchFamily="18" charset="0"/>
                  </a:rPr>
                  <a:t>=</a:t>
                </a:r>
                <a14:m>
                  <m:oMath xmlns:m="http://schemas.openxmlformats.org/officeDocument/2006/math">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𝑚</m:t>
                        </m:r>
                      </m:e>
                    </m:acc>
                  </m:oMath>
                </a14:m>
                <a:r>
                  <a:rPr lang="en-US" sz="2400" dirty="0">
                    <a:ea typeface="Cambria Math" panose="02040503050406030204" pitchFamily="18" charset="0"/>
                  </a:rPr>
                  <a:t> </a:t>
                </a:r>
                <a14:m>
                  <m:oMath xmlns:m="http://schemas.openxmlformats.org/officeDocument/2006/math">
                    <m:r>
                      <a:rPr lang="en-US" sz="2400" i="1" dirty="0">
                        <a:latin typeface="Cambria Math" panose="02040503050406030204" pitchFamily="18" charset="0"/>
                        <a:ea typeface="Cambria Math" panose="02040503050406030204" pitchFamily="18" charset="0"/>
                      </a:rPr>
                      <m:t>×</m:t>
                    </m:r>
                  </m:oMath>
                </a14:m>
                <a:r>
                  <a:rPr lang="en-US" sz="2400" dirty="0" smtClean="0"/>
                  <a:t>g        , </a:t>
                </a:r>
                <a:r>
                  <a:rPr lang="en-US" sz="2400" dirty="0"/>
                  <a:t>(</a:t>
                </a:r>
                <a14:m>
                  <m:oMath xmlns:m="http://schemas.openxmlformats.org/officeDocument/2006/math">
                    <m:f>
                      <m:fPr>
                        <m:ctrlPr>
                          <a:rPr lang="en-US" sz="2400" i="1">
                            <a:latin typeface="Cambria Math" panose="02040503050406030204" pitchFamily="18" charset="0"/>
                          </a:rPr>
                        </m:ctrlPr>
                      </m:fPr>
                      <m:num>
                        <m:r>
                          <a:rPr lang="en-US" sz="2400" b="0" i="1" smtClean="0">
                            <a:latin typeface="Cambria Math" panose="02040503050406030204" pitchFamily="18" charset="0"/>
                          </a:rPr>
                          <m:t>𝑁</m:t>
                        </m:r>
                      </m:num>
                      <m:den>
                        <m:r>
                          <a:rPr lang="en-US" sz="2400" i="1">
                            <a:latin typeface="Cambria Math" panose="02040503050406030204" pitchFamily="18" charset="0"/>
                          </a:rPr>
                          <m:t>𝑠</m:t>
                        </m:r>
                      </m:den>
                    </m:f>
                  </m:oMath>
                </a14:m>
                <a:r>
                  <a:rPr lang="en-US" sz="2400" dirty="0"/>
                  <a:t>)</a:t>
                </a:r>
              </a:p>
              <a:p>
                <a:endParaRPr lang="en-US" sz="2400" dirty="0"/>
              </a:p>
              <a:p>
                <a:endParaRPr 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0" y="1591056"/>
                <a:ext cx="11960352" cy="5224251"/>
              </a:xfrm>
              <a:prstGeom prst="rect">
                <a:avLst/>
              </a:prstGeom>
              <a:blipFill rotWithShape="0">
                <a:blip r:embed="rId2"/>
                <a:stretch>
                  <a:fillRect l="-765" t="-933" r="-204"/>
                </a:stretch>
              </a:blipFill>
            </p:spPr>
            <p:txBody>
              <a:bodyPr/>
              <a:lstStyle/>
              <a:p>
                <a:r>
                  <a:rPr lang="en-US">
                    <a:noFill/>
                  </a:rPr>
                  <a:t> </a:t>
                </a:r>
              </a:p>
            </p:txBody>
          </p:sp>
        </mc:Fallback>
      </mc:AlternateContent>
      <p:sp>
        <p:nvSpPr>
          <p:cNvPr id="3" name="TextBox 2"/>
          <p:cNvSpPr txBox="1"/>
          <p:nvPr/>
        </p:nvSpPr>
        <p:spPr>
          <a:xfrm>
            <a:off x="1783080" y="493776"/>
            <a:ext cx="5248656" cy="523220"/>
          </a:xfrm>
          <a:prstGeom prst="rect">
            <a:avLst/>
          </a:prstGeom>
          <a:noFill/>
        </p:spPr>
        <p:txBody>
          <a:bodyPr wrap="square" rtlCol="0">
            <a:spAutoFit/>
          </a:bodyPr>
          <a:lstStyle/>
          <a:p>
            <a:r>
              <a:rPr lang="en-US" sz="2800" b="1" u="sng" dirty="0">
                <a:solidFill>
                  <a:srgbClr val="FF0000"/>
                </a:solidFill>
              </a:rPr>
              <a:t>Fundamental Equations</a:t>
            </a:r>
          </a:p>
        </p:txBody>
      </p:sp>
    </p:spTree>
    <p:extLst>
      <p:ext uri="{BB962C8B-B14F-4D97-AF65-F5344CB8AC3E}">
        <p14:creationId xmlns:p14="http://schemas.microsoft.com/office/powerpoint/2010/main" val="13484340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2286000" y="896112"/>
                <a:ext cx="9454896" cy="3310778"/>
              </a:xfrm>
              <a:prstGeom prst="rect">
                <a:avLst/>
              </a:prstGeom>
              <a:noFill/>
            </p:spPr>
            <p:txBody>
              <a:bodyPr wrap="square" rtlCol="0">
                <a:spAutoFit/>
              </a:bodyPr>
              <a:lstStyle/>
              <a:p>
                <a:r>
                  <a:rPr lang="en-US" sz="2400" b="1" dirty="0" smtClean="0"/>
                  <a:t>Impulse (I)</a:t>
                </a:r>
              </a:p>
              <a:p>
                <a:r>
                  <a:rPr lang="en-US" sz="2400" dirty="0" smtClean="0"/>
                  <a:t>When the large force acting on a body for short interval of time, then it is called as Impulse</a:t>
                </a:r>
              </a:p>
              <a:p>
                <a:endParaRPr lang="en-US" sz="2400" dirty="0" smtClean="0"/>
              </a:p>
              <a:p>
                <a14:m>
                  <m:oMath xmlns:m="http://schemas.openxmlformats.org/officeDocument/2006/math">
                    <m:r>
                      <a:rPr lang="en-US" sz="2400" b="0" i="1" smtClean="0">
                        <a:latin typeface="Cambria Math" panose="02040503050406030204" pitchFamily="18" charset="0"/>
                      </a:rPr>
                      <m:t>𝐼</m:t>
                    </m:r>
                    <m:r>
                      <a:rPr lang="en-US" sz="2400" b="0" i="1" smtClean="0">
                        <a:latin typeface="Cambria Math" panose="02040503050406030204" pitchFamily="18" charset="0"/>
                      </a:rPr>
                      <m:t>=</m:t>
                    </m:r>
                    <m:nary>
                      <m:naryPr>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𝑡</m:t>
                        </m:r>
                        <m:r>
                          <a:rPr lang="en-US" sz="2400" b="0" i="1" smtClean="0">
                            <a:latin typeface="Cambria Math" panose="02040503050406030204" pitchFamily="18" charset="0"/>
                          </a:rPr>
                          <m:t>1</m:t>
                        </m:r>
                      </m:sub>
                      <m:sup>
                        <m:r>
                          <a:rPr lang="en-US" sz="2400" b="0" i="1" smtClean="0">
                            <a:latin typeface="Cambria Math" panose="02040503050406030204" pitchFamily="18" charset="0"/>
                          </a:rPr>
                          <m:t>𝑡</m:t>
                        </m:r>
                        <m:r>
                          <a:rPr lang="en-US" sz="2400" b="0" i="1" smtClean="0">
                            <a:latin typeface="Cambria Math" panose="02040503050406030204" pitchFamily="18" charset="0"/>
                          </a:rPr>
                          <m:t>2</m:t>
                        </m:r>
                      </m:sup>
                      <m:e>
                        <m:r>
                          <a:rPr lang="en-US" sz="2400" b="0" i="1" smtClean="0">
                            <a:latin typeface="Cambria Math" panose="02040503050406030204" pitchFamily="18" charset="0"/>
                          </a:rPr>
                          <m:t>𝐹𝑑𝑡</m:t>
                        </m:r>
                      </m:e>
                    </m:nary>
                  </m:oMath>
                </a14:m>
                <a:r>
                  <a:rPr lang="en-US" sz="2400" dirty="0" smtClean="0"/>
                  <a:t> </a:t>
                </a:r>
              </a:p>
              <a:p>
                <a:endParaRPr lang="en-US" sz="2400" dirty="0" smtClean="0"/>
              </a:p>
              <a:p>
                <a14:m>
                  <m:oMath xmlns:m="http://schemas.openxmlformats.org/officeDocument/2006/math">
                    <m:r>
                      <a:rPr lang="en-US" sz="2400" i="1">
                        <a:latin typeface="Cambria Math" panose="02040503050406030204" pitchFamily="18" charset="0"/>
                      </a:rPr>
                      <m:t>𝐼</m:t>
                    </m:r>
                    <m:r>
                      <a:rPr lang="en-US" sz="2400" i="1">
                        <a:latin typeface="Cambria Math" panose="02040503050406030204" pitchFamily="18" charset="0"/>
                      </a:rPr>
                      <m:t>=</m:t>
                    </m:r>
                    <m:nary>
                      <m:naryPr>
                        <m:ctrlPr>
                          <a:rPr lang="en-US" sz="2400" i="1">
                            <a:latin typeface="Cambria Math" panose="02040503050406030204" pitchFamily="18" charset="0"/>
                          </a:rPr>
                        </m:ctrlPr>
                      </m:naryPr>
                      <m:sub>
                        <m:r>
                          <m:rPr>
                            <m:brk m:alnAt="23"/>
                          </m:rPr>
                          <a:rPr lang="en-US" sz="2400" i="1">
                            <a:latin typeface="Cambria Math" panose="02040503050406030204" pitchFamily="18" charset="0"/>
                          </a:rPr>
                          <m:t>𝑡</m:t>
                        </m:r>
                        <m:r>
                          <a:rPr lang="en-US" sz="2400" i="1">
                            <a:latin typeface="Cambria Math" panose="02040503050406030204" pitchFamily="18" charset="0"/>
                          </a:rPr>
                          <m:t>1</m:t>
                        </m:r>
                      </m:sub>
                      <m:sup>
                        <m:r>
                          <a:rPr lang="en-US" sz="2400" i="1">
                            <a:latin typeface="Cambria Math" panose="02040503050406030204" pitchFamily="18" charset="0"/>
                          </a:rPr>
                          <m:t>𝑡</m:t>
                        </m:r>
                        <m:r>
                          <a:rPr lang="en-US" sz="2400" i="1">
                            <a:latin typeface="Cambria Math" panose="02040503050406030204" pitchFamily="18" charset="0"/>
                          </a:rPr>
                          <m:t>2</m:t>
                        </m:r>
                      </m:sup>
                      <m:e>
                        <m:r>
                          <a:rPr lang="en-US" sz="2400" i="1">
                            <a:latin typeface="Cambria Math" panose="02040503050406030204" pitchFamily="18" charset="0"/>
                          </a:rPr>
                          <m:t>𝐹</m:t>
                        </m:r>
                        <m:r>
                          <m:rPr>
                            <m:sty m:val="p"/>
                          </m:rPr>
                          <a:rPr lang="el-GR" sz="2400" i="1" smtClean="0">
                            <a:latin typeface="Cambria Math" panose="02040503050406030204" pitchFamily="18" charset="0"/>
                          </a:rPr>
                          <m:t>Δ</m:t>
                        </m:r>
                        <m:r>
                          <a:rPr lang="en-US" sz="2400" i="1">
                            <a:latin typeface="Cambria Math" panose="02040503050406030204" pitchFamily="18" charset="0"/>
                          </a:rPr>
                          <m:t>𝑡</m:t>
                        </m:r>
                      </m:e>
                    </m:nary>
                  </m:oMath>
                </a14:m>
                <a:r>
                  <a:rPr lang="en-US" sz="2400" dirty="0"/>
                  <a:t> </a:t>
                </a:r>
              </a:p>
              <a:p>
                <a:endParaRPr 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2286000" y="896112"/>
                <a:ext cx="9454896" cy="3310778"/>
              </a:xfrm>
              <a:prstGeom prst="rect">
                <a:avLst/>
              </a:prstGeom>
              <a:blipFill rotWithShape="0">
                <a:blip r:embed="rId2"/>
                <a:stretch>
                  <a:fillRect l="-967" t="-1473"/>
                </a:stretch>
              </a:blipFill>
            </p:spPr>
            <p:txBody>
              <a:bodyPr/>
              <a:lstStyle/>
              <a:p>
                <a:r>
                  <a:rPr lang="en-US">
                    <a:noFill/>
                  </a:rPr>
                  <a:t> </a:t>
                </a:r>
              </a:p>
            </p:txBody>
          </p:sp>
        </mc:Fallback>
      </mc:AlternateContent>
      <p:sp>
        <p:nvSpPr>
          <p:cNvPr id="3" name="object 28"/>
          <p:cNvSpPr/>
          <p:nvPr/>
        </p:nvSpPr>
        <p:spPr>
          <a:xfrm>
            <a:off x="7619656" y="2788921"/>
            <a:ext cx="1312698" cy="2295143"/>
          </a:xfrm>
          <a:prstGeom prst="rect">
            <a:avLst/>
          </a:prstGeom>
          <a:blipFill>
            <a:blip r:embed="rId3" cstate="print"/>
            <a:stretch>
              <a:fillRect/>
            </a:stretch>
          </a:blipFill>
        </p:spPr>
        <p:txBody>
          <a:bodyPr wrap="square" lIns="0" tIns="0" rIns="0" bIns="0" rtlCol="0"/>
          <a:lstStyle/>
          <a:p>
            <a:endParaRPr/>
          </a:p>
        </p:txBody>
      </p:sp>
      <p:pic>
        <p:nvPicPr>
          <p:cNvPr id="28" name="Picture 27"/>
          <p:cNvPicPr>
            <a:picLocks noChangeAspect="1"/>
          </p:cNvPicPr>
          <p:nvPr/>
        </p:nvPicPr>
        <p:blipFill>
          <a:blip r:embed="rId4"/>
          <a:stretch>
            <a:fillRect/>
          </a:stretch>
        </p:blipFill>
        <p:spPr>
          <a:xfrm>
            <a:off x="9892474" y="3310280"/>
            <a:ext cx="2013014" cy="2101637"/>
          </a:xfrm>
          <a:prstGeom prst="rect">
            <a:avLst/>
          </a:prstGeom>
        </p:spPr>
      </p:pic>
      <mc:AlternateContent xmlns:mc="http://schemas.openxmlformats.org/markup-compatibility/2006" xmlns:a14="http://schemas.microsoft.com/office/drawing/2010/main">
        <mc:Choice Requires="a14">
          <p:sp>
            <p:nvSpPr>
              <p:cNvPr id="29" name="TextBox 28"/>
              <p:cNvSpPr txBox="1"/>
              <p:nvPr/>
            </p:nvSpPr>
            <p:spPr>
              <a:xfrm>
                <a:off x="365760" y="4206890"/>
                <a:ext cx="7351776" cy="1361911"/>
              </a:xfrm>
              <a:prstGeom prst="rect">
                <a:avLst/>
              </a:prstGeom>
              <a:noFill/>
            </p:spPr>
            <p:txBody>
              <a:bodyPr wrap="square" rtlCol="0">
                <a:spAutoFit/>
              </a:bodyPr>
              <a:lstStyle/>
              <a:p>
                <a:pPr marL="12700" marR="33020">
                  <a:lnSpc>
                    <a:spcPts val="3260"/>
                  </a:lnSpc>
                  <a:spcBef>
                    <a:spcPts val="695"/>
                  </a:spcBef>
                </a:pPr>
                <a:r>
                  <a:rPr lang="en-US" b="1" dirty="0" smtClean="0">
                    <a:solidFill>
                      <a:srgbClr val="FF0000"/>
                    </a:solidFill>
                  </a:rPr>
                  <a:t>Eg. </a:t>
                </a:r>
                <a:r>
                  <a:rPr lang="en-US" b="1" dirty="0" smtClean="0"/>
                  <a:t>The face of a golf </a:t>
                </a:r>
                <a:r>
                  <a:rPr lang="en-US" b="1" spc="-5" dirty="0"/>
                  <a:t>club exerts  </a:t>
                </a:r>
                <a:r>
                  <a:rPr lang="en-US" b="1" dirty="0"/>
                  <a:t>an average </a:t>
                </a:r>
                <a:r>
                  <a:rPr lang="en-US" b="1" spc="-5" dirty="0"/>
                  <a:t>force </a:t>
                </a:r>
                <a:r>
                  <a:rPr lang="en-US" b="1" dirty="0"/>
                  <a:t>of 4000 N </a:t>
                </a:r>
                <a:r>
                  <a:rPr lang="en-US" b="1" spc="-5" dirty="0"/>
                  <a:t>for </a:t>
                </a:r>
                <a:r>
                  <a:rPr lang="en-US" b="1" dirty="0"/>
                  <a:t>0.002 </a:t>
                </a:r>
                <a:r>
                  <a:rPr lang="en-US" b="1" spc="-5" dirty="0" smtClean="0"/>
                  <a:t>Sec. </a:t>
                </a:r>
                <a:r>
                  <a:rPr lang="en-US" b="1" dirty="0" smtClean="0"/>
                  <a:t>What </a:t>
                </a:r>
                <a:r>
                  <a:rPr lang="en-US" b="1" dirty="0"/>
                  <a:t>is </a:t>
                </a:r>
                <a:r>
                  <a:rPr lang="en-US" b="1" spc="-5" dirty="0"/>
                  <a:t>the </a:t>
                </a:r>
                <a:r>
                  <a:rPr lang="en-US" b="1" dirty="0"/>
                  <a:t>impulse imparted to </a:t>
                </a:r>
                <a:r>
                  <a:rPr lang="en-US" b="1" spc="-5" dirty="0"/>
                  <a:t>the</a:t>
                </a:r>
                <a:r>
                  <a:rPr lang="en-US" b="1" spc="-25" dirty="0"/>
                  <a:t> </a:t>
                </a:r>
                <a:r>
                  <a:rPr lang="en-US" b="1" dirty="0"/>
                  <a:t>ball</a:t>
                </a:r>
                <a:r>
                  <a:rPr lang="en-US" b="1" dirty="0" smtClean="0"/>
                  <a:t>?</a:t>
                </a:r>
              </a:p>
              <a:p>
                <a:pPr marL="12700">
                  <a:lnSpc>
                    <a:spcPts val="3254"/>
                  </a:lnSpc>
                </a:pPr>
                <a14:m>
                  <m:oMathPara xmlns:m="http://schemas.openxmlformats.org/officeDocument/2006/math">
                    <m:oMathParaPr>
                      <m:jc m:val="left"/>
                    </m:oMathParaPr>
                    <m:oMath xmlns:m="http://schemas.openxmlformats.org/officeDocument/2006/math">
                      <m:r>
                        <m:rPr>
                          <m:sty m:val="p"/>
                        </m:rPr>
                        <a:rPr lang="en-US" b="0" i="0" dirty="0" smtClean="0">
                          <a:latin typeface="Cambria Math" panose="02040503050406030204" pitchFamily="18" charset="0"/>
                          <a:ea typeface="Cambria Math" panose="02040503050406030204" pitchFamily="18" charset="0"/>
                        </a:rPr>
                        <m:t>I</m:t>
                      </m:r>
                      <m:r>
                        <a:rPr lang="en-US" b="0" i="0" dirty="0" smtClean="0">
                          <a:latin typeface="Cambria Math" panose="02040503050406030204" pitchFamily="18" charset="0"/>
                          <a:ea typeface="Cambria Math" panose="02040503050406030204" pitchFamily="18" charset="0"/>
                        </a:rPr>
                        <m:t>=4000</m:t>
                      </m:r>
                      <m:r>
                        <a:rPr lang="en-US" i="1" dirty="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0.002=8 </m:t>
                      </m:r>
                      <m:r>
                        <a:rPr lang="en-US" b="0" i="1" dirty="0" smtClean="0">
                          <a:latin typeface="Cambria Math" panose="02040503050406030204" pitchFamily="18" charset="0"/>
                          <a:ea typeface="Cambria Math" panose="02040503050406030204" pitchFamily="18" charset="0"/>
                        </a:rPr>
                        <m:t>𝑁𝑠</m:t>
                      </m:r>
                    </m:oMath>
                  </m:oMathPara>
                </a14:m>
                <a:endParaRPr lang="en-US" dirty="0"/>
              </a:p>
            </p:txBody>
          </p:sp>
        </mc:Choice>
        <mc:Fallback xmlns="">
          <p:sp>
            <p:nvSpPr>
              <p:cNvPr id="29" name="TextBox 28"/>
              <p:cNvSpPr txBox="1">
                <a:spLocks noRot="1" noChangeAspect="1" noMove="1" noResize="1" noEditPoints="1" noAdjustHandles="1" noChangeArrowheads="1" noChangeShapeType="1" noTextEdit="1"/>
              </p:cNvSpPr>
              <p:nvPr/>
            </p:nvSpPr>
            <p:spPr>
              <a:xfrm>
                <a:off x="365760" y="4206890"/>
                <a:ext cx="7351776" cy="1361911"/>
              </a:xfrm>
              <a:prstGeom prst="rect">
                <a:avLst/>
              </a:prstGeom>
              <a:blipFill rotWithShape="0">
                <a:blip r:embed="rId5"/>
                <a:stretch>
                  <a:fillRect l="-498"/>
                </a:stretch>
              </a:blipFill>
            </p:spPr>
            <p:txBody>
              <a:bodyPr/>
              <a:lstStyle/>
              <a:p>
                <a:r>
                  <a:rPr lang="en-US">
                    <a:noFill/>
                  </a:rPr>
                  <a:t> </a:t>
                </a:r>
              </a:p>
            </p:txBody>
          </p:sp>
        </mc:Fallback>
      </mc:AlternateContent>
      <p:sp>
        <p:nvSpPr>
          <p:cNvPr id="31" name="TextBox 30"/>
          <p:cNvSpPr txBox="1"/>
          <p:nvPr/>
        </p:nvSpPr>
        <p:spPr>
          <a:xfrm>
            <a:off x="2286000" y="182880"/>
            <a:ext cx="5248656" cy="523220"/>
          </a:xfrm>
          <a:prstGeom prst="rect">
            <a:avLst/>
          </a:prstGeom>
          <a:noFill/>
        </p:spPr>
        <p:txBody>
          <a:bodyPr wrap="square" rtlCol="0">
            <a:spAutoFit/>
          </a:bodyPr>
          <a:lstStyle/>
          <a:p>
            <a:r>
              <a:rPr lang="en-US" sz="2800" b="1" u="sng" dirty="0">
                <a:solidFill>
                  <a:srgbClr val="FF0000"/>
                </a:solidFill>
              </a:rPr>
              <a:t>Fundamental Equations</a:t>
            </a:r>
          </a:p>
        </p:txBody>
      </p:sp>
    </p:spTree>
    <p:extLst>
      <p:ext uri="{BB962C8B-B14F-4D97-AF65-F5344CB8AC3E}">
        <p14:creationId xmlns:p14="http://schemas.microsoft.com/office/powerpoint/2010/main" val="15504621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0" y="896112"/>
            <a:ext cx="9454896" cy="2292935"/>
          </a:xfrm>
          <a:prstGeom prst="rect">
            <a:avLst/>
          </a:prstGeom>
          <a:noFill/>
        </p:spPr>
        <p:txBody>
          <a:bodyPr wrap="square" rtlCol="0">
            <a:spAutoFit/>
          </a:bodyPr>
          <a:lstStyle/>
          <a:p>
            <a:r>
              <a:rPr lang="en-US" sz="2400" b="1" dirty="0" smtClean="0"/>
              <a:t>Momentum (M)</a:t>
            </a:r>
          </a:p>
          <a:p>
            <a:pPr marL="12700" marR="5080">
              <a:lnSpc>
                <a:spcPts val="3711"/>
              </a:lnSpc>
              <a:spcBef>
                <a:spcPts val="131"/>
              </a:spcBef>
              <a:tabLst>
                <a:tab pos="2499932" algn="l"/>
              </a:tabLst>
            </a:pPr>
            <a:r>
              <a:rPr lang="en-US" sz="2400" u="sng" dirty="0">
                <a:uFill>
                  <a:solidFill>
                    <a:srgbClr val="FFFF00"/>
                  </a:solidFill>
                </a:uFill>
                <a:latin typeface="Times New Roman" pitchFamily="18" charset="0"/>
                <a:cs typeface="Times New Roman" pitchFamily="18" charset="0"/>
              </a:rPr>
              <a:t>Momentum </a:t>
            </a:r>
            <a:r>
              <a:rPr lang="en-US" sz="2400" dirty="0">
                <a:latin typeface="Times New Roman" pitchFamily="18" charset="0"/>
                <a:cs typeface="Times New Roman" pitchFamily="18" charset="0"/>
              </a:rPr>
              <a:t>is </a:t>
            </a:r>
            <a:r>
              <a:rPr lang="en-US" sz="2400" spc="-5" dirty="0">
                <a:latin typeface="Times New Roman" pitchFamily="18" charset="0"/>
                <a:cs typeface="Times New Roman" pitchFamily="18" charset="0"/>
              </a:rPr>
              <a:t>defined </a:t>
            </a:r>
            <a:r>
              <a:rPr lang="en-US" sz="2400" dirty="0">
                <a:latin typeface="Times New Roman" pitchFamily="18" charset="0"/>
                <a:cs typeface="Times New Roman" pitchFamily="18" charset="0"/>
              </a:rPr>
              <a:t>as </a:t>
            </a:r>
            <a:r>
              <a:rPr lang="en-US" sz="2400" spc="-5" dirty="0">
                <a:latin typeface="Times New Roman" pitchFamily="18" charset="0"/>
                <a:cs typeface="Times New Roman" pitchFamily="18" charset="0"/>
              </a:rPr>
              <a:t>the </a:t>
            </a:r>
            <a:r>
              <a:rPr lang="en-US" sz="2400" spc="-11" dirty="0">
                <a:latin typeface="Times New Roman" pitchFamily="18" charset="0"/>
                <a:cs typeface="Times New Roman" pitchFamily="18" charset="0"/>
              </a:rPr>
              <a:t>product </a:t>
            </a:r>
            <a:r>
              <a:rPr lang="en-US" sz="2400" dirty="0">
                <a:latin typeface="Times New Roman" pitchFamily="18" charset="0"/>
                <a:cs typeface="Times New Roman" pitchFamily="18" charset="0"/>
              </a:rPr>
              <a:t>of  mass </a:t>
            </a:r>
            <a:r>
              <a:rPr lang="en-US" sz="2400" spc="-5" dirty="0">
                <a:latin typeface="Times New Roman" pitchFamily="18" charset="0"/>
                <a:cs typeface="Times New Roman" pitchFamily="18" charset="0"/>
              </a:rPr>
              <a:t>and </a:t>
            </a:r>
            <a:r>
              <a:rPr lang="en-US" sz="2400" spc="-11" dirty="0">
                <a:latin typeface="Times New Roman" pitchFamily="18" charset="0"/>
                <a:cs typeface="Times New Roman" pitchFamily="18" charset="0"/>
              </a:rPr>
              <a:t>velocity</a:t>
            </a:r>
            <a:r>
              <a:rPr lang="en-US" sz="2400" i="1" spc="-11" dirty="0">
                <a:latin typeface="Times New Roman" pitchFamily="18" charset="0"/>
                <a:cs typeface="Times New Roman" pitchFamily="18" charset="0"/>
              </a:rPr>
              <a:t>. </a:t>
            </a:r>
          </a:p>
          <a:p>
            <a:pPr marL="12700" marR="5080">
              <a:lnSpc>
                <a:spcPts val="3711"/>
              </a:lnSpc>
              <a:spcBef>
                <a:spcPts val="131"/>
              </a:spcBef>
              <a:tabLst>
                <a:tab pos="2499932" algn="l"/>
              </a:tabLst>
            </a:pPr>
            <a:r>
              <a:rPr lang="en-US" sz="2400" i="1" dirty="0">
                <a:latin typeface="Times New Roman" pitchFamily="18" charset="0"/>
                <a:cs typeface="Times New Roman" pitchFamily="18" charset="0"/>
              </a:rPr>
              <a:t>(vector</a:t>
            </a:r>
            <a:r>
              <a:rPr lang="en-US" sz="2400" i="1" spc="-15" dirty="0">
                <a:latin typeface="Times New Roman" pitchFamily="18" charset="0"/>
                <a:cs typeface="Times New Roman" pitchFamily="18" charset="0"/>
              </a:rPr>
              <a:t> </a:t>
            </a:r>
            <a:r>
              <a:rPr lang="en-US" sz="2400" i="1" dirty="0">
                <a:latin typeface="Times New Roman" pitchFamily="18" charset="0"/>
                <a:cs typeface="Times New Roman" pitchFamily="18" charset="0"/>
              </a:rPr>
              <a:t>quantity)          </a:t>
            </a:r>
          </a:p>
          <a:p>
            <a:pPr marL="12700" marR="5080">
              <a:lnSpc>
                <a:spcPts val="3711"/>
              </a:lnSpc>
              <a:spcBef>
                <a:spcPts val="131"/>
              </a:spcBef>
              <a:tabLst>
                <a:tab pos="2499932" algn="l"/>
              </a:tabLst>
            </a:pPr>
            <a:r>
              <a:rPr lang="en-US" sz="2400" spc="-5" dirty="0">
                <a:latin typeface="Times New Roman" pitchFamily="18" charset="0"/>
                <a:cs typeface="Times New Roman" pitchFamily="18" charset="0"/>
              </a:rPr>
              <a:t>Units:	kg </a:t>
            </a:r>
            <a:r>
              <a:rPr lang="en-US" sz="2400" dirty="0">
                <a:latin typeface="Times New Roman" pitchFamily="18" charset="0"/>
                <a:cs typeface="Times New Roman" pitchFamily="18" charset="0"/>
              </a:rPr>
              <a:t>m/s;        </a:t>
            </a:r>
            <a:r>
              <a:rPr lang="en-US" sz="2400" spc="-5" dirty="0">
                <a:latin typeface="Times New Roman" pitchFamily="18" charset="0"/>
                <a:cs typeface="Times New Roman" pitchFamily="18" charset="0"/>
              </a:rPr>
              <a:t>g cm/s;         slug</a:t>
            </a:r>
            <a:r>
              <a:rPr lang="en-US" sz="2400" spc="-15" dirty="0">
                <a:latin typeface="Times New Roman" pitchFamily="18" charset="0"/>
                <a:cs typeface="Times New Roman" pitchFamily="18" charset="0"/>
              </a:rPr>
              <a:t> </a:t>
            </a:r>
            <a:r>
              <a:rPr lang="en-US" sz="2400" dirty="0" err="1">
                <a:latin typeface="Times New Roman" pitchFamily="18" charset="0"/>
                <a:cs typeface="Times New Roman" pitchFamily="18" charset="0"/>
              </a:rPr>
              <a:t>ft</a:t>
            </a:r>
            <a:r>
              <a:rPr lang="en-US" sz="2400" dirty="0">
                <a:latin typeface="Times New Roman" pitchFamily="18" charset="0"/>
                <a:cs typeface="Times New Roman" pitchFamily="18" charset="0"/>
              </a:rPr>
              <a:t>/s</a:t>
            </a:r>
          </a:p>
          <a:p>
            <a:endParaRPr lang="en-US" sz="2400" b="1" dirty="0" smtClean="0"/>
          </a:p>
        </p:txBody>
      </p:sp>
      <mc:AlternateContent xmlns:mc="http://schemas.openxmlformats.org/markup-compatibility/2006" xmlns:a14="http://schemas.microsoft.com/office/drawing/2010/main">
        <mc:Choice Requires="a14">
          <p:sp>
            <p:nvSpPr>
              <p:cNvPr id="29" name="TextBox 28"/>
              <p:cNvSpPr txBox="1"/>
              <p:nvPr/>
            </p:nvSpPr>
            <p:spPr>
              <a:xfrm>
                <a:off x="365760" y="4206890"/>
                <a:ext cx="7351776" cy="746936"/>
              </a:xfrm>
              <a:prstGeom prst="rect">
                <a:avLst/>
              </a:prstGeom>
              <a:noFill/>
            </p:spPr>
            <p:txBody>
              <a:bodyPr wrap="square" rtlCol="0">
                <a:spAutoFit/>
              </a:bodyPr>
              <a:lstStyle/>
              <a:p>
                <a:pPr marL="568311"/>
                <a:r>
                  <a:rPr lang="en-US" b="1" i="1" spc="-95" dirty="0" smtClean="0">
                    <a:cs typeface="Tahoma"/>
                  </a:rPr>
                  <a:t>Momentum=M=m</a:t>
                </a:r>
                <a14:m>
                  <m:oMath xmlns:m="http://schemas.openxmlformats.org/officeDocument/2006/math">
                    <m:r>
                      <a:rPr lang="en-US" i="1" dirty="0">
                        <a:latin typeface="Cambria Math" panose="02040503050406030204" pitchFamily="18" charset="0"/>
                        <a:ea typeface="Cambria Math" panose="02040503050406030204" pitchFamily="18" charset="0"/>
                      </a:rPr>
                      <m:t>×</m:t>
                    </m:r>
                  </m:oMath>
                </a14:m>
                <a:r>
                  <a:rPr lang="en-US" dirty="0" smtClean="0">
                    <a:cs typeface="Tahoma"/>
                  </a:rPr>
                  <a:t>V</a:t>
                </a:r>
                <a:endParaRPr lang="en-US" dirty="0">
                  <a:cs typeface="Tahoma"/>
                </a:endParaRPr>
              </a:p>
              <a:p>
                <a:pPr marL="12700">
                  <a:lnSpc>
                    <a:spcPts val="3254"/>
                  </a:lnSpc>
                </a:pPr>
                <a:r>
                  <a:rPr lang="en-US" b="0" dirty="0" smtClean="0">
                    <a:ea typeface="Cambria Math" panose="02040503050406030204" pitchFamily="18" charset="0"/>
                  </a:rPr>
                  <a:t>           </a:t>
                </a:r>
                <a14:m>
                  <m:oMath xmlns:m="http://schemas.openxmlformats.org/officeDocument/2006/math">
                    <m:r>
                      <m:rPr>
                        <m:sty m:val="p"/>
                      </m:rPr>
                      <a:rPr lang="en-US" b="0" i="0" dirty="0" smtClean="0">
                        <a:latin typeface="Cambria Math" panose="02040503050406030204" pitchFamily="18" charset="0"/>
                        <a:ea typeface="Cambria Math" panose="02040503050406030204" pitchFamily="18" charset="0"/>
                      </a:rPr>
                      <m:t>M</m:t>
                    </m:r>
                    <m:r>
                      <a:rPr lang="en-US" b="0" i="0" dirty="0" smtClean="0">
                        <a:latin typeface="Cambria Math" panose="02040503050406030204" pitchFamily="18" charset="0"/>
                        <a:ea typeface="Cambria Math" panose="02040503050406030204" pitchFamily="18" charset="0"/>
                      </a:rPr>
                      <m:t>=</m:t>
                    </m:r>
                    <m:r>
                      <m:rPr>
                        <m:sty m:val="p"/>
                      </m:rPr>
                      <a:rPr lang="en-US" b="0" i="0" dirty="0" smtClean="0">
                        <a:latin typeface="Cambria Math" panose="02040503050406030204" pitchFamily="18" charset="0"/>
                        <a:ea typeface="Cambria Math" panose="02040503050406030204" pitchFamily="18" charset="0"/>
                      </a:rPr>
                      <m:t>m</m:t>
                    </m:r>
                    <m:r>
                      <a:rPr lang="en-US" i="1" dirty="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𝑉</m:t>
                    </m:r>
                    <m:r>
                      <a:rPr lang="en-US" b="0" i="1" dirty="0" smtClean="0">
                        <a:latin typeface="Cambria Math" panose="02040503050406030204" pitchFamily="18" charset="0"/>
                        <a:ea typeface="Cambria Math" panose="02040503050406030204" pitchFamily="18" charset="0"/>
                      </a:rPr>
                      <m:t>=1000×16=16000  </m:t>
                    </m:r>
                    <m:r>
                      <a:rPr lang="en-US" b="0" i="1" dirty="0" smtClean="0">
                        <a:latin typeface="Cambria Math" panose="02040503050406030204" pitchFamily="18" charset="0"/>
                        <a:ea typeface="Cambria Math" panose="02040503050406030204" pitchFamily="18" charset="0"/>
                      </a:rPr>
                      <m:t>𝐾𝑔</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𝑚</m:t>
                    </m:r>
                    <m:r>
                      <a:rPr lang="en-US" b="0" i="1" dirty="0" smtClean="0">
                        <a:latin typeface="Cambria Math" panose="02040503050406030204" pitchFamily="18" charset="0"/>
                        <a:ea typeface="Cambria Math" panose="02040503050406030204" pitchFamily="18" charset="0"/>
                      </a:rPr>
                      <m:t>/</m:t>
                    </m:r>
                  </m:oMath>
                </a14:m>
                <a:r>
                  <a:rPr lang="en-US" dirty="0" smtClean="0"/>
                  <a:t>s</a:t>
                </a:r>
                <a:endParaRPr lang="en-US" dirty="0"/>
              </a:p>
            </p:txBody>
          </p:sp>
        </mc:Choice>
        <mc:Fallback xmlns="">
          <p:sp>
            <p:nvSpPr>
              <p:cNvPr id="29" name="TextBox 28"/>
              <p:cNvSpPr txBox="1">
                <a:spLocks noRot="1" noChangeAspect="1" noMove="1" noResize="1" noEditPoints="1" noAdjustHandles="1" noChangeArrowheads="1" noChangeShapeType="1" noTextEdit="1"/>
              </p:cNvSpPr>
              <p:nvPr/>
            </p:nvSpPr>
            <p:spPr>
              <a:xfrm>
                <a:off x="365760" y="4206890"/>
                <a:ext cx="7351776" cy="746936"/>
              </a:xfrm>
              <a:prstGeom prst="rect">
                <a:avLst/>
              </a:prstGeom>
              <a:blipFill rotWithShape="0">
                <a:blip r:embed="rId2"/>
                <a:stretch>
                  <a:fillRect t="-4065" b="-12195"/>
                </a:stretch>
              </a:blipFill>
            </p:spPr>
            <p:txBody>
              <a:bodyPr/>
              <a:lstStyle/>
              <a:p>
                <a:r>
                  <a:rPr lang="en-US">
                    <a:noFill/>
                  </a:rPr>
                  <a:t> </a:t>
                </a:r>
              </a:p>
            </p:txBody>
          </p:sp>
        </mc:Fallback>
      </mc:AlternateContent>
      <p:sp>
        <p:nvSpPr>
          <p:cNvPr id="31" name="TextBox 30"/>
          <p:cNvSpPr txBox="1"/>
          <p:nvPr/>
        </p:nvSpPr>
        <p:spPr>
          <a:xfrm>
            <a:off x="2286000" y="182880"/>
            <a:ext cx="5248656" cy="523220"/>
          </a:xfrm>
          <a:prstGeom prst="rect">
            <a:avLst/>
          </a:prstGeom>
          <a:noFill/>
        </p:spPr>
        <p:txBody>
          <a:bodyPr wrap="square" rtlCol="0">
            <a:spAutoFit/>
          </a:bodyPr>
          <a:lstStyle/>
          <a:p>
            <a:r>
              <a:rPr lang="en-US" sz="2800" b="1" u="sng" dirty="0">
                <a:solidFill>
                  <a:srgbClr val="FF0000"/>
                </a:solidFill>
              </a:rPr>
              <a:t>Fundamental Equations</a:t>
            </a:r>
          </a:p>
        </p:txBody>
      </p:sp>
      <p:sp>
        <p:nvSpPr>
          <p:cNvPr id="7" name="object 13"/>
          <p:cNvSpPr/>
          <p:nvPr/>
        </p:nvSpPr>
        <p:spPr>
          <a:xfrm>
            <a:off x="9146281" y="3515001"/>
            <a:ext cx="2243091" cy="938424"/>
          </a:xfrm>
          <a:prstGeom prst="rect">
            <a:avLst/>
          </a:prstGeom>
          <a:blipFill>
            <a:blip r:embed="rId3" cstate="print"/>
            <a:stretch>
              <a:fillRect/>
            </a:stretch>
          </a:blipFill>
        </p:spPr>
        <p:txBody>
          <a:bodyPr wrap="square" lIns="0" tIns="0" rIns="0" bIns="0" rtlCol="0"/>
          <a:lstStyle/>
          <a:p>
            <a:endParaRPr/>
          </a:p>
        </p:txBody>
      </p:sp>
      <p:sp>
        <p:nvSpPr>
          <p:cNvPr id="4" name="Rectangle 3"/>
          <p:cNvSpPr/>
          <p:nvPr/>
        </p:nvSpPr>
        <p:spPr>
          <a:xfrm>
            <a:off x="8805149" y="4779379"/>
            <a:ext cx="2925353" cy="369332"/>
          </a:xfrm>
          <a:prstGeom prst="rect">
            <a:avLst/>
          </a:prstGeom>
        </p:spPr>
        <p:txBody>
          <a:bodyPr wrap="none">
            <a:spAutoFit/>
          </a:bodyPr>
          <a:lstStyle/>
          <a:p>
            <a:pPr marL="568311" algn="ctr"/>
            <a:r>
              <a:rPr lang="en-US" dirty="0">
                <a:cs typeface="Tahoma"/>
              </a:rPr>
              <a:t>m </a:t>
            </a:r>
            <a:r>
              <a:rPr lang="en-US" spc="-5" dirty="0">
                <a:cs typeface="Tahoma"/>
              </a:rPr>
              <a:t>= </a:t>
            </a:r>
            <a:r>
              <a:rPr lang="en-US" spc="-11" dirty="0">
                <a:cs typeface="Tahoma"/>
              </a:rPr>
              <a:t>1000</a:t>
            </a:r>
            <a:r>
              <a:rPr lang="en-US" spc="15" dirty="0">
                <a:cs typeface="Tahoma"/>
              </a:rPr>
              <a:t> </a:t>
            </a:r>
            <a:r>
              <a:rPr lang="en-US" dirty="0">
                <a:cs typeface="Tahoma"/>
              </a:rPr>
              <a:t>kg, v= 16 m/s</a:t>
            </a:r>
          </a:p>
        </p:txBody>
      </p:sp>
    </p:spTree>
    <p:extLst>
      <p:ext uri="{BB962C8B-B14F-4D97-AF65-F5344CB8AC3E}">
        <p14:creationId xmlns:p14="http://schemas.microsoft.com/office/powerpoint/2010/main" val="10549978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9105" y="501134"/>
            <a:ext cx="5675208" cy="523220"/>
          </a:xfrm>
          <a:prstGeom prst="rect">
            <a:avLst/>
          </a:prstGeom>
        </p:spPr>
        <p:txBody>
          <a:bodyPr wrap="none">
            <a:spAutoFit/>
          </a:bodyPr>
          <a:lstStyle/>
          <a:p>
            <a:r>
              <a:rPr lang="en-US" sz="2800" b="1" u="sng" dirty="0">
                <a:solidFill>
                  <a:srgbClr val="FF0000"/>
                </a:solidFill>
              </a:rPr>
              <a:t>Law of Impulse Momentum Principle</a:t>
            </a:r>
          </a:p>
        </p:txBody>
      </p:sp>
      <p:sp>
        <p:nvSpPr>
          <p:cNvPr id="3" name="Content Placeholder 2"/>
          <p:cNvSpPr>
            <a:spLocks noGrp="1"/>
          </p:cNvSpPr>
          <p:nvPr>
            <p:ph idx="1"/>
          </p:nvPr>
        </p:nvSpPr>
        <p:spPr>
          <a:xfrm>
            <a:off x="143255" y="1599250"/>
            <a:ext cx="12048745" cy="4486273"/>
          </a:xfrm>
        </p:spPr>
        <p:txBody>
          <a:bodyPr>
            <a:normAutofit/>
          </a:bodyPr>
          <a:lstStyle/>
          <a:p>
            <a:pPr algn="just"/>
            <a:r>
              <a:rPr lang="en-US" dirty="0" smtClean="0"/>
              <a:t>The </a:t>
            </a:r>
            <a:r>
              <a:rPr lang="en-US" dirty="0"/>
              <a:t>fundamental principle of dynamics is the </a:t>
            </a:r>
            <a:r>
              <a:rPr lang="en-US" dirty="0">
                <a:solidFill>
                  <a:srgbClr val="FF0000"/>
                </a:solidFill>
              </a:rPr>
              <a:t>Newton’s Second Law of Motion</a:t>
            </a:r>
            <a:r>
              <a:rPr lang="en-US" dirty="0"/>
              <a:t>, which states that, </a:t>
            </a:r>
            <a:endParaRPr lang="en-US" dirty="0" smtClean="0"/>
          </a:p>
          <a:p>
            <a:pPr lvl="1" algn="just"/>
            <a:r>
              <a:rPr lang="en-US" sz="2800" b="1" dirty="0" smtClean="0">
                <a:solidFill>
                  <a:srgbClr val="00B0F0"/>
                </a:solidFill>
              </a:rPr>
              <a:t>“</a:t>
            </a:r>
            <a:r>
              <a:rPr lang="en-US" sz="2800" b="1" dirty="0">
                <a:solidFill>
                  <a:srgbClr val="00B0F0"/>
                </a:solidFill>
              </a:rPr>
              <a:t>The rate of change of momentum is directly proportional to the applied force and takes place in the direction of the force</a:t>
            </a:r>
            <a:r>
              <a:rPr lang="en-US" sz="2800" b="1" dirty="0" smtClean="0">
                <a:solidFill>
                  <a:srgbClr val="00B0F0"/>
                </a:solidFill>
              </a:rPr>
              <a:t>”.</a:t>
            </a:r>
          </a:p>
          <a:p>
            <a:pPr lvl="1" algn="just"/>
            <a:endParaRPr lang="en-US" sz="2800" b="1" dirty="0" smtClean="0">
              <a:solidFill>
                <a:srgbClr val="00B0F0"/>
              </a:solidFill>
            </a:endParaRPr>
          </a:p>
          <a:p>
            <a:pPr algn="just"/>
            <a:r>
              <a:rPr lang="en-US" dirty="0"/>
              <a:t>According to </a:t>
            </a:r>
            <a:r>
              <a:rPr lang="en-US" dirty="0">
                <a:solidFill>
                  <a:srgbClr val="FF0000"/>
                </a:solidFill>
              </a:rPr>
              <a:t>Impulse-momentum principle</a:t>
            </a:r>
            <a:r>
              <a:rPr lang="en-US" dirty="0"/>
              <a:t>: </a:t>
            </a:r>
            <a:endParaRPr lang="en-US" dirty="0" smtClean="0"/>
          </a:p>
          <a:p>
            <a:pPr lvl="1" algn="just"/>
            <a:r>
              <a:rPr lang="en-US" sz="2800" dirty="0" smtClean="0">
                <a:solidFill>
                  <a:srgbClr val="7030A0"/>
                </a:solidFill>
              </a:rPr>
              <a:t>“</a:t>
            </a:r>
            <a:r>
              <a:rPr lang="en-US" sz="2800" dirty="0">
                <a:solidFill>
                  <a:srgbClr val="7030A0"/>
                </a:solidFill>
              </a:rPr>
              <a:t>State of rest or of uniform motion of a body changes in the direction of an externally applied force, and that the magnitude of the force equals the rate of change of momentum”.</a:t>
            </a:r>
            <a:endParaRPr lang="en-US" sz="2800" b="1" dirty="0">
              <a:solidFill>
                <a:srgbClr val="7030A0"/>
              </a:solidFill>
            </a:endParaRPr>
          </a:p>
        </p:txBody>
      </p:sp>
    </p:spTree>
    <p:extLst>
      <p:ext uri="{BB962C8B-B14F-4D97-AF65-F5344CB8AC3E}">
        <p14:creationId xmlns:p14="http://schemas.microsoft.com/office/powerpoint/2010/main" val="42364263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a:spLocks noGrp="1"/>
          </p:cNvSpPr>
          <p:nvPr>
            <p:ph idx="1"/>
          </p:nvPr>
        </p:nvSpPr>
        <p:spPr>
          <a:xfrm>
            <a:off x="1676400" y="337378"/>
            <a:ext cx="9944100" cy="4486273"/>
          </a:xfrm>
        </p:spPr>
        <p:txBody>
          <a:bodyPr>
            <a:normAutofit/>
          </a:bodyPr>
          <a:lstStyle/>
          <a:p>
            <a:pPr algn="just"/>
            <a:r>
              <a:rPr lang="en-US" sz="2400" dirty="0"/>
              <a:t>Momentum is the product of mass and velocity of the body, this vector quantity has direction as well as magnitude and </a:t>
            </a:r>
            <a:endParaRPr lang="en-US" sz="2400" dirty="0" smtClean="0"/>
          </a:p>
          <a:p>
            <a:pPr algn="just"/>
            <a:r>
              <a:rPr lang="en-US" sz="2400" dirty="0" smtClean="0"/>
              <a:t>it </a:t>
            </a:r>
            <a:r>
              <a:rPr lang="en-US" sz="2400" dirty="0"/>
              <a:t>represents </a:t>
            </a:r>
            <a:r>
              <a:rPr lang="en-US" sz="2400" dirty="0">
                <a:solidFill>
                  <a:srgbClr val="0070C0"/>
                </a:solidFill>
              </a:rPr>
              <a:t>energy of motion stored in a moving body</a:t>
            </a:r>
            <a:endParaRPr lang="en-US" sz="2400" b="1" dirty="0">
              <a:solidFill>
                <a:srgbClr val="0070C0"/>
              </a:solidFill>
            </a:endParaRPr>
          </a:p>
        </p:txBody>
      </p:sp>
      <p:pic>
        <p:nvPicPr>
          <p:cNvPr id="3" name="Picture 2"/>
          <p:cNvPicPr>
            <a:picLocks noChangeAspect="1"/>
          </p:cNvPicPr>
          <p:nvPr/>
        </p:nvPicPr>
        <p:blipFill>
          <a:blip r:embed="rId2" cstate="print"/>
          <a:stretch>
            <a:fillRect/>
          </a:stretch>
        </p:blipFill>
        <p:spPr>
          <a:xfrm>
            <a:off x="1930414" y="1504841"/>
            <a:ext cx="4434287" cy="1233980"/>
          </a:xfrm>
          <a:prstGeom prst="rect">
            <a:avLst/>
          </a:prstGeom>
        </p:spPr>
      </p:pic>
      <p:sp>
        <p:nvSpPr>
          <p:cNvPr id="4" name="Rectangle 3"/>
          <p:cNvSpPr/>
          <p:nvPr/>
        </p:nvSpPr>
        <p:spPr>
          <a:xfrm>
            <a:off x="1676400" y="2738821"/>
            <a:ext cx="5990999" cy="400110"/>
          </a:xfrm>
          <a:prstGeom prst="rect">
            <a:avLst/>
          </a:prstGeom>
        </p:spPr>
        <p:txBody>
          <a:bodyPr wrap="none">
            <a:spAutoFit/>
          </a:bodyPr>
          <a:lstStyle/>
          <a:p>
            <a:r>
              <a:rPr lang="en-US" sz="2000" dirty="0"/>
              <a:t>For a constant mass flow rate, the momentum equation</a:t>
            </a:r>
          </a:p>
        </p:txBody>
      </p:sp>
      <p:pic>
        <p:nvPicPr>
          <p:cNvPr id="5" name="Picture 4"/>
          <p:cNvPicPr>
            <a:picLocks noChangeAspect="1"/>
          </p:cNvPicPr>
          <p:nvPr/>
        </p:nvPicPr>
        <p:blipFill>
          <a:blip r:embed="rId3" cstate="print"/>
          <a:stretch>
            <a:fillRect/>
          </a:stretch>
        </p:blipFill>
        <p:spPr>
          <a:xfrm>
            <a:off x="7921413" y="2501287"/>
            <a:ext cx="1848387" cy="875178"/>
          </a:xfrm>
          <a:prstGeom prst="rect">
            <a:avLst/>
          </a:prstGeom>
        </p:spPr>
      </p:pic>
      <p:sp>
        <p:nvSpPr>
          <p:cNvPr id="6" name="Rectangle 5"/>
          <p:cNvSpPr/>
          <p:nvPr/>
        </p:nvSpPr>
        <p:spPr>
          <a:xfrm>
            <a:off x="1676400" y="3618660"/>
            <a:ext cx="10987825" cy="400110"/>
          </a:xfrm>
          <a:prstGeom prst="rect">
            <a:avLst/>
          </a:prstGeom>
        </p:spPr>
        <p:txBody>
          <a:bodyPr wrap="square">
            <a:spAutoFit/>
          </a:bodyPr>
          <a:lstStyle/>
          <a:p>
            <a:r>
              <a:rPr lang="en-US" sz="2000" dirty="0"/>
              <a:t>Dynamic force applied in x- direction = rate of change in momentum in x- direction</a:t>
            </a:r>
          </a:p>
        </p:txBody>
      </p:sp>
      <p:pic>
        <p:nvPicPr>
          <p:cNvPr id="7" name="Picture 6"/>
          <p:cNvPicPr>
            <a:picLocks noChangeAspect="1"/>
          </p:cNvPicPr>
          <p:nvPr/>
        </p:nvPicPr>
        <p:blipFill>
          <a:blip r:embed="rId4" cstate="print"/>
          <a:stretch>
            <a:fillRect/>
          </a:stretch>
        </p:blipFill>
        <p:spPr>
          <a:xfrm>
            <a:off x="1676400" y="4204526"/>
            <a:ext cx="7524750" cy="619125"/>
          </a:xfrm>
          <a:prstGeom prst="rect">
            <a:avLst/>
          </a:prstGeom>
        </p:spPr>
      </p:pic>
    </p:spTree>
    <p:extLst>
      <p:ext uri="{BB962C8B-B14F-4D97-AF65-F5344CB8AC3E}">
        <p14:creationId xmlns:p14="http://schemas.microsoft.com/office/powerpoint/2010/main" val="35679941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stretch>
            <a:fillRect/>
          </a:stretch>
        </p:blipFill>
        <p:spPr>
          <a:xfrm>
            <a:off x="4076700" y="566740"/>
            <a:ext cx="2609850" cy="1685925"/>
          </a:xfrm>
          <a:prstGeom prst="rect">
            <a:avLst/>
          </a:prstGeom>
        </p:spPr>
      </p:pic>
      <p:sp>
        <p:nvSpPr>
          <p:cNvPr id="3" name="Rounded Rectangular Callout 2"/>
          <p:cNvSpPr/>
          <p:nvPr/>
        </p:nvSpPr>
        <p:spPr>
          <a:xfrm>
            <a:off x="739998" y="1685297"/>
            <a:ext cx="2820474" cy="1134731"/>
          </a:xfrm>
          <a:prstGeom prst="wedgeRoundRectCallout">
            <a:avLst>
              <a:gd name="adj1" fmla="val 69737"/>
              <a:gd name="adj2" fmla="val -28404"/>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b="1" dirty="0">
                <a:solidFill>
                  <a:srgbClr val="7030A0"/>
                </a:solidFill>
              </a:rPr>
              <a:t>(F </a:t>
            </a:r>
            <a:r>
              <a:rPr lang="en-US" sz="2000" b="1" dirty="0" smtClean="0">
                <a:solidFill>
                  <a:srgbClr val="7030A0"/>
                </a:solidFill>
              </a:rPr>
              <a:t>x </a:t>
            </a:r>
            <a:r>
              <a:rPr lang="en-US" sz="2000" b="1" dirty="0">
                <a:solidFill>
                  <a:srgbClr val="7030A0"/>
                </a:solidFill>
              </a:rPr>
              <a:t>t) is called the Impulse of the applied </a:t>
            </a:r>
            <a:r>
              <a:rPr lang="en-US" sz="2000" b="1" dirty="0" smtClean="0">
                <a:solidFill>
                  <a:srgbClr val="7030A0"/>
                </a:solidFill>
              </a:rPr>
              <a:t>force</a:t>
            </a:r>
            <a:endParaRPr lang="en-US" sz="2000" b="1" dirty="0">
              <a:solidFill>
                <a:srgbClr val="7030A0"/>
              </a:solidFill>
            </a:endParaRPr>
          </a:p>
        </p:txBody>
      </p:sp>
      <p:sp>
        <p:nvSpPr>
          <p:cNvPr id="4" name="Rounded Rectangular Callout 3"/>
          <p:cNvSpPr/>
          <p:nvPr/>
        </p:nvSpPr>
        <p:spPr>
          <a:xfrm>
            <a:off x="7202778" y="1685298"/>
            <a:ext cx="2588654" cy="1134731"/>
          </a:xfrm>
          <a:prstGeom prst="wedgeRoundRectCallout">
            <a:avLst>
              <a:gd name="adj1" fmla="val -72650"/>
              <a:gd name="adj2" fmla="val -29882"/>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b="1" dirty="0">
                <a:solidFill>
                  <a:srgbClr val="7030A0"/>
                </a:solidFill>
              </a:rPr>
              <a:t>the resulting change in </a:t>
            </a:r>
            <a:r>
              <a:rPr lang="en-US" sz="2000" b="1" dirty="0" smtClean="0">
                <a:solidFill>
                  <a:srgbClr val="7030A0"/>
                </a:solidFill>
              </a:rPr>
              <a:t>momentum</a:t>
            </a:r>
            <a:endParaRPr lang="en-US" sz="2000" b="1" dirty="0">
              <a:solidFill>
                <a:srgbClr val="7030A0"/>
              </a:solidFill>
            </a:endParaRPr>
          </a:p>
        </p:txBody>
      </p:sp>
      <p:pic>
        <p:nvPicPr>
          <p:cNvPr id="5" name="Picture 4"/>
          <p:cNvPicPr>
            <a:picLocks noChangeAspect="1"/>
          </p:cNvPicPr>
          <p:nvPr/>
        </p:nvPicPr>
        <p:blipFill>
          <a:blip r:embed="rId3" cstate="print"/>
          <a:stretch>
            <a:fillRect/>
          </a:stretch>
        </p:blipFill>
        <p:spPr>
          <a:xfrm>
            <a:off x="3295650" y="3218734"/>
            <a:ext cx="4171950" cy="6953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angle 5"/>
          <p:cNvSpPr/>
          <p:nvPr/>
        </p:nvSpPr>
        <p:spPr>
          <a:xfrm>
            <a:off x="1019040" y="4880128"/>
            <a:ext cx="9955574" cy="461665"/>
          </a:xfrm>
          <a:prstGeom prst="rect">
            <a:avLst/>
          </a:prstGeom>
        </p:spPr>
        <p:txBody>
          <a:bodyPr wrap="square">
            <a:spAutoFit/>
          </a:bodyPr>
          <a:lstStyle/>
          <a:p>
            <a:r>
              <a:rPr lang="en-US" sz="2400" dirty="0"/>
              <a:t>The above equation represents, </a:t>
            </a:r>
            <a:r>
              <a:rPr lang="en-US" sz="2400" u="sng" dirty="0">
                <a:solidFill>
                  <a:srgbClr val="FF0000"/>
                </a:solidFill>
              </a:rPr>
              <a:t>the force exerted by the body on the fluid</a:t>
            </a:r>
            <a:r>
              <a:rPr lang="en-US" sz="2400" dirty="0"/>
              <a:t>.</a:t>
            </a:r>
          </a:p>
        </p:txBody>
      </p:sp>
      <mc:AlternateContent xmlns:mc="http://schemas.openxmlformats.org/markup-compatibility/2006" xmlns:a14="http://schemas.microsoft.com/office/drawing/2010/main">
        <mc:Choice Requires="a14">
          <p:sp>
            <p:nvSpPr>
              <p:cNvPr id="7" name="TextBox 6"/>
              <p:cNvSpPr txBox="1"/>
              <p:nvPr/>
            </p:nvSpPr>
            <p:spPr>
              <a:xfrm>
                <a:off x="3691803" y="2551033"/>
                <a:ext cx="3379643" cy="369332"/>
              </a:xfrm>
              <a:prstGeom prst="rect">
                <a:avLst/>
              </a:prstGeom>
              <a:noFill/>
            </p:spPr>
            <p:txBody>
              <a:bodyPr wrap="none" lIns="0" tIns="0" rIns="0" bIns="0" rtlCol="0">
                <a:spAutoFit/>
              </a:bodyPr>
              <a:lstStyle/>
              <a:p>
                <a:r>
                  <a:rPr lang="en-US" sz="2400" b="1" dirty="0" smtClean="0">
                    <a:solidFill>
                      <a:srgbClr val="FF0000"/>
                    </a:solidFill>
                  </a:rPr>
                  <a:t>Impluse </a:t>
                </a:r>
                <a14:m>
                  <m:oMath xmlns:m="http://schemas.openxmlformats.org/officeDocument/2006/math">
                    <m:r>
                      <a:rPr lang="en-US" sz="2400" b="1" i="1" smtClean="0">
                        <a:solidFill>
                          <a:srgbClr val="FF0000"/>
                        </a:solidFill>
                        <a:latin typeface="Cambria Math" panose="02040503050406030204" pitchFamily="18" charset="0"/>
                      </a:rPr>
                      <m:t>=</m:t>
                    </m:r>
                    <m:r>
                      <a:rPr lang="en-US" sz="2400" b="1" i="1" smtClean="0">
                        <a:solidFill>
                          <a:srgbClr val="FF0000"/>
                        </a:solidFill>
                        <a:latin typeface="Cambria Math" panose="02040503050406030204" pitchFamily="18" charset="0"/>
                        <a:ea typeface="Cambria Math" panose="02040503050406030204" pitchFamily="18" charset="0"/>
                      </a:rPr>
                      <m:t>∆ </m:t>
                    </m:r>
                    <m:r>
                      <a:rPr lang="en-US" sz="2400" b="1" i="1" smtClean="0">
                        <a:solidFill>
                          <a:srgbClr val="FF0000"/>
                        </a:solidFill>
                        <a:latin typeface="Cambria Math" panose="02040503050406030204" pitchFamily="18" charset="0"/>
                        <a:ea typeface="Cambria Math" panose="02040503050406030204" pitchFamily="18" charset="0"/>
                      </a:rPr>
                      <m:t>𝒎𝒐𝒎𝒆𝒏𝒕𝒖𝒎</m:t>
                    </m:r>
                  </m:oMath>
                </a14:m>
                <a:endParaRPr lang="en-US" sz="2400" b="1" dirty="0">
                  <a:solidFill>
                    <a:srgbClr val="FF00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691803" y="2551033"/>
                <a:ext cx="3379643" cy="369332"/>
              </a:xfrm>
              <a:prstGeom prst="rect">
                <a:avLst/>
              </a:prstGeom>
              <a:blipFill rotWithShape="0">
                <a:blip r:embed="rId4"/>
                <a:stretch>
                  <a:fillRect l="-5596" t="-24590" r="-1805" b="-49180"/>
                </a:stretch>
              </a:blipFill>
            </p:spPr>
            <p:txBody>
              <a:bodyPr/>
              <a:lstStyle/>
              <a:p>
                <a:r>
                  <a:rPr lang="en-US">
                    <a:noFill/>
                  </a:rPr>
                  <a:t> </a:t>
                </a:r>
              </a:p>
            </p:txBody>
          </p:sp>
        </mc:Fallback>
      </mc:AlternateContent>
    </p:spTree>
    <p:extLst>
      <p:ext uri="{BB962C8B-B14F-4D97-AF65-F5344CB8AC3E}">
        <p14:creationId xmlns:p14="http://schemas.microsoft.com/office/powerpoint/2010/main" val="42807942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66704" y="653534"/>
            <a:ext cx="7171643" cy="523220"/>
          </a:xfrm>
          <a:prstGeom prst="rect">
            <a:avLst/>
          </a:prstGeom>
        </p:spPr>
        <p:txBody>
          <a:bodyPr wrap="none">
            <a:spAutoFit/>
          </a:bodyPr>
          <a:lstStyle/>
          <a:p>
            <a:r>
              <a:rPr lang="en-US" sz="2800" b="1" u="sng" dirty="0" smtClean="0">
                <a:solidFill>
                  <a:srgbClr val="FF0000"/>
                </a:solidFill>
                <a:latin typeface="+mj-lt"/>
                <a:cs typeface="Times New Roman" pitchFamily="18" charset="0"/>
              </a:rPr>
              <a:t>Comparison with Positive </a:t>
            </a:r>
            <a:r>
              <a:rPr lang="en-US" sz="2800" b="1" u="sng" dirty="0">
                <a:solidFill>
                  <a:srgbClr val="FF0000"/>
                </a:solidFill>
                <a:latin typeface="+mj-lt"/>
                <a:cs typeface="Times New Roman" pitchFamily="18" charset="0"/>
              </a:rPr>
              <a:t>displacement machines</a:t>
            </a:r>
            <a:endParaRPr lang="en-US" sz="2800" b="1" u="sng" dirty="0">
              <a:solidFill>
                <a:srgbClr val="FF0000"/>
              </a:solidFill>
              <a:latin typeface="+mj-lt"/>
            </a:endParaRPr>
          </a:p>
        </p:txBody>
      </p:sp>
      <p:sp>
        <p:nvSpPr>
          <p:cNvPr id="3" name="TextBox 2"/>
          <p:cNvSpPr txBox="1"/>
          <p:nvPr/>
        </p:nvSpPr>
        <p:spPr>
          <a:xfrm>
            <a:off x="0" y="1638300"/>
            <a:ext cx="12192000" cy="3416320"/>
          </a:xfrm>
          <a:prstGeom prst="rect">
            <a:avLst/>
          </a:prstGeom>
          <a:noFill/>
        </p:spPr>
        <p:txBody>
          <a:bodyPr wrap="square" rtlCol="0">
            <a:spAutoFit/>
          </a:bodyPr>
          <a:lstStyle/>
          <a:p>
            <a:pPr algn="just"/>
            <a:r>
              <a:rPr lang="en-US" sz="2400" b="1" u="sng" dirty="0">
                <a:solidFill>
                  <a:srgbClr val="FF0000"/>
                </a:solidFill>
                <a:latin typeface="+mj-lt"/>
                <a:cs typeface="Times New Roman" pitchFamily="18" charset="0"/>
              </a:rPr>
              <a:t>Positive displacement </a:t>
            </a:r>
            <a:r>
              <a:rPr lang="en-US" sz="2400" b="1" u="sng" dirty="0" smtClean="0">
                <a:solidFill>
                  <a:srgbClr val="FF0000"/>
                </a:solidFill>
                <a:latin typeface="+mj-lt"/>
                <a:cs typeface="Times New Roman" pitchFamily="18" charset="0"/>
              </a:rPr>
              <a:t>machines</a:t>
            </a:r>
          </a:p>
          <a:p>
            <a:pPr algn="just"/>
            <a:endParaRPr lang="en-US" sz="2400" u="sng" dirty="0" smtClean="0">
              <a:latin typeface="+mj-lt"/>
              <a:cs typeface="Times New Roman" pitchFamily="18" charset="0"/>
            </a:endParaRPr>
          </a:p>
          <a:p>
            <a:pPr algn="just">
              <a:buFont typeface="Arial" pitchFamily="34" charset="0"/>
              <a:buChar char="•"/>
            </a:pPr>
            <a:r>
              <a:rPr lang="en-US" sz="2400" dirty="0" smtClean="0">
                <a:latin typeface="+mj-lt"/>
                <a:cs typeface="Times New Roman" pitchFamily="18" charset="0"/>
              </a:rPr>
              <a:t>In these machines the fluid is directed into a closed volume.</a:t>
            </a:r>
          </a:p>
          <a:p>
            <a:pPr algn="just">
              <a:buFont typeface="Arial" pitchFamily="34" charset="0"/>
              <a:buChar char="•"/>
            </a:pPr>
            <a:r>
              <a:rPr lang="en-US" sz="2400" dirty="0" smtClean="0">
                <a:latin typeface="+mj-lt"/>
                <a:cs typeface="Times New Roman" pitchFamily="18" charset="0"/>
              </a:rPr>
              <a:t> Energy transfer to the fluid is accomplished by movement of the boundary of the closed volume </a:t>
            </a:r>
          </a:p>
          <a:p>
            <a:pPr algn="just"/>
            <a:r>
              <a:rPr lang="en-US" sz="2400" dirty="0">
                <a:latin typeface="+mj-lt"/>
                <a:cs typeface="Times New Roman" pitchFamily="18" charset="0"/>
              </a:rPr>
              <a:t> </a:t>
            </a:r>
            <a:r>
              <a:rPr lang="en-US" sz="2400" dirty="0" smtClean="0">
                <a:latin typeface="+mj-lt"/>
                <a:cs typeface="Times New Roman" pitchFamily="18" charset="0"/>
              </a:rPr>
              <a:t>  causing the volume to expand or contract .</a:t>
            </a:r>
          </a:p>
          <a:p>
            <a:pPr algn="just"/>
            <a:endParaRPr lang="en-US" sz="2400" dirty="0" smtClean="0">
              <a:latin typeface="+mj-lt"/>
              <a:cs typeface="Times New Roman" pitchFamily="18" charset="0"/>
            </a:endParaRPr>
          </a:p>
          <a:p>
            <a:pPr algn="just">
              <a:buFont typeface="Arial" pitchFamily="34" charset="0"/>
              <a:buChar char="•"/>
            </a:pPr>
            <a:r>
              <a:rPr lang="en-US" sz="2400" dirty="0" smtClean="0">
                <a:latin typeface="+mj-lt"/>
                <a:cs typeface="Times New Roman" pitchFamily="18" charset="0"/>
              </a:rPr>
              <a:t> Example: Reciprocating compressor, screw pump, gear pump etc.</a:t>
            </a:r>
          </a:p>
          <a:p>
            <a:pPr algn="just">
              <a:buFont typeface="Arial" pitchFamily="34" charset="0"/>
              <a:buChar char="•"/>
            </a:pPr>
            <a:r>
              <a:rPr lang="en-US" sz="2400" dirty="0" smtClean="0">
                <a:latin typeface="+mj-lt"/>
                <a:cs typeface="Times New Roman" pitchFamily="18" charset="0"/>
              </a:rPr>
              <a:t> Heart is a good example of positive displacement pump.</a:t>
            </a:r>
          </a:p>
          <a:p>
            <a:pPr algn="just">
              <a:buFont typeface="Arial" pitchFamily="34" charset="0"/>
              <a:buChar char="•"/>
            </a:pPr>
            <a:r>
              <a:rPr lang="en-US" sz="2400" dirty="0" smtClean="0">
                <a:latin typeface="+mj-lt"/>
                <a:cs typeface="Times New Roman" pitchFamily="18" charset="0"/>
              </a:rPr>
              <a:t> Water meter is example of positive displacement  turbine.</a:t>
            </a:r>
            <a:endParaRPr lang="en-US" sz="2400" dirty="0">
              <a:latin typeface="+mj-lt"/>
              <a:cs typeface="Times New Roman" pitchFamily="18" charset="0"/>
            </a:endParaRPr>
          </a:p>
        </p:txBody>
      </p:sp>
      <p:pic>
        <p:nvPicPr>
          <p:cNvPr id="5" name="Picture 4"/>
          <p:cNvPicPr>
            <a:picLocks noChangeAspect="1"/>
          </p:cNvPicPr>
          <p:nvPr/>
        </p:nvPicPr>
        <p:blipFill>
          <a:blip r:embed="rId2"/>
          <a:stretch>
            <a:fillRect/>
          </a:stretch>
        </p:blipFill>
        <p:spPr>
          <a:xfrm>
            <a:off x="8667750" y="3887391"/>
            <a:ext cx="2971800" cy="1628775"/>
          </a:xfrm>
          <a:prstGeom prst="rect">
            <a:avLst/>
          </a:prstGeom>
          <a:ln>
            <a:solidFill>
              <a:srgbClr val="C00000"/>
            </a:solidFill>
          </a:ln>
          <a:effectLst>
            <a:outerShdw blurRad="50800" dist="38100" dir="2700000" algn="tl" rotWithShape="0">
              <a:prstClr val="black">
                <a:alpha val="40000"/>
              </a:prstClr>
            </a:outerShdw>
          </a:effectLst>
        </p:spPr>
      </p:pic>
      <p:sp>
        <p:nvSpPr>
          <p:cNvPr id="6" name="TextBox 5"/>
          <p:cNvSpPr txBox="1"/>
          <p:nvPr/>
        </p:nvSpPr>
        <p:spPr>
          <a:xfrm>
            <a:off x="8991600" y="5810250"/>
            <a:ext cx="2857500" cy="369332"/>
          </a:xfrm>
          <a:prstGeom prst="rect">
            <a:avLst/>
          </a:prstGeom>
          <a:noFill/>
        </p:spPr>
        <p:txBody>
          <a:bodyPr wrap="square" rtlCol="0">
            <a:spAutoFit/>
          </a:bodyPr>
          <a:lstStyle/>
          <a:p>
            <a:r>
              <a:rPr lang="en-US" dirty="0">
                <a:cs typeface="Times New Roman" pitchFamily="18" charset="0"/>
              </a:rPr>
              <a:t>Reciprocating compressor</a:t>
            </a:r>
            <a:endParaRPr lang="en-US" dirty="0"/>
          </a:p>
        </p:txBody>
      </p:sp>
    </p:spTree>
    <p:extLst>
      <p:ext uri="{BB962C8B-B14F-4D97-AF65-F5344CB8AC3E}">
        <p14:creationId xmlns:p14="http://schemas.microsoft.com/office/powerpoint/2010/main" val="12119254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66704" y="653534"/>
            <a:ext cx="7171643" cy="523220"/>
          </a:xfrm>
          <a:prstGeom prst="rect">
            <a:avLst/>
          </a:prstGeom>
        </p:spPr>
        <p:txBody>
          <a:bodyPr wrap="none">
            <a:spAutoFit/>
          </a:bodyPr>
          <a:lstStyle/>
          <a:p>
            <a:r>
              <a:rPr lang="en-US" sz="2800" b="1" u="sng" dirty="0" smtClean="0">
                <a:solidFill>
                  <a:srgbClr val="FF0000"/>
                </a:solidFill>
                <a:latin typeface="+mj-lt"/>
                <a:cs typeface="Times New Roman" pitchFamily="18" charset="0"/>
              </a:rPr>
              <a:t>Comparison with Positive </a:t>
            </a:r>
            <a:r>
              <a:rPr lang="en-US" sz="2800" b="1" u="sng" dirty="0">
                <a:solidFill>
                  <a:srgbClr val="FF0000"/>
                </a:solidFill>
                <a:latin typeface="+mj-lt"/>
                <a:cs typeface="Times New Roman" pitchFamily="18" charset="0"/>
              </a:rPr>
              <a:t>displacement machines</a:t>
            </a:r>
            <a:endParaRPr lang="en-US" sz="2800" b="1" u="sng" dirty="0">
              <a:solidFill>
                <a:srgbClr val="FF0000"/>
              </a:solidFill>
              <a:latin typeface="+mj-lt"/>
            </a:endParaRPr>
          </a:p>
        </p:txBody>
      </p:sp>
      <p:sp>
        <p:nvSpPr>
          <p:cNvPr id="3" name="TextBox 2"/>
          <p:cNvSpPr txBox="1"/>
          <p:nvPr/>
        </p:nvSpPr>
        <p:spPr>
          <a:xfrm>
            <a:off x="0" y="1409700"/>
            <a:ext cx="12192000" cy="5262979"/>
          </a:xfrm>
          <a:prstGeom prst="rect">
            <a:avLst/>
          </a:prstGeom>
          <a:noFill/>
        </p:spPr>
        <p:txBody>
          <a:bodyPr wrap="square" rtlCol="0">
            <a:spAutoFit/>
          </a:bodyPr>
          <a:lstStyle/>
          <a:p>
            <a:pPr algn="just">
              <a:buNone/>
            </a:pPr>
            <a:r>
              <a:rPr lang="en-US" sz="2400" b="1" u="sng" dirty="0">
                <a:solidFill>
                  <a:srgbClr val="FF0000"/>
                </a:solidFill>
                <a:latin typeface="+mj-lt"/>
                <a:cs typeface="Times New Roman" pitchFamily="18" charset="0"/>
              </a:rPr>
              <a:t>Action</a:t>
            </a:r>
          </a:p>
          <a:p>
            <a:pPr algn="just"/>
            <a:r>
              <a:rPr lang="en-US" sz="2400" dirty="0">
                <a:latin typeface="+mj-lt"/>
                <a:cs typeface="Times New Roman" pitchFamily="18" charset="0"/>
              </a:rPr>
              <a:t> </a:t>
            </a:r>
            <a:r>
              <a:rPr lang="en-US" sz="2400" b="1" i="1" dirty="0">
                <a:latin typeface="+mj-lt"/>
                <a:cs typeface="Times New Roman" pitchFamily="18" charset="0"/>
              </a:rPr>
              <a:t>Positive displacement machines </a:t>
            </a:r>
            <a:r>
              <a:rPr lang="en-US" sz="2400" dirty="0">
                <a:latin typeface="+mj-lt"/>
                <a:cs typeface="Times New Roman" pitchFamily="18" charset="0"/>
              </a:rPr>
              <a:t>creates thermodynamic and mechanical action between a near-static fluid and relatively slow moving surface, causing change in volume or displacement of the fluid.</a:t>
            </a:r>
          </a:p>
          <a:p>
            <a:pPr algn="just"/>
            <a:r>
              <a:rPr lang="en-US" sz="2400" b="1" i="1" dirty="0">
                <a:latin typeface="+mj-lt"/>
                <a:cs typeface="Times New Roman" pitchFamily="18" charset="0"/>
              </a:rPr>
              <a:t>Turbo machines</a:t>
            </a:r>
            <a:r>
              <a:rPr lang="en-US" sz="2400" i="1" dirty="0">
                <a:latin typeface="+mj-lt"/>
                <a:cs typeface="Times New Roman" pitchFamily="18" charset="0"/>
              </a:rPr>
              <a:t> </a:t>
            </a:r>
            <a:r>
              <a:rPr lang="en-US" sz="2400" dirty="0">
                <a:latin typeface="+mj-lt"/>
                <a:cs typeface="Times New Roman" pitchFamily="18" charset="0"/>
              </a:rPr>
              <a:t>creates thermodynamic and dynamic action between a flowing fluid and a rotating element and involves energy transfer with pressure and momentum changes</a:t>
            </a:r>
            <a:r>
              <a:rPr lang="en-US" sz="2400" dirty="0" smtClean="0">
                <a:latin typeface="+mj-lt"/>
                <a:cs typeface="Times New Roman" pitchFamily="18" charset="0"/>
              </a:rPr>
              <a:t>.</a:t>
            </a:r>
          </a:p>
          <a:p>
            <a:pPr algn="just"/>
            <a:endParaRPr lang="en-US" sz="2400" dirty="0">
              <a:latin typeface="+mj-lt"/>
              <a:cs typeface="Times New Roman" pitchFamily="18" charset="0"/>
            </a:endParaRPr>
          </a:p>
          <a:p>
            <a:pPr algn="just">
              <a:buNone/>
            </a:pPr>
            <a:r>
              <a:rPr lang="en-US" sz="2400" b="1" u="sng" dirty="0">
                <a:solidFill>
                  <a:srgbClr val="FF0000"/>
                </a:solidFill>
                <a:latin typeface="+mj-lt"/>
                <a:cs typeface="Times New Roman" pitchFamily="18" charset="0"/>
              </a:rPr>
              <a:t>Operation </a:t>
            </a:r>
          </a:p>
          <a:p>
            <a:pPr algn="just"/>
            <a:r>
              <a:rPr lang="en-US" sz="2400" b="1" i="1" dirty="0" smtClean="0">
                <a:latin typeface="+mj-lt"/>
                <a:cs typeface="Times New Roman" pitchFamily="18" charset="0"/>
              </a:rPr>
              <a:t>Positive </a:t>
            </a:r>
            <a:r>
              <a:rPr lang="en-US" sz="2400" b="1" i="1" dirty="0">
                <a:latin typeface="+mj-lt"/>
                <a:cs typeface="Times New Roman" pitchFamily="18" charset="0"/>
              </a:rPr>
              <a:t>displacement machines </a:t>
            </a:r>
            <a:r>
              <a:rPr lang="en-US" sz="2400" dirty="0">
                <a:latin typeface="+mj-lt"/>
                <a:cs typeface="Times New Roman" pitchFamily="18" charset="0"/>
              </a:rPr>
              <a:t>generally involves a reciprocating motion and unsteady fluid </a:t>
            </a:r>
            <a:r>
              <a:rPr lang="en-US" sz="2400" dirty="0" smtClean="0">
                <a:latin typeface="+mj-lt"/>
                <a:cs typeface="Times New Roman" pitchFamily="18" charset="0"/>
              </a:rPr>
              <a:t>flow. Example </a:t>
            </a:r>
            <a:r>
              <a:rPr lang="en-US" sz="2400" dirty="0">
                <a:latin typeface="+mj-lt"/>
                <a:cs typeface="Times New Roman" pitchFamily="18" charset="0"/>
              </a:rPr>
              <a:t>of positive displacement machines with rotating motion are gear pump and  screw pump</a:t>
            </a:r>
            <a:r>
              <a:rPr lang="en-US" sz="2400" dirty="0" smtClean="0">
                <a:latin typeface="+mj-lt"/>
                <a:cs typeface="Times New Roman" pitchFamily="18" charset="0"/>
              </a:rPr>
              <a:t>.</a:t>
            </a:r>
          </a:p>
          <a:p>
            <a:pPr algn="just"/>
            <a:endParaRPr lang="en-US" sz="2400" dirty="0">
              <a:latin typeface="+mj-lt"/>
              <a:cs typeface="Times New Roman" pitchFamily="18" charset="0"/>
            </a:endParaRPr>
          </a:p>
          <a:p>
            <a:pPr algn="just"/>
            <a:r>
              <a:rPr lang="en-US" sz="2400" b="1" i="1" dirty="0" smtClean="0">
                <a:latin typeface="+mj-lt"/>
                <a:cs typeface="Times New Roman" pitchFamily="18" charset="0"/>
              </a:rPr>
              <a:t>Turbo </a:t>
            </a:r>
            <a:r>
              <a:rPr lang="en-US" sz="2400" b="1" i="1" dirty="0">
                <a:latin typeface="+mj-lt"/>
                <a:cs typeface="Times New Roman" pitchFamily="18" charset="0"/>
              </a:rPr>
              <a:t>machines</a:t>
            </a:r>
            <a:r>
              <a:rPr lang="en-US" sz="2400" i="1" dirty="0">
                <a:latin typeface="+mj-lt"/>
                <a:cs typeface="Times New Roman" pitchFamily="18" charset="0"/>
              </a:rPr>
              <a:t>  </a:t>
            </a:r>
            <a:r>
              <a:rPr lang="en-US" sz="2400" dirty="0">
                <a:latin typeface="+mj-lt"/>
                <a:cs typeface="Times New Roman" pitchFamily="18" charset="0"/>
              </a:rPr>
              <a:t>involves</a:t>
            </a:r>
            <a:r>
              <a:rPr lang="en-US" sz="2400" i="1" dirty="0">
                <a:latin typeface="+mj-lt"/>
                <a:cs typeface="Times New Roman" pitchFamily="18" charset="0"/>
              </a:rPr>
              <a:t> </a:t>
            </a:r>
            <a:r>
              <a:rPr lang="en-US" sz="2400" dirty="0">
                <a:latin typeface="+mj-lt"/>
                <a:cs typeface="Times New Roman" pitchFamily="18" charset="0"/>
              </a:rPr>
              <a:t>steady flow of fluid and pure rotary motion of mechanical element.</a:t>
            </a:r>
          </a:p>
          <a:p>
            <a:pPr algn="just">
              <a:buNone/>
            </a:pPr>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5928256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3163766283"/>
              </p:ext>
            </p:extLst>
          </p:nvPr>
        </p:nvGraphicFramePr>
        <p:xfrm>
          <a:off x="1695450" y="218660"/>
          <a:ext cx="10172700" cy="5842847"/>
        </p:xfrm>
        <a:graphic>
          <a:graphicData uri="http://schemas.openxmlformats.org/drawingml/2006/table">
            <a:tbl>
              <a:tblPr firstRow="1" bandRow="1">
                <a:tableStyleId>{2D5ABB26-0587-4C30-8999-92F81FD0307C}</a:tableStyleId>
              </a:tblPr>
              <a:tblGrid>
                <a:gridCol w="954450">
                  <a:extLst>
                    <a:ext uri="{9D8B030D-6E8A-4147-A177-3AD203B41FA5}">
                      <a16:colId xmlns:a16="http://schemas.microsoft.com/office/drawing/2014/main" val="20000"/>
                    </a:ext>
                  </a:extLst>
                </a:gridCol>
                <a:gridCol w="1412364">
                  <a:extLst>
                    <a:ext uri="{9D8B030D-6E8A-4147-A177-3AD203B41FA5}">
                      <a16:colId xmlns:a16="http://schemas.microsoft.com/office/drawing/2014/main" val="20001"/>
                    </a:ext>
                  </a:extLst>
                </a:gridCol>
                <a:gridCol w="3619183">
                  <a:extLst>
                    <a:ext uri="{9D8B030D-6E8A-4147-A177-3AD203B41FA5}">
                      <a16:colId xmlns:a16="http://schemas.microsoft.com/office/drawing/2014/main" val="20002"/>
                    </a:ext>
                  </a:extLst>
                </a:gridCol>
                <a:gridCol w="4186703">
                  <a:extLst>
                    <a:ext uri="{9D8B030D-6E8A-4147-A177-3AD203B41FA5}">
                      <a16:colId xmlns:a16="http://schemas.microsoft.com/office/drawing/2014/main" val="20003"/>
                    </a:ext>
                  </a:extLst>
                </a:gridCol>
              </a:tblGrid>
              <a:tr h="619961">
                <a:tc>
                  <a:txBody>
                    <a:bodyPr/>
                    <a:lstStyle/>
                    <a:p>
                      <a:pPr marL="165100">
                        <a:lnSpc>
                          <a:spcPct val="100000"/>
                        </a:lnSpc>
                        <a:spcBef>
                          <a:spcPts val="265"/>
                        </a:spcBef>
                      </a:pPr>
                      <a:r>
                        <a:rPr sz="2000" b="1" spc="-5" dirty="0" smtClean="0">
                          <a:latin typeface="+mj-lt"/>
                          <a:cs typeface="Comic Sans MS"/>
                        </a:rPr>
                        <a:t>S</a:t>
                      </a:r>
                      <a:r>
                        <a:rPr lang="en-US" sz="2000" b="1" spc="-5" dirty="0" smtClean="0">
                          <a:latin typeface="+mj-lt"/>
                          <a:cs typeface="Comic Sans MS"/>
                        </a:rPr>
                        <a:t>r</a:t>
                      </a:r>
                      <a:r>
                        <a:rPr sz="2000" b="1" spc="-5" dirty="0" smtClean="0">
                          <a:latin typeface="+mj-lt"/>
                          <a:cs typeface="Comic Sans MS"/>
                        </a:rPr>
                        <a:t>.</a:t>
                      </a:r>
                      <a:endParaRPr sz="2000" b="1" dirty="0">
                        <a:latin typeface="+mj-lt"/>
                        <a:cs typeface="Comic Sans MS"/>
                      </a:endParaRPr>
                    </a:p>
                    <a:p>
                      <a:pPr marL="122555">
                        <a:lnSpc>
                          <a:spcPct val="100000"/>
                        </a:lnSpc>
                      </a:pPr>
                      <a:r>
                        <a:rPr sz="2000" b="1" dirty="0">
                          <a:latin typeface="+mj-lt"/>
                          <a:cs typeface="Comic Sans MS"/>
                        </a:rPr>
                        <a:t>No.</a:t>
                      </a: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160" algn="ctr">
                        <a:lnSpc>
                          <a:spcPct val="100000"/>
                        </a:lnSpc>
                        <a:spcBef>
                          <a:spcPts val="1345"/>
                        </a:spcBef>
                      </a:pPr>
                      <a:r>
                        <a:rPr sz="2000" b="1" spc="-5" dirty="0">
                          <a:latin typeface="+mj-lt"/>
                          <a:cs typeface="Comic Sans MS"/>
                        </a:rPr>
                        <a:t>Aspects</a:t>
                      </a:r>
                      <a:endParaRPr sz="2000" b="1" dirty="0">
                        <a:latin typeface="+mj-lt"/>
                        <a:cs typeface="Comic Sans MS"/>
                      </a:endParaRPr>
                    </a:p>
                  </a:txBody>
                  <a:tcPr marL="0" marR="0" marT="170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0" algn="ctr">
                        <a:lnSpc>
                          <a:spcPct val="100000"/>
                        </a:lnSpc>
                        <a:spcBef>
                          <a:spcPts val="265"/>
                        </a:spcBef>
                      </a:pPr>
                      <a:r>
                        <a:rPr sz="2000" b="1" dirty="0">
                          <a:latin typeface="+mj-lt"/>
                          <a:cs typeface="Comic Sans MS"/>
                        </a:rPr>
                        <a:t>Positive</a:t>
                      </a:r>
                      <a:r>
                        <a:rPr sz="2000" b="1" spc="-30" dirty="0">
                          <a:latin typeface="+mj-lt"/>
                          <a:cs typeface="Comic Sans MS"/>
                        </a:rPr>
                        <a:t> </a:t>
                      </a:r>
                      <a:r>
                        <a:rPr sz="2000" b="1" spc="-5" dirty="0">
                          <a:latin typeface="+mj-lt"/>
                          <a:cs typeface="Comic Sans MS"/>
                        </a:rPr>
                        <a:t>displacement</a:t>
                      </a:r>
                      <a:endParaRPr sz="2000" b="1" dirty="0">
                        <a:latin typeface="+mj-lt"/>
                        <a:cs typeface="Comic Sans MS"/>
                      </a:endParaRPr>
                    </a:p>
                    <a:p>
                      <a:pPr marL="12700" algn="ctr">
                        <a:lnSpc>
                          <a:spcPct val="100000"/>
                        </a:lnSpc>
                      </a:pPr>
                      <a:r>
                        <a:rPr sz="2000" b="1" spc="-5" dirty="0">
                          <a:latin typeface="+mj-lt"/>
                          <a:cs typeface="Comic Sans MS"/>
                        </a:rPr>
                        <a:t>machines</a:t>
                      </a:r>
                      <a:endParaRPr sz="2000" b="1" dirty="0">
                        <a:latin typeface="+mj-lt"/>
                        <a:cs typeface="Comic Sans MS"/>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94105">
                        <a:lnSpc>
                          <a:spcPct val="100000"/>
                        </a:lnSpc>
                        <a:spcBef>
                          <a:spcPts val="1345"/>
                        </a:spcBef>
                      </a:pPr>
                      <a:r>
                        <a:rPr sz="2000" b="1" spc="-5" dirty="0">
                          <a:latin typeface="+mj-lt"/>
                          <a:cs typeface="Comic Sans MS"/>
                        </a:rPr>
                        <a:t>Turbomachines</a:t>
                      </a:r>
                      <a:endParaRPr sz="2000" b="1" dirty="0">
                        <a:latin typeface="+mj-lt"/>
                        <a:cs typeface="Comic Sans MS"/>
                      </a:endParaRPr>
                    </a:p>
                  </a:txBody>
                  <a:tcPr marL="0" marR="0" marT="170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938831">
                <a:tc>
                  <a:txBody>
                    <a:bodyPr/>
                    <a:lstStyle/>
                    <a:p>
                      <a:pPr marL="12065" algn="ctr">
                        <a:lnSpc>
                          <a:spcPct val="100000"/>
                        </a:lnSpc>
                        <a:spcBef>
                          <a:spcPts val="265"/>
                        </a:spcBef>
                      </a:pPr>
                      <a:r>
                        <a:rPr sz="2000" b="0" dirty="0">
                          <a:solidFill>
                            <a:srgbClr val="3333FF"/>
                          </a:solidFill>
                          <a:latin typeface="+mj-lt"/>
                          <a:cs typeface="Comic Sans MS"/>
                        </a:rPr>
                        <a:t>1</a:t>
                      </a:r>
                      <a:endParaRPr sz="2000" b="0">
                        <a:latin typeface="+mj-lt"/>
                        <a:cs typeface="Comic Sans MS"/>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525" algn="ctr">
                        <a:lnSpc>
                          <a:spcPct val="100000"/>
                        </a:lnSpc>
                        <a:spcBef>
                          <a:spcPts val="265"/>
                        </a:spcBef>
                      </a:pPr>
                      <a:r>
                        <a:rPr sz="2000" b="0" spc="-5" dirty="0">
                          <a:solidFill>
                            <a:srgbClr val="3333FF"/>
                          </a:solidFill>
                          <a:latin typeface="+mj-lt"/>
                          <a:cs typeface="Comic Sans MS"/>
                        </a:rPr>
                        <a:t>Action</a:t>
                      </a:r>
                      <a:endParaRPr sz="2000" b="0" dirty="0">
                        <a:latin typeface="+mj-lt"/>
                        <a:cs typeface="Comic Sans MS"/>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155" marR="76835" algn="just">
                        <a:lnSpc>
                          <a:spcPct val="100000"/>
                        </a:lnSpc>
                        <a:spcBef>
                          <a:spcPts val="265"/>
                        </a:spcBef>
                      </a:pPr>
                      <a:r>
                        <a:rPr sz="2000" b="0" spc="-5" dirty="0">
                          <a:solidFill>
                            <a:srgbClr val="3333FF"/>
                          </a:solidFill>
                          <a:latin typeface="+mj-lt"/>
                          <a:cs typeface="Comic Sans MS"/>
                        </a:rPr>
                        <a:t>Involves thermodynamic  </a:t>
                      </a:r>
                      <a:r>
                        <a:rPr sz="2000" b="0" dirty="0">
                          <a:solidFill>
                            <a:srgbClr val="3333FF"/>
                          </a:solidFill>
                          <a:latin typeface="+mj-lt"/>
                          <a:cs typeface="Comic Sans MS"/>
                        </a:rPr>
                        <a:t>and </a:t>
                      </a:r>
                      <a:r>
                        <a:rPr sz="2000" b="0" spc="-5" dirty="0">
                          <a:solidFill>
                            <a:srgbClr val="3333FF"/>
                          </a:solidFill>
                          <a:latin typeface="+mj-lt"/>
                          <a:cs typeface="Comic Sans MS"/>
                        </a:rPr>
                        <a:t>mechanical action  between nearly </a:t>
                      </a:r>
                      <a:r>
                        <a:rPr sz="2000" b="0" dirty="0">
                          <a:solidFill>
                            <a:srgbClr val="3333FF"/>
                          </a:solidFill>
                          <a:latin typeface="+mj-lt"/>
                          <a:cs typeface="Comic Sans MS"/>
                        </a:rPr>
                        <a:t>static  </a:t>
                      </a:r>
                      <a:r>
                        <a:rPr sz="2000" b="0" spc="-5" dirty="0">
                          <a:solidFill>
                            <a:srgbClr val="3333FF"/>
                          </a:solidFill>
                          <a:latin typeface="+mj-lt"/>
                          <a:cs typeface="Comic Sans MS"/>
                        </a:rPr>
                        <a:t>fluid </a:t>
                      </a:r>
                      <a:r>
                        <a:rPr sz="2000" b="0" dirty="0">
                          <a:solidFill>
                            <a:srgbClr val="3333FF"/>
                          </a:solidFill>
                          <a:latin typeface="+mj-lt"/>
                          <a:cs typeface="Comic Sans MS"/>
                        </a:rPr>
                        <a:t>and slow </a:t>
                      </a:r>
                      <a:r>
                        <a:rPr sz="2000" b="0" spc="-5" dirty="0">
                          <a:solidFill>
                            <a:srgbClr val="3333FF"/>
                          </a:solidFill>
                          <a:latin typeface="+mj-lt"/>
                          <a:cs typeface="Comic Sans MS"/>
                        </a:rPr>
                        <a:t>moving  surface, volume change  causes </a:t>
                      </a:r>
                      <a:r>
                        <a:rPr sz="2000" b="0" dirty="0">
                          <a:solidFill>
                            <a:srgbClr val="3333FF"/>
                          </a:solidFill>
                          <a:latin typeface="+mj-lt"/>
                          <a:cs typeface="Comic Sans MS"/>
                        </a:rPr>
                        <a:t>pressure</a:t>
                      </a:r>
                      <a:r>
                        <a:rPr sz="2000" b="0" spc="-25" dirty="0">
                          <a:solidFill>
                            <a:srgbClr val="3333FF"/>
                          </a:solidFill>
                          <a:latin typeface="+mj-lt"/>
                          <a:cs typeface="Comic Sans MS"/>
                        </a:rPr>
                        <a:t> </a:t>
                      </a:r>
                      <a:r>
                        <a:rPr sz="2000" b="0" dirty="0">
                          <a:solidFill>
                            <a:srgbClr val="3333FF"/>
                          </a:solidFill>
                          <a:latin typeface="+mj-lt"/>
                          <a:cs typeface="Comic Sans MS"/>
                        </a:rPr>
                        <a:t>change</a:t>
                      </a:r>
                      <a:endParaRPr sz="2000" b="0" dirty="0">
                        <a:latin typeface="+mj-lt"/>
                        <a:cs typeface="Comic Sans MS"/>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790" marR="75565" algn="just">
                        <a:lnSpc>
                          <a:spcPct val="100000"/>
                        </a:lnSpc>
                        <a:spcBef>
                          <a:spcPts val="265"/>
                        </a:spcBef>
                      </a:pPr>
                      <a:r>
                        <a:rPr sz="2000" b="0" spc="-5" dirty="0">
                          <a:solidFill>
                            <a:srgbClr val="3333FF"/>
                          </a:solidFill>
                          <a:latin typeface="+mj-lt"/>
                          <a:cs typeface="Comic Sans MS"/>
                        </a:rPr>
                        <a:t>Involves thermodynamic </a:t>
                      </a:r>
                      <a:r>
                        <a:rPr sz="2000" b="0" dirty="0">
                          <a:solidFill>
                            <a:srgbClr val="3333FF"/>
                          </a:solidFill>
                          <a:latin typeface="+mj-lt"/>
                          <a:cs typeface="Comic Sans MS"/>
                        </a:rPr>
                        <a:t>and  </a:t>
                      </a:r>
                      <a:r>
                        <a:rPr sz="2000" b="0" spc="-5" dirty="0">
                          <a:solidFill>
                            <a:srgbClr val="3333FF"/>
                          </a:solidFill>
                          <a:latin typeface="+mj-lt"/>
                          <a:cs typeface="Comic Sans MS"/>
                        </a:rPr>
                        <a:t>dynamic action between </a:t>
                      </a:r>
                      <a:r>
                        <a:rPr sz="2000" b="0" dirty="0">
                          <a:solidFill>
                            <a:srgbClr val="3333FF"/>
                          </a:solidFill>
                          <a:latin typeface="+mj-lt"/>
                          <a:cs typeface="Comic Sans MS"/>
                        </a:rPr>
                        <a:t>a  </a:t>
                      </a:r>
                      <a:r>
                        <a:rPr sz="2000" b="0" spc="-5" dirty="0">
                          <a:solidFill>
                            <a:srgbClr val="3333FF"/>
                          </a:solidFill>
                          <a:latin typeface="+mj-lt"/>
                          <a:cs typeface="Comic Sans MS"/>
                        </a:rPr>
                        <a:t>continuously flowing </a:t>
                      </a:r>
                      <a:r>
                        <a:rPr sz="2000" b="0" spc="-10" dirty="0">
                          <a:solidFill>
                            <a:srgbClr val="3333FF"/>
                          </a:solidFill>
                          <a:latin typeface="+mj-lt"/>
                          <a:cs typeface="Comic Sans MS"/>
                        </a:rPr>
                        <a:t>fluid </a:t>
                      </a:r>
                      <a:r>
                        <a:rPr sz="2000" b="0" spc="-5" dirty="0">
                          <a:solidFill>
                            <a:srgbClr val="3333FF"/>
                          </a:solidFill>
                          <a:latin typeface="+mj-lt"/>
                          <a:cs typeface="Comic Sans MS"/>
                        </a:rPr>
                        <a:t>and </a:t>
                      </a:r>
                      <a:r>
                        <a:rPr sz="2000" b="0" dirty="0">
                          <a:solidFill>
                            <a:srgbClr val="3333FF"/>
                          </a:solidFill>
                          <a:latin typeface="+mj-lt"/>
                          <a:cs typeface="Comic Sans MS"/>
                        </a:rPr>
                        <a:t>a  </a:t>
                      </a:r>
                      <a:r>
                        <a:rPr sz="2000" b="0" spc="-5" dirty="0">
                          <a:solidFill>
                            <a:srgbClr val="3333FF"/>
                          </a:solidFill>
                          <a:latin typeface="+mj-lt"/>
                          <a:cs typeface="Comic Sans MS"/>
                        </a:rPr>
                        <a:t>rotating element. </a:t>
                      </a:r>
                      <a:r>
                        <a:rPr sz="2000" b="0" dirty="0">
                          <a:solidFill>
                            <a:srgbClr val="3333FF"/>
                          </a:solidFill>
                          <a:latin typeface="+mj-lt"/>
                          <a:cs typeface="Comic Sans MS"/>
                        </a:rPr>
                        <a:t>The </a:t>
                      </a:r>
                      <a:r>
                        <a:rPr sz="2000" b="0" spc="-5" dirty="0">
                          <a:solidFill>
                            <a:srgbClr val="3333FF"/>
                          </a:solidFill>
                          <a:latin typeface="+mj-lt"/>
                          <a:cs typeface="Comic Sans MS"/>
                        </a:rPr>
                        <a:t>pressure  change occurs primarily </a:t>
                      </a:r>
                      <a:r>
                        <a:rPr sz="2000" b="0" dirty="0">
                          <a:solidFill>
                            <a:srgbClr val="3333FF"/>
                          </a:solidFill>
                          <a:latin typeface="+mj-lt"/>
                          <a:cs typeface="Comic Sans MS"/>
                        </a:rPr>
                        <a:t>by  means of </a:t>
                      </a:r>
                      <a:r>
                        <a:rPr sz="2000" b="0" spc="-5" dirty="0">
                          <a:solidFill>
                            <a:srgbClr val="3333FF"/>
                          </a:solidFill>
                          <a:latin typeface="+mj-lt"/>
                          <a:cs typeface="Comic Sans MS"/>
                        </a:rPr>
                        <a:t>dynamic action </a:t>
                      </a:r>
                      <a:r>
                        <a:rPr sz="2000" b="0" dirty="0">
                          <a:solidFill>
                            <a:srgbClr val="3333FF"/>
                          </a:solidFill>
                          <a:latin typeface="+mj-lt"/>
                          <a:cs typeface="Comic Sans MS"/>
                        </a:rPr>
                        <a:t>of a  </a:t>
                      </a:r>
                      <a:r>
                        <a:rPr sz="2000" b="0" spc="-5" dirty="0">
                          <a:solidFill>
                            <a:srgbClr val="3333FF"/>
                          </a:solidFill>
                          <a:latin typeface="+mj-lt"/>
                          <a:cs typeface="Comic Sans MS"/>
                        </a:rPr>
                        <a:t>rotating</a:t>
                      </a:r>
                      <a:r>
                        <a:rPr sz="2000" b="0" spc="-25" dirty="0">
                          <a:solidFill>
                            <a:srgbClr val="3333FF"/>
                          </a:solidFill>
                          <a:latin typeface="+mj-lt"/>
                          <a:cs typeface="Comic Sans MS"/>
                        </a:rPr>
                        <a:t> </a:t>
                      </a:r>
                      <a:r>
                        <a:rPr sz="2000" b="0" spc="-5" dirty="0">
                          <a:solidFill>
                            <a:srgbClr val="3333FF"/>
                          </a:solidFill>
                          <a:latin typeface="+mj-lt"/>
                          <a:cs typeface="Comic Sans MS"/>
                        </a:rPr>
                        <a:t>element.</a:t>
                      </a:r>
                      <a:endParaRPr sz="2000" b="0" dirty="0">
                        <a:latin typeface="+mj-lt"/>
                        <a:cs typeface="Comic Sans MS"/>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260761">
                <a:tc>
                  <a:txBody>
                    <a:bodyPr/>
                    <a:lstStyle/>
                    <a:p>
                      <a:pPr marL="12065" algn="ctr">
                        <a:lnSpc>
                          <a:spcPct val="100000"/>
                        </a:lnSpc>
                        <a:spcBef>
                          <a:spcPts val="270"/>
                        </a:spcBef>
                      </a:pPr>
                      <a:r>
                        <a:rPr sz="2000" b="0" dirty="0">
                          <a:solidFill>
                            <a:srgbClr val="CC3300"/>
                          </a:solidFill>
                          <a:latin typeface="+mj-lt"/>
                          <a:cs typeface="Comic Sans MS"/>
                        </a:rPr>
                        <a:t>2</a:t>
                      </a:r>
                      <a:endParaRPr sz="2000" b="0" dirty="0">
                        <a:latin typeface="+mj-lt"/>
                        <a:cs typeface="Comic Sans MS"/>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525" algn="ctr">
                        <a:lnSpc>
                          <a:spcPct val="100000"/>
                        </a:lnSpc>
                        <a:spcBef>
                          <a:spcPts val="270"/>
                        </a:spcBef>
                      </a:pPr>
                      <a:r>
                        <a:rPr sz="2000" b="0" spc="-5" dirty="0">
                          <a:solidFill>
                            <a:srgbClr val="CC3300"/>
                          </a:solidFill>
                          <a:latin typeface="+mj-lt"/>
                          <a:cs typeface="Comic Sans MS"/>
                        </a:rPr>
                        <a:t>Operation</a:t>
                      </a:r>
                      <a:endParaRPr sz="2000" b="0" dirty="0">
                        <a:latin typeface="+mj-lt"/>
                        <a:cs typeface="Comic Sans MS"/>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155" marR="76835" algn="just">
                        <a:lnSpc>
                          <a:spcPct val="100000"/>
                        </a:lnSpc>
                        <a:spcBef>
                          <a:spcPts val="270"/>
                        </a:spcBef>
                      </a:pPr>
                      <a:r>
                        <a:rPr sz="2000" b="0" spc="-5" dirty="0">
                          <a:solidFill>
                            <a:srgbClr val="CC3300"/>
                          </a:solidFill>
                          <a:latin typeface="+mj-lt"/>
                          <a:cs typeface="Comic Sans MS"/>
                        </a:rPr>
                        <a:t>Involves reciprocating  motion, unsteady flow </a:t>
                      </a:r>
                      <a:r>
                        <a:rPr sz="2000" b="0" spc="10" dirty="0">
                          <a:solidFill>
                            <a:srgbClr val="CC3300"/>
                          </a:solidFill>
                          <a:latin typeface="+mj-lt"/>
                          <a:cs typeface="Comic Sans MS"/>
                        </a:rPr>
                        <a:t>of  </a:t>
                      </a:r>
                      <a:r>
                        <a:rPr sz="2000" b="0" spc="-5" dirty="0">
                          <a:solidFill>
                            <a:srgbClr val="CC3300"/>
                          </a:solidFill>
                          <a:latin typeface="+mj-lt"/>
                          <a:cs typeface="Comic Sans MS"/>
                        </a:rPr>
                        <a:t>fluid, fixed </a:t>
                      </a:r>
                      <a:r>
                        <a:rPr sz="2000" b="0" dirty="0">
                          <a:solidFill>
                            <a:srgbClr val="CC3300"/>
                          </a:solidFill>
                          <a:latin typeface="+mj-lt"/>
                          <a:cs typeface="Comic Sans MS"/>
                        </a:rPr>
                        <a:t>amount of  </a:t>
                      </a:r>
                      <a:r>
                        <a:rPr sz="2000" b="0" spc="-5" dirty="0">
                          <a:solidFill>
                            <a:srgbClr val="CC3300"/>
                          </a:solidFill>
                          <a:latin typeface="+mj-lt"/>
                          <a:cs typeface="Comic Sans MS"/>
                        </a:rPr>
                        <a:t>fluid </a:t>
                      </a:r>
                      <a:r>
                        <a:rPr sz="2000" b="0" spc="-10" dirty="0">
                          <a:solidFill>
                            <a:srgbClr val="CC3300"/>
                          </a:solidFill>
                          <a:latin typeface="+mj-lt"/>
                          <a:cs typeface="Comic Sans MS"/>
                        </a:rPr>
                        <a:t>being </a:t>
                      </a:r>
                      <a:r>
                        <a:rPr sz="2000" b="0" dirty="0">
                          <a:solidFill>
                            <a:srgbClr val="CC3300"/>
                          </a:solidFill>
                          <a:latin typeface="+mj-lt"/>
                          <a:cs typeface="Comic Sans MS"/>
                        </a:rPr>
                        <a:t>positively  </a:t>
                      </a:r>
                      <a:r>
                        <a:rPr sz="2000" b="0" spc="-5" dirty="0">
                          <a:solidFill>
                            <a:srgbClr val="CC3300"/>
                          </a:solidFill>
                          <a:latin typeface="+mj-lt"/>
                          <a:cs typeface="Comic Sans MS"/>
                        </a:rPr>
                        <a:t>contained during its  passage through </a:t>
                      </a:r>
                      <a:r>
                        <a:rPr sz="2000" b="0" dirty="0">
                          <a:solidFill>
                            <a:srgbClr val="CC3300"/>
                          </a:solidFill>
                          <a:latin typeface="+mj-lt"/>
                          <a:cs typeface="Comic Sans MS"/>
                        </a:rPr>
                        <a:t>the  </a:t>
                      </a:r>
                      <a:r>
                        <a:rPr sz="2000" b="0" spc="-5" dirty="0">
                          <a:solidFill>
                            <a:srgbClr val="CC3300"/>
                          </a:solidFill>
                          <a:latin typeface="+mj-lt"/>
                          <a:cs typeface="Comic Sans MS"/>
                        </a:rPr>
                        <a:t>machine, stopping </a:t>
                      </a:r>
                      <a:r>
                        <a:rPr sz="2000" b="0" dirty="0">
                          <a:solidFill>
                            <a:srgbClr val="CC3300"/>
                          </a:solidFill>
                          <a:latin typeface="+mj-lt"/>
                          <a:cs typeface="Comic Sans MS"/>
                        </a:rPr>
                        <a:t>of the  </a:t>
                      </a:r>
                      <a:r>
                        <a:rPr sz="2000" b="0" spc="-5" dirty="0">
                          <a:solidFill>
                            <a:srgbClr val="CC3300"/>
                          </a:solidFill>
                          <a:latin typeface="+mj-lt"/>
                          <a:cs typeface="Comic Sans MS"/>
                        </a:rPr>
                        <a:t>machine during </a:t>
                      </a:r>
                      <a:r>
                        <a:rPr sz="2000" b="0" dirty="0">
                          <a:solidFill>
                            <a:srgbClr val="CC3300"/>
                          </a:solidFill>
                          <a:latin typeface="+mj-lt"/>
                          <a:cs typeface="Comic Sans MS"/>
                        </a:rPr>
                        <a:t>operation  </a:t>
                      </a:r>
                      <a:r>
                        <a:rPr sz="2000" b="0" spc="-5" dirty="0">
                          <a:solidFill>
                            <a:srgbClr val="CC3300"/>
                          </a:solidFill>
                          <a:latin typeface="+mj-lt"/>
                          <a:cs typeface="Comic Sans MS"/>
                        </a:rPr>
                        <a:t>traps </a:t>
                      </a:r>
                      <a:r>
                        <a:rPr sz="2000" b="0" dirty="0">
                          <a:solidFill>
                            <a:srgbClr val="CC3300"/>
                          </a:solidFill>
                          <a:latin typeface="+mj-lt"/>
                          <a:cs typeface="Comic Sans MS"/>
                        </a:rPr>
                        <a:t>a </a:t>
                      </a:r>
                      <a:r>
                        <a:rPr sz="2000" b="0" spc="-5" dirty="0">
                          <a:solidFill>
                            <a:srgbClr val="CC3300"/>
                          </a:solidFill>
                          <a:latin typeface="+mj-lt"/>
                          <a:cs typeface="Comic Sans MS"/>
                        </a:rPr>
                        <a:t>certain</a:t>
                      </a:r>
                      <a:r>
                        <a:rPr sz="2000" b="0" spc="675" dirty="0">
                          <a:solidFill>
                            <a:srgbClr val="CC3300"/>
                          </a:solidFill>
                          <a:latin typeface="+mj-lt"/>
                          <a:cs typeface="Comic Sans MS"/>
                        </a:rPr>
                        <a:t> </a:t>
                      </a:r>
                      <a:r>
                        <a:rPr sz="2000" b="0" dirty="0">
                          <a:solidFill>
                            <a:srgbClr val="CC3300"/>
                          </a:solidFill>
                          <a:latin typeface="+mj-lt"/>
                          <a:cs typeface="Comic Sans MS"/>
                        </a:rPr>
                        <a:t>amount  of </a:t>
                      </a:r>
                      <a:r>
                        <a:rPr sz="2000" b="0" spc="-5" dirty="0">
                          <a:solidFill>
                            <a:srgbClr val="CC3300"/>
                          </a:solidFill>
                          <a:latin typeface="+mj-lt"/>
                          <a:cs typeface="Comic Sans MS"/>
                        </a:rPr>
                        <a:t>fluid whose </a:t>
                      </a:r>
                      <a:r>
                        <a:rPr sz="2000" b="0" dirty="0">
                          <a:solidFill>
                            <a:srgbClr val="CC3300"/>
                          </a:solidFill>
                          <a:latin typeface="+mj-lt"/>
                          <a:cs typeface="Comic Sans MS"/>
                        </a:rPr>
                        <a:t>state </a:t>
                      </a:r>
                      <a:r>
                        <a:rPr sz="2000" b="0" spc="-5" dirty="0">
                          <a:solidFill>
                            <a:srgbClr val="CC3300"/>
                          </a:solidFill>
                          <a:latin typeface="+mj-lt"/>
                          <a:cs typeface="Comic Sans MS"/>
                        </a:rPr>
                        <a:t>is  different from </a:t>
                      </a:r>
                      <a:r>
                        <a:rPr sz="2000" b="0" dirty="0">
                          <a:solidFill>
                            <a:srgbClr val="CC3300"/>
                          </a:solidFill>
                          <a:latin typeface="+mj-lt"/>
                          <a:cs typeface="Comic Sans MS"/>
                        </a:rPr>
                        <a:t>that of  the</a:t>
                      </a:r>
                      <a:r>
                        <a:rPr sz="2000" b="0" spc="-15" dirty="0">
                          <a:solidFill>
                            <a:srgbClr val="CC3300"/>
                          </a:solidFill>
                          <a:latin typeface="+mj-lt"/>
                          <a:cs typeface="Comic Sans MS"/>
                        </a:rPr>
                        <a:t> </a:t>
                      </a:r>
                      <a:r>
                        <a:rPr sz="2000" b="0" spc="-5" dirty="0">
                          <a:solidFill>
                            <a:srgbClr val="CC3300"/>
                          </a:solidFill>
                          <a:latin typeface="+mj-lt"/>
                          <a:cs typeface="Comic Sans MS"/>
                        </a:rPr>
                        <a:t>surroundings</a:t>
                      </a:r>
                      <a:endParaRPr sz="2000" b="0" dirty="0">
                        <a:latin typeface="+mj-lt"/>
                        <a:cs typeface="Comic Sans MS"/>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790" marR="75565" algn="just">
                        <a:lnSpc>
                          <a:spcPct val="100000"/>
                        </a:lnSpc>
                        <a:spcBef>
                          <a:spcPts val="270"/>
                        </a:spcBef>
                      </a:pPr>
                      <a:r>
                        <a:rPr sz="2000" b="0" spc="-5" dirty="0">
                          <a:solidFill>
                            <a:srgbClr val="CC3300"/>
                          </a:solidFill>
                          <a:latin typeface="+mj-lt"/>
                          <a:cs typeface="Comic Sans MS"/>
                        </a:rPr>
                        <a:t>Involves rotary motion with  nearly steady flow. </a:t>
                      </a:r>
                      <a:r>
                        <a:rPr sz="2000" b="0" spc="-10" dirty="0">
                          <a:solidFill>
                            <a:srgbClr val="CC3300"/>
                          </a:solidFill>
                          <a:latin typeface="+mj-lt"/>
                          <a:cs typeface="Comic Sans MS"/>
                        </a:rPr>
                        <a:t>Stopping </a:t>
                      </a:r>
                      <a:r>
                        <a:rPr sz="2000" b="0" dirty="0">
                          <a:solidFill>
                            <a:srgbClr val="CC3300"/>
                          </a:solidFill>
                          <a:latin typeface="+mj-lt"/>
                          <a:cs typeface="Comic Sans MS"/>
                        </a:rPr>
                        <a:t>of  the </a:t>
                      </a:r>
                      <a:r>
                        <a:rPr sz="2000" b="0" spc="-5" dirty="0">
                          <a:solidFill>
                            <a:srgbClr val="CC3300"/>
                          </a:solidFill>
                          <a:latin typeface="+mj-lt"/>
                          <a:cs typeface="Comic Sans MS"/>
                        </a:rPr>
                        <a:t>machine will </a:t>
                      </a:r>
                      <a:r>
                        <a:rPr sz="2000" b="0" dirty="0">
                          <a:solidFill>
                            <a:srgbClr val="CC3300"/>
                          </a:solidFill>
                          <a:latin typeface="+mj-lt"/>
                          <a:cs typeface="Comic Sans MS"/>
                        </a:rPr>
                        <a:t>let </a:t>
                      </a:r>
                      <a:r>
                        <a:rPr sz="2000" b="0" spc="-5" dirty="0">
                          <a:solidFill>
                            <a:srgbClr val="CC3300"/>
                          </a:solidFill>
                          <a:latin typeface="+mj-lt"/>
                          <a:cs typeface="Comic Sans MS"/>
                        </a:rPr>
                        <a:t>the fluid  </a:t>
                      </a:r>
                      <a:r>
                        <a:rPr sz="2000" b="0" dirty="0">
                          <a:solidFill>
                            <a:srgbClr val="CC3300"/>
                          </a:solidFill>
                          <a:latin typeface="+mj-lt"/>
                          <a:cs typeface="Comic Sans MS"/>
                        </a:rPr>
                        <a:t>state </a:t>
                      </a:r>
                      <a:r>
                        <a:rPr sz="2000" b="0" spc="-5" dirty="0">
                          <a:solidFill>
                            <a:srgbClr val="CC3300"/>
                          </a:solidFill>
                          <a:latin typeface="+mj-lt"/>
                          <a:cs typeface="Comic Sans MS"/>
                        </a:rPr>
                        <a:t>change rapidly </a:t>
                      </a:r>
                      <a:r>
                        <a:rPr sz="2000" b="0" dirty="0">
                          <a:solidFill>
                            <a:srgbClr val="CC3300"/>
                          </a:solidFill>
                          <a:latin typeface="+mj-lt"/>
                          <a:cs typeface="Comic Sans MS"/>
                        </a:rPr>
                        <a:t>and  </a:t>
                      </a:r>
                      <a:r>
                        <a:rPr sz="2000" b="0" spc="-5" dirty="0">
                          <a:solidFill>
                            <a:srgbClr val="CC3300"/>
                          </a:solidFill>
                          <a:latin typeface="+mj-lt"/>
                          <a:cs typeface="Comic Sans MS"/>
                        </a:rPr>
                        <a:t>become same as </a:t>
                      </a:r>
                      <a:r>
                        <a:rPr sz="2000" b="0" dirty="0">
                          <a:solidFill>
                            <a:srgbClr val="CC3300"/>
                          </a:solidFill>
                          <a:latin typeface="+mj-lt"/>
                          <a:cs typeface="Comic Sans MS"/>
                        </a:rPr>
                        <a:t>that of the  surroundings.</a:t>
                      </a:r>
                      <a:endParaRPr sz="2000" b="0" dirty="0">
                        <a:latin typeface="+mj-lt"/>
                        <a:cs typeface="Comic Sans MS"/>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0361910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046628246"/>
              </p:ext>
            </p:extLst>
          </p:nvPr>
        </p:nvGraphicFramePr>
        <p:xfrm>
          <a:off x="1714500" y="244474"/>
          <a:ext cx="10229849" cy="5908675"/>
        </p:xfrm>
        <a:graphic>
          <a:graphicData uri="http://schemas.openxmlformats.org/drawingml/2006/table">
            <a:tbl>
              <a:tblPr firstRow="1" bandRow="1">
                <a:tableStyleId>{2D5ABB26-0587-4C30-8999-92F81FD0307C}</a:tableStyleId>
              </a:tblPr>
              <a:tblGrid>
                <a:gridCol w="888136">
                  <a:extLst>
                    <a:ext uri="{9D8B030D-6E8A-4147-A177-3AD203B41FA5}">
                      <a16:colId xmlns:a16="http://schemas.microsoft.com/office/drawing/2014/main" val="20000"/>
                    </a:ext>
                  </a:extLst>
                </a:gridCol>
                <a:gridCol w="1694860">
                  <a:extLst>
                    <a:ext uri="{9D8B030D-6E8A-4147-A177-3AD203B41FA5}">
                      <a16:colId xmlns:a16="http://schemas.microsoft.com/office/drawing/2014/main" val="20001"/>
                    </a:ext>
                  </a:extLst>
                </a:gridCol>
                <a:gridCol w="3552545">
                  <a:extLst>
                    <a:ext uri="{9D8B030D-6E8A-4147-A177-3AD203B41FA5}">
                      <a16:colId xmlns:a16="http://schemas.microsoft.com/office/drawing/2014/main" val="20002"/>
                    </a:ext>
                  </a:extLst>
                </a:gridCol>
                <a:gridCol w="4094308">
                  <a:extLst>
                    <a:ext uri="{9D8B030D-6E8A-4147-A177-3AD203B41FA5}">
                      <a16:colId xmlns:a16="http://schemas.microsoft.com/office/drawing/2014/main" val="20003"/>
                    </a:ext>
                  </a:extLst>
                </a:gridCol>
              </a:tblGrid>
              <a:tr h="738071">
                <a:tc>
                  <a:txBody>
                    <a:bodyPr/>
                    <a:lstStyle/>
                    <a:p>
                      <a:pPr marL="165100">
                        <a:lnSpc>
                          <a:spcPct val="100000"/>
                        </a:lnSpc>
                        <a:spcBef>
                          <a:spcPts val="265"/>
                        </a:spcBef>
                      </a:pPr>
                      <a:r>
                        <a:rPr sz="2000" b="1" spc="-5" dirty="0" smtClean="0">
                          <a:latin typeface="+mj-lt"/>
                          <a:cs typeface="Comic Sans MS"/>
                        </a:rPr>
                        <a:t>S</a:t>
                      </a:r>
                      <a:r>
                        <a:rPr lang="en-US" sz="2000" b="1" spc="-5" dirty="0" smtClean="0">
                          <a:latin typeface="+mj-lt"/>
                          <a:cs typeface="Comic Sans MS"/>
                        </a:rPr>
                        <a:t>r</a:t>
                      </a:r>
                      <a:r>
                        <a:rPr sz="2000" b="1" spc="-5" dirty="0" smtClean="0">
                          <a:latin typeface="+mj-lt"/>
                          <a:cs typeface="Comic Sans MS"/>
                        </a:rPr>
                        <a:t>.</a:t>
                      </a:r>
                      <a:endParaRPr sz="2000" b="1" dirty="0">
                        <a:latin typeface="+mj-lt"/>
                        <a:cs typeface="Comic Sans MS"/>
                      </a:endParaRPr>
                    </a:p>
                    <a:p>
                      <a:pPr marL="122555">
                        <a:lnSpc>
                          <a:spcPct val="100000"/>
                        </a:lnSpc>
                      </a:pPr>
                      <a:r>
                        <a:rPr sz="2000" b="1" dirty="0">
                          <a:latin typeface="+mj-lt"/>
                          <a:cs typeface="Comic Sans MS"/>
                        </a:rPr>
                        <a:t>No.</a:t>
                      </a:r>
                    </a:p>
                  </a:txBody>
                  <a:tcPr marL="0" marR="0" marT="33655" marB="0">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marL="10160" algn="ctr">
                        <a:lnSpc>
                          <a:spcPct val="100000"/>
                        </a:lnSpc>
                        <a:spcBef>
                          <a:spcPts val="1345"/>
                        </a:spcBef>
                      </a:pPr>
                      <a:r>
                        <a:rPr sz="2000" b="1" spc="-5" dirty="0">
                          <a:latin typeface="+mj-lt"/>
                          <a:cs typeface="Comic Sans MS"/>
                        </a:rPr>
                        <a:t>Aspects</a:t>
                      </a:r>
                      <a:endParaRPr sz="2000" b="1" dirty="0">
                        <a:latin typeface="+mj-lt"/>
                        <a:cs typeface="Comic Sans MS"/>
                      </a:endParaRPr>
                    </a:p>
                  </a:txBody>
                  <a:tcPr marL="0" marR="0" marT="17081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marL="12700" algn="ctr">
                        <a:lnSpc>
                          <a:spcPct val="100000"/>
                        </a:lnSpc>
                        <a:spcBef>
                          <a:spcPts val="265"/>
                        </a:spcBef>
                      </a:pPr>
                      <a:r>
                        <a:rPr sz="2000" b="1" dirty="0">
                          <a:latin typeface="+mj-lt"/>
                          <a:cs typeface="Comic Sans MS"/>
                        </a:rPr>
                        <a:t>Positive</a:t>
                      </a:r>
                      <a:r>
                        <a:rPr sz="2000" b="1" spc="-30" dirty="0">
                          <a:latin typeface="+mj-lt"/>
                          <a:cs typeface="Comic Sans MS"/>
                        </a:rPr>
                        <a:t> </a:t>
                      </a:r>
                      <a:r>
                        <a:rPr sz="2000" b="1" spc="-5" dirty="0">
                          <a:latin typeface="+mj-lt"/>
                          <a:cs typeface="Comic Sans MS"/>
                        </a:rPr>
                        <a:t>displacement</a:t>
                      </a:r>
                      <a:endParaRPr sz="2000" b="1" dirty="0">
                        <a:latin typeface="+mj-lt"/>
                        <a:cs typeface="Comic Sans MS"/>
                      </a:endParaRPr>
                    </a:p>
                    <a:p>
                      <a:pPr marL="12700" algn="ctr">
                        <a:lnSpc>
                          <a:spcPct val="100000"/>
                        </a:lnSpc>
                      </a:pPr>
                      <a:r>
                        <a:rPr sz="2000" b="1" spc="-5" dirty="0">
                          <a:latin typeface="+mj-lt"/>
                          <a:cs typeface="Comic Sans MS"/>
                        </a:rPr>
                        <a:t>machines</a:t>
                      </a:r>
                      <a:endParaRPr sz="2000" b="1" dirty="0">
                        <a:latin typeface="+mj-lt"/>
                        <a:cs typeface="Comic Sans MS"/>
                      </a:endParaRPr>
                    </a:p>
                  </a:txBody>
                  <a:tcPr marL="0" marR="0" marT="3365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marL="1094105">
                        <a:lnSpc>
                          <a:spcPct val="100000"/>
                        </a:lnSpc>
                        <a:spcBef>
                          <a:spcPts val="1345"/>
                        </a:spcBef>
                      </a:pPr>
                      <a:r>
                        <a:rPr sz="2000" b="1" spc="-5" dirty="0">
                          <a:latin typeface="+mj-lt"/>
                          <a:cs typeface="Comic Sans MS"/>
                        </a:rPr>
                        <a:t>Turbomachines</a:t>
                      </a:r>
                      <a:endParaRPr sz="2000" b="1" dirty="0">
                        <a:latin typeface="+mj-lt"/>
                        <a:cs typeface="Comic Sans MS"/>
                      </a:endParaRPr>
                    </a:p>
                  </a:txBody>
                  <a:tcPr marL="0" marR="0" marT="170815"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190957">
                <a:tc>
                  <a:txBody>
                    <a:bodyPr/>
                    <a:lstStyle/>
                    <a:p>
                      <a:pPr marL="26034" algn="ctr">
                        <a:lnSpc>
                          <a:spcPct val="100000"/>
                        </a:lnSpc>
                        <a:spcBef>
                          <a:spcPts val="265"/>
                        </a:spcBef>
                      </a:pPr>
                      <a:r>
                        <a:rPr sz="2000" b="0" dirty="0">
                          <a:solidFill>
                            <a:srgbClr val="FF3399"/>
                          </a:solidFill>
                          <a:latin typeface="+mj-lt"/>
                          <a:cs typeface="Comic Sans MS"/>
                        </a:rPr>
                        <a:t>3</a:t>
                      </a:r>
                      <a:endParaRPr sz="2000" b="0">
                        <a:latin typeface="+mj-lt"/>
                        <a:cs typeface="Comic Sans MS"/>
                      </a:endParaRPr>
                    </a:p>
                  </a:txBody>
                  <a:tcPr marL="0" marR="0" marT="33655" marB="0">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111760">
                        <a:lnSpc>
                          <a:spcPct val="100000"/>
                        </a:lnSpc>
                        <a:spcBef>
                          <a:spcPts val="265"/>
                        </a:spcBef>
                      </a:pPr>
                      <a:r>
                        <a:rPr sz="2000" b="0" spc="-5" dirty="0">
                          <a:solidFill>
                            <a:srgbClr val="FF3399"/>
                          </a:solidFill>
                          <a:latin typeface="+mj-lt"/>
                          <a:cs typeface="Comic Sans MS"/>
                        </a:rPr>
                        <a:t>Mechanical</a:t>
                      </a:r>
                      <a:endParaRPr sz="2000" b="0" dirty="0">
                        <a:latin typeface="+mj-lt"/>
                        <a:cs typeface="Comic Sans MS"/>
                      </a:endParaRPr>
                    </a:p>
                    <a:p>
                      <a:pPr marL="111760">
                        <a:lnSpc>
                          <a:spcPct val="100000"/>
                        </a:lnSpc>
                      </a:pPr>
                      <a:r>
                        <a:rPr sz="2000" b="0" spc="-5" dirty="0">
                          <a:solidFill>
                            <a:srgbClr val="FF3399"/>
                          </a:solidFill>
                          <a:latin typeface="+mj-lt"/>
                          <a:cs typeface="Comic Sans MS"/>
                        </a:rPr>
                        <a:t>features</a:t>
                      </a:r>
                      <a:endParaRPr sz="2000" b="0" dirty="0">
                        <a:latin typeface="+mj-lt"/>
                        <a:cs typeface="Comic Sans MS"/>
                      </a:endParaRPr>
                    </a:p>
                  </a:txBody>
                  <a:tcPr marL="0" marR="0" marT="33655" marB="0">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97155" marR="77470" algn="just">
                        <a:lnSpc>
                          <a:spcPct val="100000"/>
                        </a:lnSpc>
                        <a:spcBef>
                          <a:spcPts val="265"/>
                        </a:spcBef>
                        <a:tabLst>
                          <a:tab pos="2259965" algn="l"/>
                        </a:tabLst>
                      </a:pPr>
                      <a:r>
                        <a:rPr sz="2000" b="0" dirty="0">
                          <a:solidFill>
                            <a:srgbClr val="FF3399"/>
                          </a:solidFill>
                          <a:latin typeface="+mj-lt"/>
                          <a:cs typeface="Comic Sans MS"/>
                        </a:rPr>
                        <a:t>Employs </a:t>
                      </a:r>
                      <a:r>
                        <a:rPr sz="2000" b="0" spc="-5" dirty="0">
                          <a:solidFill>
                            <a:srgbClr val="FF3399"/>
                          </a:solidFill>
                          <a:latin typeface="+mj-lt"/>
                          <a:cs typeface="Comic Sans MS"/>
                        </a:rPr>
                        <a:t>low </a:t>
                      </a:r>
                      <a:r>
                        <a:rPr sz="2000" b="0" dirty="0">
                          <a:solidFill>
                            <a:srgbClr val="FF3399"/>
                          </a:solidFill>
                          <a:latin typeface="+mj-lt"/>
                          <a:cs typeface="Comic Sans MS"/>
                        </a:rPr>
                        <a:t>speed,  complex </a:t>
                      </a:r>
                      <a:r>
                        <a:rPr sz="2000" b="0" spc="-10" dirty="0">
                          <a:solidFill>
                            <a:srgbClr val="FF3399"/>
                          </a:solidFill>
                          <a:latin typeface="+mj-lt"/>
                          <a:cs typeface="Comic Sans MS"/>
                        </a:rPr>
                        <a:t>in </a:t>
                      </a:r>
                      <a:r>
                        <a:rPr sz="2000" b="0" dirty="0">
                          <a:solidFill>
                            <a:srgbClr val="FF3399"/>
                          </a:solidFill>
                          <a:latin typeface="+mj-lt"/>
                          <a:cs typeface="Comic Sans MS"/>
                        </a:rPr>
                        <a:t>mechanical  </a:t>
                      </a:r>
                      <a:r>
                        <a:rPr sz="2000" b="0" spc="-5" dirty="0">
                          <a:solidFill>
                            <a:srgbClr val="FF3399"/>
                          </a:solidFill>
                          <a:latin typeface="+mj-lt"/>
                          <a:cs typeface="Comic Sans MS"/>
                        </a:rPr>
                        <a:t>design, heavy </a:t>
                      </a:r>
                      <a:r>
                        <a:rPr sz="2000" b="0" dirty="0">
                          <a:solidFill>
                            <a:srgbClr val="FF3399"/>
                          </a:solidFill>
                          <a:latin typeface="+mj-lt"/>
                          <a:cs typeface="Comic Sans MS"/>
                        </a:rPr>
                        <a:t>per </a:t>
                      </a:r>
                      <a:r>
                        <a:rPr sz="2000" b="0" spc="-5" dirty="0">
                          <a:solidFill>
                            <a:srgbClr val="FF3399"/>
                          </a:solidFill>
                          <a:latin typeface="+mj-lt"/>
                          <a:cs typeface="Comic Sans MS"/>
                        </a:rPr>
                        <a:t>unit  </a:t>
                      </a:r>
                      <a:r>
                        <a:rPr sz="2000" b="0" dirty="0">
                          <a:solidFill>
                            <a:srgbClr val="FF3399"/>
                          </a:solidFill>
                          <a:latin typeface="+mj-lt"/>
                          <a:cs typeface="Comic Sans MS"/>
                        </a:rPr>
                        <a:t>output, </a:t>
                      </a:r>
                      <a:r>
                        <a:rPr sz="2000" b="0" spc="-5" dirty="0">
                          <a:solidFill>
                            <a:srgbClr val="FF3399"/>
                          </a:solidFill>
                          <a:latin typeface="+mj-lt"/>
                          <a:cs typeface="Comic Sans MS"/>
                        </a:rPr>
                        <a:t>valves </a:t>
                      </a:r>
                      <a:r>
                        <a:rPr sz="2000" b="0" dirty="0">
                          <a:solidFill>
                            <a:srgbClr val="FF3399"/>
                          </a:solidFill>
                          <a:latin typeface="+mj-lt"/>
                          <a:cs typeface="Comic Sans MS"/>
                        </a:rPr>
                        <a:t>are  present, </a:t>
                      </a:r>
                      <a:r>
                        <a:rPr sz="2000" b="0" spc="-10" dirty="0">
                          <a:solidFill>
                            <a:srgbClr val="FF3399"/>
                          </a:solidFill>
                          <a:latin typeface="+mj-lt"/>
                          <a:cs typeface="Comic Sans MS"/>
                        </a:rPr>
                        <a:t>vibration  </a:t>
                      </a:r>
                      <a:r>
                        <a:rPr sz="2000" b="0" dirty="0">
                          <a:solidFill>
                            <a:srgbClr val="FF3399"/>
                          </a:solidFill>
                          <a:latin typeface="+mj-lt"/>
                          <a:cs typeface="Comic Sans MS"/>
                        </a:rPr>
                        <a:t>problems,	heavy  </a:t>
                      </a:r>
                      <a:r>
                        <a:rPr sz="2000" b="0" spc="-5" dirty="0">
                          <a:solidFill>
                            <a:srgbClr val="FF3399"/>
                          </a:solidFill>
                          <a:latin typeface="+mj-lt"/>
                          <a:cs typeface="Comic Sans MS"/>
                        </a:rPr>
                        <a:t>foundations</a:t>
                      </a:r>
                      <a:r>
                        <a:rPr sz="2000" b="0" spc="-25" dirty="0">
                          <a:solidFill>
                            <a:srgbClr val="FF3399"/>
                          </a:solidFill>
                          <a:latin typeface="+mj-lt"/>
                          <a:cs typeface="Comic Sans MS"/>
                        </a:rPr>
                        <a:t> </a:t>
                      </a:r>
                      <a:r>
                        <a:rPr sz="2000" b="0" spc="-5" dirty="0">
                          <a:solidFill>
                            <a:srgbClr val="FF3399"/>
                          </a:solidFill>
                          <a:latin typeface="+mj-lt"/>
                          <a:cs typeface="Comic Sans MS"/>
                        </a:rPr>
                        <a:t>required.</a:t>
                      </a:r>
                      <a:endParaRPr sz="2000" b="0">
                        <a:latin typeface="+mj-lt"/>
                        <a:cs typeface="Comic Sans MS"/>
                      </a:endParaRPr>
                    </a:p>
                  </a:txBody>
                  <a:tcPr marL="0" marR="0" marT="33655" marB="0">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97155" marR="72390" algn="just">
                        <a:lnSpc>
                          <a:spcPct val="100000"/>
                        </a:lnSpc>
                        <a:spcBef>
                          <a:spcPts val="265"/>
                        </a:spcBef>
                      </a:pPr>
                      <a:r>
                        <a:rPr sz="2000" b="0" spc="-5" dirty="0">
                          <a:solidFill>
                            <a:srgbClr val="FF3399"/>
                          </a:solidFill>
                          <a:latin typeface="+mj-lt"/>
                          <a:cs typeface="Comic Sans MS"/>
                        </a:rPr>
                        <a:t>High speed machines, simple </a:t>
                      </a:r>
                      <a:r>
                        <a:rPr sz="2000" b="0" spc="-15" dirty="0">
                          <a:solidFill>
                            <a:srgbClr val="FF3399"/>
                          </a:solidFill>
                          <a:latin typeface="+mj-lt"/>
                          <a:cs typeface="Comic Sans MS"/>
                        </a:rPr>
                        <a:t>in  </a:t>
                      </a:r>
                      <a:r>
                        <a:rPr sz="2000" b="0" spc="-5" dirty="0">
                          <a:solidFill>
                            <a:srgbClr val="FF3399"/>
                          </a:solidFill>
                          <a:latin typeface="+mj-lt"/>
                          <a:cs typeface="Comic Sans MS"/>
                        </a:rPr>
                        <a:t>design, light weight, </a:t>
                      </a:r>
                      <a:r>
                        <a:rPr sz="2000" b="0" dirty="0">
                          <a:solidFill>
                            <a:srgbClr val="FF3399"/>
                          </a:solidFill>
                          <a:latin typeface="+mj-lt"/>
                          <a:cs typeface="Comic Sans MS"/>
                        </a:rPr>
                        <a:t>no </a:t>
                      </a:r>
                      <a:r>
                        <a:rPr sz="2000" b="0" spc="-5" dirty="0">
                          <a:solidFill>
                            <a:srgbClr val="FF3399"/>
                          </a:solidFill>
                          <a:latin typeface="+mj-lt"/>
                          <a:cs typeface="Comic Sans MS"/>
                        </a:rPr>
                        <a:t>valves,  vibration not </a:t>
                      </a:r>
                      <a:r>
                        <a:rPr sz="2000" b="0" dirty="0">
                          <a:solidFill>
                            <a:srgbClr val="FF3399"/>
                          </a:solidFill>
                          <a:latin typeface="+mj-lt"/>
                          <a:cs typeface="Comic Sans MS"/>
                        </a:rPr>
                        <a:t>severe, </a:t>
                      </a:r>
                      <a:r>
                        <a:rPr sz="2000" b="0" spc="-5" dirty="0">
                          <a:solidFill>
                            <a:srgbClr val="FF3399"/>
                          </a:solidFill>
                          <a:latin typeface="+mj-lt"/>
                          <a:cs typeface="Comic Sans MS"/>
                        </a:rPr>
                        <a:t>light  foundation</a:t>
                      </a:r>
                      <a:r>
                        <a:rPr sz="2000" b="0" spc="-10" dirty="0">
                          <a:solidFill>
                            <a:srgbClr val="FF3399"/>
                          </a:solidFill>
                          <a:latin typeface="+mj-lt"/>
                          <a:cs typeface="Comic Sans MS"/>
                        </a:rPr>
                        <a:t> </a:t>
                      </a:r>
                      <a:r>
                        <a:rPr sz="2000" b="0" spc="-5" dirty="0">
                          <a:solidFill>
                            <a:srgbClr val="FF3399"/>
                          </a:solidFill>
                          <a:latin typeface="+mj-lt"/>
                          <a:cs typeface="Comic Sans MS"/>
                        </a:rPr>
                        <a:t>required.</a:t>
                      </a:r>
                      <a:endParaRPr sz="2000" b="0" dirty="0">
                        <a:latin typeface="+mj-lt"/>
                        <a:cs typeface="Comic Sans MS"/>
                      </a:endParaRPr>
                    </a:p>
                  </a:txBody>
                  <a:tcPr marL="0" marR="0" marT="33655" marB="0">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extLst>
                  <a:ext uri="{0D108BD9-81ED-4DB2-BD59-A6C34878D82A}">
                    <a16:rowId xmlns:a16="http://schemas.microsoft.com/office/drawing/2014/main" val="10001"/>
                  </a:ext>
                </a:extLst>
              </a:tr>
              <a:tr h="1305135">
                <a:tc>
                  <a:txBody>
                    <a:bodyPr/>
                    <a:lstStyle/>
                    <a:p>
                      <a:pPr algn="ctr">
                        <a:lnSpc>
                          <a:spcPct val="100000"/>
                        </a:lnSpc>
                        <a:spcBef>
                          <a:spcPts val="450"/>
                        </a:spcBef>
                      </a:pPr>
                      <a:r>
                        <a:rPr sz="2000" b="0" dirty="0">
                          <a:solidFill>
                            <a:srgbClr val="3333FF"/>
                          </a:solidFill>
                          <a:latin typeface="+mj-lt"/>
                          <a:cs typeface="Comic Sans MS"/>
                        </a:rPr>
                        <a:t>4</a:t>
                      </a:r>
                      <a:endParaRPr sz="2000" b="0">
                        <a:latin typeface="+mj-lt"/>
                        <a:cs typeface="Comic Sans MS"/>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53670" marR="147955" indent="4445" algn="just">
                        <a:lnSpc>
                          <a:spcPct val="100000"/>
                        </a:lnSpc>
                        <a:spcBef>
                          <a:spcPts val="450"/>
                        </a:spcBef>
                      </a:pPr>
                      <a:r>
                        <a:rPr sz="2000" b="0" dirty="0">
                          <a:solidFill>
                            <a:srgbClr val="3333FF"/>
                          </a:solidFill>
                          <a:latin typeface="+mj-lt"/>
                          <a:cs typeface="Comic Sans MS"/>
                        </a:rPr>
                        <a:t>Efficiency  of </a:t>
                      </a:r>
                      <a:r>
                        <a:rPr sz="2000" b="0" spc="-5" dirty="0">
                          <a:solidFill>
                            <a:srgbClr val="3333FF"/>
                          </a:solidFill>
                          <a:latin typeface="+mj-lt"/>
                          <a:cs typeface="Comic Sans MS"/>
                        </a:rPr>
                        <a:t>energy  </a:t>
                      </a:r>
                      <a:r>
                        <a:rPr sz="2000" b="0" dirty="0">
                          <a:solidFill>
                            <a:srgbClr val="3333FF"/>
                          </a:solidFill>
                          <a:latin typeface="+mj-lt"/>
                          <a:cs typeface="Comic Sans MS"/>
                        </a:rPr>
                        <a:t>conversion</a:t>
                      </a:r>
                      <a:endParaRPr sz="2000" b="0">
                        <a:latin typeface="+mj-lt"/>
                        <a:cs typeface="Comic Sans MS"/>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155" marR="78105" algn="just">
                        <a:lnSpc>
                          <a:spcPct val="100000"/>
                        </a:lnSpc>
                        <a:spcBef>
                          <a:spcPts val="450"/>
                        </a:spcBef>
                        <a:tabLst>
                          <a:tab pos="2503805" algn="l"/>
                        </a:tabLst>
                      </a:pPr>
                      <a:r>
                        <a:rPr sz="2000" b="0" dirty="0">
                          <a:solidFill>
                            <a:srgbClr val="3333FF"/>
                          </a:solidFill>
                          <a:latin typeface="+mj-lt"/>
                          <a:cs typeface="Comic Sans MS"/>
                        </a:rPr>
                        <a:t>Efficiency of </a:t>
                      </a:r>
                      <a:r>
                        <a:rPr sz="2000" b="0" spc="-5" dirty="0">
                          <a:solidFill>
                            <a:srgbClr val="3333FF"/>
                          </a:solidFill>
                          <a:latin typeface="+mj-lt"/>
                          <a:cs typeface="Comic Sans MS"/>
                        </a:rPr>
                        <a:t>energy  conversion during both  expansi</a:t>
                      </a:r>
                      <a:r>
                        <a:rPr sz="2000" b="0" spc="-15" dirty="0">
                          <a:solidFill>
                            <a:srgbClr val="3333FF"/>
                          </a:solidFill>
                          <a:latin typeface="+mj-lt"/>
                          <a:cs typeface="Comic Sans MS"/>
                        </a:rPr>
                        <a:t>o</a:t>
                      </a:r>
                      <a:r>
                        <a:rPr sz="2000" b="0" dirty="0">
                          <a:solidFill>
                            <a:srgbClr val="3333FF"/>
                          </a:solidFill>
                          <a:latin typeface="+mj-lt"/>
                          <a:cs typeface="Comic Sans MS"/>
                        </a:rPr>
                        <a:t>n	</a:t>
                      </a:r>
                      <a:r>
                        <a:rPr sz="2000" b="0" spc="-5" dirty="0">
                          <a:solidFill>
                            <a:srgbClr val="3333FF"/>
                          </a:solidFill>
                          <a:latin typeface="+mj-lt"/>
                          <a:cs typeface="Comic Sans MS"/>
                        </a:rPr>
                        <a:t>and  </a:t>
                      </a:r>
                      <a:r>
                        <a:rPr sz="2000" b="0" dirty="0">
                          <a:solidFill>
                            <a:srgbClr val="3333FF"/>
                          </a:solidFill>
                          <a:latin typeface="+mj-lt"/>
                          <a:cs typeface="Comic Sans MS"/>
                        </a:rPr>
                        <a:t>compression </a:t>
                      </a:r>
                      <a:r>
                        <a:rPr sz="2000" b="0" spc="-5" dirty="0">
                          <a:solidFill>
                            <a:srgbClr val="3333FF"/>
                          </a:solidFill>
                          <a:latin typeface="+mj-lt"/>
                          <a:cs typeface="Comic Sans MS"/>
                        </a:rPr>
                        <a:t>is</a:t>
                      </a:r>
                      <a:r>
                        <a:rPr sz="2000" b="0" spc="-50" dirty="0">
                          <a:solidFill>
                            <a:srgbClr val="3333FF"/>
                          </a:solidFill>
                          <a:latin typeface="+mj-lt"/>
                          <a:cs typeface="Comic Sans MS"/>
                        </a:rPr>
                        <a:t> </a:t>
                      </a:r>
                      <a:r>
                        <a:rPr sz="2000" b="0" dirty="0">
                          <a:solidFill>
                            <a:srgbClr val="3333FF"/>
                          </a:solidFill>
                          <a:latin typeface="+mj-lt"/>
                          <a:cs typeface="Comic Sans MS"/>
                        </a:rPr>
                        <a:t>high.</a:t>
                      </a:r>
                      <a:endParaRPr sz="2000" b="0">
                        <a:latin typeface="+mj-lt"/>
                        <a:cs typeface="Comic Sans MS"/>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155">
                        <a:lnSpc>
                          <a:spcPct val="100000"/>
                        </a:lnSpc>
                        <a:spcBef>
                          <a:spcPts val="450"/>
                        </a:spcBef>
                      </a:pPr>
                      <a:r>
                        <a:rPr sz="2000" b="0" dirty="0">
                          <a:solidFill>
                            <a:srgbClr val="3333FF"/>
                          </a:solidFill>
                          <a:latin typeface="+mj-lt"/>
                          <a:cs typeface="Comic Sans MS"/>
                        </a:rPr>
                        <a:t>Low.</a:t>
                      </a:r>
                      <a:endParaRPr sz="2000" b="0">
                        <a:latin typeface="+mj-lt"/>
                        <a:cs typeface="Comic Sans MS"/>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689505">
                <a:tc>
                  <a:txBody>
                    <a:bodyPr/>
                    <a:lstStyle/>
                    <a:p>
                      <a:pPr algn="ctr">
                        <a:lnSpc>
                          <a:spcPct val="100000"/>
                        </a:lnSpc>
                        <a:spcBef>
                          <a:spcPts val="270"/>
                        </a:spcBef>
                      </a:pPr>
                      <a:r>
                        <a:rPr sz="2000" b="0" dirty="0">
                          <a:solidFill>
                            <a:srgbClr val="CC3300"/>
                          </a:solidFill>
                          <a:latin typeface="+mj-lt"/>
                          <a:cs typeface="Comic Sans MS"/>
                        </a:rPr>
                        <a:t>5</a:t>
                      </a:r>
                      <a:endParaRPr sz="2000" b="0">
                        <a:latin typeface="+mj-lt"/>
                        <a:cs typeface="Comic Sans MS"/>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66370" marR="130810" indent="-32384">
                        <a:lnSpc>
                          <a:spcPct val="100000"/>
                        </a:lnSpc>
                        <a:spcBef>
                          <a:spcPts val="270"/>
                        </a:spcBef>
                      </a:pPr>
                      <a:r>
                        <a:rPr sz="2000" b="0" dirty="0">
                          <a:solidFill>
                            <a:srgbClr val="CC3300"/>
                          </a:solidFill>
                          <a:latin typeface="+mj-lt"/>
                          <a:cs typeface="Comic Sans MS"/>
                        </a:rPr>
                        <a:t>Volume</a:t>
                      </a:r>
                      <a:r>
                        <a:rPr sz="2000" b="0" spc="5" dirty="0">
                          <a:solidFill>
                            <a:srgbClr val="CC3300"/>
                          </a:solidFill>
                          <a:latin typeface="+mj-lt"/>
                          <a:cs typeface="Comic Sans MS"/>
                        </a:rPr>
                        <a:t>t</a:t>
                      </a:r>
                      <a:r>
                        <a:rPr sz="2000" b="0" spc="-5" dirty="0">
                          <a:solidFill>
                            <a:srgbClr val="CC3300"/>
                          </a:solidFill>
                          <a:latin typeface="+mj-lt"/>
                          <a:cs typeface="Comic Sans MS"/>
                        </a:rPr>
                        <a:t>ric  efficiency</a:t>
                      </a:r>
                      <a:endParaRPr sz="2000" b="0">
                        <a:latin typeface="+mj-lt"/>
                        <a:cs typeface="Comic Sans MS"/>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155">
                        <a:lnSpc>
                          <a:spcPct val="100000"/>
                        </a:lnSpc>
                        <a:spcBef>
                          <a:spcPts val="270"/>
                        </a:spcBef>
                      </a:pPr>
                      <a:r>
                        <a:rPr sz="2000" b="0" dirty="0">
                          <a:solidFill>
                            <a:srgbClr val="CC3300"/>
                          </a:solidFill>
                          <a:latin typeface="+mj-lt"/>
                          <a:cs typeface="Comic Sans MS"/>
                        </a:rPr>
                        <a:t>Low</a:t>
                      </a:r>
                      <a:endParaRPr sz="2000" b="0">
                        <a:latin typeface="+mj-lt"/>
                        <a:cs typeface="Comic Sans MS"/>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155">
                        <a:lnSpc>
                          <a:spcPct val="100000"/>
                        </a:lnSpc>
                        <a:spcBef>
                          <a:spcPts val="270"/>
                        </a:spcBef>
                      </a:pPr>
                      <a:r>
                        <a:rPr sz="2000" b="0" spc="-5" dirty="0">
                          <a:solidFill>
                            <a:srgbClr val="CC3300"/>
                          </a:solidFill>
                          <a:latin typeface="+mj-lt"/>
                          <a:cs typeface="Comic Sans MS"/>
                        </a:rPr>
                        <a:t>High, </a:t>
                      </a:r>
                      <a:r>
                        <a:rPr sz="2000" b="0" dirty="0">
                          <a:solidFill>
                            <a:srgbClr val="CC3300"/>
                          </a:solidFill>
                          <a:latin typeface="+mj-lt"/>
                          <a:cs typeface="Comic Sans MS"/>
                        </a:rPr>
                        <a:t>Nearly</a:t>
                      </a:r>
                      <a:r>
                        <a:rPr sz="2000" b="0" spc="-35" dirty="0">
                          <a:solidFill>
                            <a:srgbClr val="CC3300"/>
                          </a:solidFill>
                          <a:latin typeface="+mj-lt"/>
                          <a:cs typeface="Comic Sans MS"/>
                        </a:rPr>
                        <a:t> </a:t>
                      </a:r>
                      <a:r>
                        <a:rPr sz="2000" b="0" dirty="0">
                          <a:solidFill>
                            <a:srgbClr val="CC3300"/>
                          </a:solidFill>
                          <a:latin typeface="+mj-lt"/>
                          <a:cs typeface="Comic Sans MS"/>
                        </a:rPr>
                        <a:t>100%.</a:t>
                      </a:r>
                      <a:endParaRPr sz="2000" b="0">
                        <a:latin typeface="+mj-lt"/>
                        <a:cs typeface="Comic Sans MS"/>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985007">
                <a:tc>
                  <a:txBody>
                    <a:bodyPr/>
                    <a:lstStyle/>
                    <a:p>
                      <a:pPr algn="ctr">
                        <a:lnSpc>
                          <a:spcPct val="100000"/>
                        </a:lnSpc>
                        <a:spcBef>
                          <a:spcPts val="270"/>
                        </a:spcBef>
                      </a:pPr>
                      <a:r>
                        <a:rPr sz="2000" b="0" dirty="0">
                          <a:solidFill>
                            <a:srgbClr val="FF3399"/>
                          </a:solidFill>
                          <a:latin typeface="+mj-lt"/>
                          <a:cs typeface="Comic Sans MS"/>
                        </a:rPr>
                        <a:t>6</a:t>
                      </a:r>
                      <a:endParaRPr sz="2000" b="0" dirty="0">
                        <a:latin typeface="+mj-lt"/>
                        <a:cs typeface="Comic Sans MS"/>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790" marR="92075" algn="ctr">
                        <a:lnSpc>
                          <a:spcPct val="100000"/>
                        </a:lnSpc>
                        <a:spcBef>
                          <a:spcPts val="270"/>
                        </a:spcBef>
                      </a:pPr>
                      <a:r>
                        <a:rPr sz="2000" b="0" spc="-5" dirty="0">
                          <a:solidFill>
                            <a:srgbClr val="FF3399"/>
                          </a:solidFill>
                          <a:latin typeface="+mj-lt"/>
                          <a:cs typeface="Comic Sans MS"/>
                        </a:rPr>
                        <a:t>Fluid</a:t>
                      </a:r>
                      <a:r>
                        <a:rPr sz="2000" b="0" spc="-80" dirty="0">
                          <a:solidFill>
                            <a:srgbClr val="FF3399"/>
                          </a:solidFill>
                          <a:latin typeface="+mj-lt"/>
                          <a:cs typeface="Comic Sans MS"/>
                        </a:rPr>
                        <a:t> </a:t>
                      </a:r>
                      <a:r>
                        <a:rPr sz="2000" b="0" spc="-5" dirty="0">
                          <a:solidFill>
                            <a:srgbClr val="FF3399"/>
                          </a:solidFill>
                          <a:latin typeface="+mj-lt"/>
                          <a:cs typeface="Comic Sans MS"/>
                        </a:rPr>
                        <a:t>phase  </a:t>
                      </a:r>
                      <a:r>
                        <a:rPr sz="2000" b="0" dirty="0">
                          <a:solidFill>
                            <a:srgbClr val="FF3399"/>
                          </a:solidFill>
                          <a:latin typeface="+mj-lt"/>
                          <a:cs typeface="Comic Sans MS"/>
                        </a:rPr>
                        <a:t>change</a:t>
                      </a:r>
                      <a:r>
                        <a:rPr sz="2000" b="0" spc="-114" dirty="0">
                          <a:solidFill>
                            <a:srgbClr val="FF3399"/>
                          </a:solidFill>
                          <a:latin typeface="+mj-lt"/>
                          <a:cs typeface="Comic Sans MS"/>
                        </a:rPr>
                        <a:t> </a:t>
                      </a:r>
                      <a:r>
                        <a:rPr sz="2000" b="0" dirty="0">
                          <a:solidFill>
                            <a:srgbClr val="FF3399"/>
                          </a:solidFill>
                          <a:latin typeface="+mj-lt"/>
                          <a:cs typeface="Comic Sans MS"/>
                        </a:rPr>
                        <a:t>and  surging</a:t>
                      </a:r>
                      <a:endParaRPr sz="2000" b="0" dirty="0">
                        <a:latin typeface="+mj-lt"/>
                        <a:cs typeface="Comic Sans MS"/>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155" marR="78740" algn="just">
                        <a:lnSpc>
                          <a:spcPct val="100000"/>
                        </a:lnSpc>
                        <a:spcBef>
                          <a:spcPts val="270"/>
                        </a:spcBef>
                        <a:tabLst>
                          <a:tab pos="2295525" algn="l"/>
                        </a:tabLst>
                      </a:pPr>
                      <a:r>
                        <a:rPr sz="2000" b="0" spc="-5" dirty="0">
                          <a:solidFill>
                            <a:srgbClr val="FF3399"/>
                          </a:solidFill>
                          <a:latin typeface="+mj-lt"/>
                          <a:cs typeface="Comic Sans MS"/>
                        </a:rPr>
                        <a:t>Rel</a:t>
                      </a:r>
                      <a:r>
                        <a:rPr sz="2000" b="0" spc="-10" dirty="0">
                          <a:solidFill>
                            <a:srgbClr val="FF3399"/>
                          </a:solidFill>
                          <a:latin typeface="+mj-lt"/>
                          <a:cs typeface="Comic Sans MS"/>
                        </a:rPr>
                        <a:t>a</a:t>
                      </a:r>
                      <a:r>
                        <a:rPr sz="2000" b="0" spc="-5" dirty="0">
                          <a:solidFill>
                            <a:srgbClr val="FF3399"/>
                          </a:solidFill>
                          <a:latin typeface="+mj-lt"/>
                          <a:cs typeface="Comic Sans MS"/>
                        </a:rPr>
                        <a:t>tivel</a:t>
                      </a:r>
                      <a:r>
                        <a:rPr sz="2000" b="0" dirty="0">
                          <a:solidFill>
                            <a:srgbClr val="FF3399"/>
                          </a:solidFill>
                          <a:latin typeface="+mj-lt"/>
                          <a:cs typeface="Comic Sans MS"/>
                        </a:rPr>
                        <a:t>y	m</a:t>
                      </a:r>
                      <a:r>
                        <a:rPr sz="2000" b="0" spc="-10" dirty="0">
                          <a:solidFill>
                            <a:srgbClr val="FF3399"/>
                          </a:solidFill>
                          <a:latin typeface="+mj-lt"/>
                          <a:cs typeface="Comic Sans MS"/>
                        </a:rPr>
                        <a:t>in</a:t>
                      </a:r>
                      <a:r>
                        <a:rPr sz="2000" b="0" dirty="0">
                          <a:solidFill>
                            <a:srgbClr val="FF3399"/>
                          </a:solidFill>
                          <a:latin typeface="+mj-lt"/>
                          <a:cs typeface="Comic Sans MS"/>
                        </a:rPr>
                        <a:t>or  </a:t>
                      </a:r>
                      <a:r>
                        <a:rPr sz="2000" b="0" spc="-5" dirty="0">
                          <a:solidFill>
                            <a:srgbClr val="FF3399"/>
                          </a:solidFill>
                          <a:latin typeface="+mj-lt"/>
                          <a:cs typeface="Comic Sans MS"/>
                        </a:rPr>
                        <a:t>importance </a:t>
                      </a:r>
                      <a:r>
                        <a:rPr sz="2000" b="0" spc="-10" dirty="0">
                          <a:solidFill>
                            <a:srgbClr val="FF3399"/>
                          </a:solidFill>
                          <a:latin typeface="+mj-lt"/>
                          <a:cs typeface="Comic Sans MS"/>
                        </a:rPr>
                        <a:t>in </a:t>
                      </a:r>
                      <a:r>
                        <a:rPr sz="2000" b="0" spc="-5" dirty="0">
                          <a:solidFill>
                            <a:srgbClr val="FF3399"/>
                          </a:solidFill>
                          <a:latin typeface="+mj-lt"/>
                          <a:cs typeface="Comic Sans MS"/>
                        </a:rPr>
                        <a:t>these  </a:t>
                      </a:r>
                      <a:r>
                        <a:rPr sz="2000" b="0" dirty="0">
                          <a:solidFill>
                            <a:srgbClr val="FF3399"/>
                          </a:solidFill>
                          <a:latin typeface="+mj-lt"/>
                          <a:cs typeface="Comic Sans MS"/>
                        </a:rPr>
                        <a:t>machines.</a:t>
                      </a:r>
                      <a:endParaRPr sz="2000" b="0" dirty="0">
                        <a:latin typeface="+mj-lt"/>
                        <a:cs typeface="Comic Sans MS"/>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155" marR="85090" algn="just">
                        <a:lnSpc>
                          <a:spcPct val="100000"/>
                        </a:lnSpc>
                        <a:spcBef>
                          <a:spcPts val="270"/>
                        </a:spcBef>
                      </a:pPr>
                      <a:r>
                        <a:rPr sz="2000" b="0" spc="-5" dirty="0">
                          <a:solidFill>
                            <a:srgbClr val="FF3399"/>
                          </a:solidFill>
                          <a:latin typeface="+mj-lt"/>
                          <a:cs typeface="Comic Sans MS"/>
                        </a:rPr>
                        <a:t>Cavitation, surging cause  </a:t>
                      </a:r>
                      <a:r>
                        <a:rPr sz="2000" b="0" dirty="0">
                          <a:solidFill>
                            <a:srgbClr val="FF3399"/>
                          </a:solidFill>
                          <a:latin typeface="+mj-lt"/>
                          <a:cs typeface="Comic Sans MS"/>
                        </a:rPr>
                        <a:t>serious </a:t>
                      </a:r>
                      <a:r>
                        <a:rPr sz="2000" b="0" spc="-5" dirty="0">
                          <a:solidFill>
                            <a:srgbClr val="FF3399"/>
                          </a:solidFill>
                          <a:latin typeface="+mj-lt"/>
                          <a:cs typeface="Comic Sans MS"/>
                        </a:rPr>
                        <a:t>difficulties </a:t>
                      </a:r>
                      <a:r>
                        <a:rPr sz="2000" b="0" dirty="0">
                          <a:solidFill>
                            <a:srgbClr val="FF3399"/>
                          </a:solidFill>
                          <a:latin typeface="+mj-lt"/>
                          <a:cs typeface="Comic Sans MS"/>
                        </a:rPr>
                        <a:t>to</a:t>
                      </a:r>
                      <a:r>
                        <a:rPr sz="2000" b="0" spc="715" dirty="0">
                          <a:solidFill>
                            <a:srgbClr val="FF3399"/>
                          </a:solidFill>
                          <a:latin typeface="+mj-lt"/>
                          <a:cs typeface="Comic Sans MS"/>
                        </a:rPr>
                        <a:t> </a:t>
                      </a:r>
                      <a:r>
                        <a:rPr sz="2000" b="0" spc="-5" dirty="0">
                          <a:solidFill>
                            <a:srgbClr val="FF3399"/>
                          </a:solidFill>
                          <a:latin typeface="+mj-lt"/>
                          <a:cs typeface="Comic Sans MS"/>
                        </a:rPr>
                        <a:t>smooth  </a:t>
                      </a:r>
                      <a:r>
                        <a:rPr sz="2000" b="0" dirty="0">
                          <a:solidFill>
                            <a:srgbClr val="FF3399"/>
                          </a:solidFill>
                          <a:latin typeface="+mj-lt"/>
                          <a:cs typeface="Comic Sans MS"/>
                        </a:rPr>
                        <a:t>operation.</a:t>
                      </a:r>
                      <a:endParaRPr sz="2000" b="0" dirty="0">
                        <a:latin typeface="+mj-lt"/>
                        <a:cs typeface="Comic Sans MS"/>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641604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54943" y="592574"/>
            <a:ext cx="4634603" cy="523220"/>
          </a:xfrm>
          <a:prstGeom prst="rect">
            <a:avLst/>
          </a:prstGeom>
        </p:spPr>
        <p:txBody>
          <a:bodyPr wrap="none">
            <a:spAutoFit/>
          </a:bodyPr>
          <a:lstStyle/>
          <a:p>
            <a:pPr marL="12700" algn="ctr" fontAlgn="auto">
              <a:spcBef>
                <a:spcPts val="105"/>
              </a:spcBef>
              <a:spcAft>
                <a:spcPts val="0"/>
              </a:spcAft>
              <a:defRPr/>
            </a:pPr>
            <a:r>
              <a:rPr lang="en-US" sz="2800" b="1" kern="0" spc="-5" dirty="0">
                <a:solidFill>
                  <a:srgbClr val="0070C0"/>
                </a:solidFill>
                <a:latin typeface="+mj-lt"/>
                <a:cs typeface="Comic Sans MS"/>
              </a:rPr>
              <a:t>Applications of </a:t>
            </a:r>
            <a:r>
              <a:rPr lang="en-US" sz="2800" b="1" kern="0" spc="-5" dirty="0" smtClean="0">
                <a:solidFill>
                  <a:srgbClr val="0070C0"/>
                </a:solidFill>
                <a:latin typeface="+mj-lt"/>
                <a:cs typeface="Comic Sans MS"/>
              </a:rPr>
              <a:t>Turbo machines</a:t>
            </a:r>
            <a:endParaRPr lang="en-US" sz="2800" b="1" kern="0" dirty="0">
              <a:solidFill>
                <a:srgbClr val="0070C0"/>
              </a:solidFill>
              <a:latin typeface="+mj-lt"/>
              <a:cs typeface="Comic Sans MS"/>
            </a:endParaRPr>
          </a:p>
        </p:txBody>
      </p:sp>
      <p:pic>
        <p:nvPicPr>
          <p:cNvPr id="3" name="Picture 2" descr="C:\Users\ashish.utage\Downloads\IMG_20180704_105629.jpg"/>
          <p:cNvPicPr>
            <a:picLocks noChangeAspect="1" noChangeArrowheads="1"/>
          </p:cNvPicPr>
          <p:nvPr/>
        </p:nvPicPr>
        <p:blipFill>
          <a:blip r:embed="rId2"/>
          <a:srcRect/>
          <a:stretch>
            <a:fillRect/>
          </a:stretch>
        </p:blipFill>
        <p:spPr bwMode="auto">
          <a:xfrm>
            <a:off x="2681418" y="1426689"/>
            <a:ext cx="8181654" cy="4682089"/>
          </a:xfrm>
          <a:prstGeom prst="rect">
            <a:avLst/>
          </a:prstGeom>
          <a:noFill/>
          <a:ln w="9525">
            <a:noFill/>
            <a:miter lim="800000"/>
            <a:headEnd/>
            <a:tailEnd/>
          </a:ln>
        </p:spPr>
      </p:pic>
    </p:spTree>
    <p:extLst>
      <p:ext uri="{BB962C8B-B14F-4D97-AF65-F5344CB8AC3E}">
        <p14:creationId xmlns:p14="http://schemas.microsoft.com/office/powerpoint/2010/main" val="2420618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FCB6B02-C1BD-4CC4-A780-CD88FF3A0563}"/>
              </a:ext>
            </a:extLst>
          </p:cNvPr>
          <p:cNvSpPr txBox="1"/>
          <p:nvPr/>
        </p:nvSpPr>
        <p:spPr>
          <a:xfrm>
            <a:off x="4126866" y="2732741"/>
            <a:ext cx="4669662" cy="1015663"/>
          </a:xfrm>
          <a:prstGeom prst="rect">
            <a:avLst/>
          </a:prstGeom>
          <a:noFill/>
        </p:spPr>
        <p:txBody>
          <a:bodyPr wrap="square" rtlCol="0">
            <a:spAutoFit/>
          </a:bodyPr>
          <a:lstStyle/>
          <a:p>
            <a:pPr algn="ctr"/>
            <a:r>
              <a:rPr lang="en-IN" sz="6000" b="1" dirty="0">
                <a:solidFill>
                  <a:srgbClr val="203864"/>
                </a:solidFill>
              </a:rPr>
              <a:t>Thank </a:t>
            </a:r>
            <a:r>
              <a:rPr lang="en-IN" sz="6000" b="1" dirty="0" smtClean="0">
                <a:solidFill>
                  <a:srgbClr val="203864"/>
                </a:solidFill>
              </a:rPr>
              <a:t>You..! </a:t>
            </a:r>
            <a:endParaRPr lang="en-IN" sz="6000" b="1" dirty="0">
              <a:solidFill>
                <a:srgbClr val="203864"/>
              </a:solidFill>
            </a:endParaRPr>
          </a:p>
        </p:txBody>
      </p:sp>
      <p:sp>
        <p:nvSpPr>
          <p:cNvPr id="3" name="Rectangle 2"/>
          <p:cNvSpPr>
            <a:spLocks noChangeArrowheads="1"/>
          </p:cNvSpPr>
          <p:nvPr/>
        </p:nvSpPr>
        <p:spPr bwMode="auto">
          <a:xfrm>
            <a:off x="3520440" y="3971169"/>
            <a:ext cx="6248400" cy="707886"/>
          </a:xfrm>
          <a:prstGeom prst="rect">
            <a:avLst/>
          </a:prstGeom>
          <a:solidFill>
            <a:schemeClr val="bg1"/>
          </a:solidFill>
          <a:ln w="9525">
            <a:noFill/>
            <a:miter lim="800000"/>
            <a:headEnd/>
            <a:tailEnd/>
          </a:ln>
        </p:spPr>
        <p:txBody>
          <a:bodyPr wrap="square">
            <a:spAutoFit/>
          </a:bodyPr>
          <a:lstStyle>
            <a:defPPr>
              <a:defRPr lang="en-US"/>
            </a:defPPr>
            <a:lvl1pPr algn="l" rtl="0" fontAlgn="base">
              <a:spcBef>
                <a:spcPct val="0"/>
              </a:spcBef>
              <a:spcAft>
                <a:spcPct val="0"/>
              </a:spcAft>
              <a:defRPr kumimoji="1" sz="2800" kern="1200">
                <a:solidFill>
                  <a:schemeClr val="tx1"/>
                </a:solidFill>
                <a:latin typeface="Tahoma" pitchFamily="34" charset="0"/>
                <a:ea typeface="+mn-ea"/>
                <a:cs typeface="+mn-cs"/>
              </a:defRPr>
            </a:lvl1pPr>
            <a:lvl2pPr marL="457200" algn="l" rtl="0" fontAlgn="base">
              <a:spcBef>
                <a:spcPct val="0"/>
              </a:spcBef>
              <a:spcAft>
                <a:spcPct val="0"/>
              </a:spcAft>
              <a:defRPr kumimoji="1" sz="2800" kern="1200">
                <a:solidFill>
                  <a:schemeClr val="tx1"/>
                </a:solidFill>
                <a:latin typeface="Tahoma" pitchFamily="34" charset="0"/>
                <a:ea typeface="+mn-ea"/>
                <a:cs typeface="+mn-cs"/>
              </a:defRPr>
            </a:lvl2pPr>
            <a:lvl3pPr marL="914400" algn="l" rtl="0" fontAlgn="base">
              <a:spcBef>
                <a:spcPct val="0"/>
              </a:spcBef>
              <a:spcAft>
                <a:spcPct val="0"/>
              </a:spcAft>
              <a:defRPr kumimoji="1" sz="2800" kern="1200">
                <a:solidFill>
                  <a:schemeClr val="tx1"/>
                </a:solidFill>
                <a:latin typeface="Tahoma" pitchFamily="34" charset="0"/>
                <a:ea typeface="+mn-ea"/>
                <a:cs typeface="+mn-cs"/>
              </a:defRPr>
            </a:lvl3pPr>
            <a:lvl4pPr marL="1371600" algn="l" rtl="0" fontAlgn="base">
              <a:spcBef>
                <a:spcPct val="0"/>
              </a:spcBef>
              <a:spcAft>
                <a:spcPct val="0"/>
              </a:spcAft>
              <a:defRPr kumimoji="1" sz="2800" kern="1200">
                <a:solidFill>
                  <a:schemeClr val="tx1"/>
                </a:solidFill>
                <a:latin typeface="Tahoma" pitchFamily="34" charset="0"/>
                <a:ea typeface="+mn-ea"/>
                <a:cs typeface="+mn-cs"/>
              </a:defRPr>
            </a:lvl4pPr>
            <a:lvl5pPr marL="1828800" algn="l" rtl="0" fontAlgn="base">
              <a:spcBef>
                <a:spcPct val="0"/>
              </a:spcBef>
              <a:spcAft>
                <a:spcPct val="0"/>
              </a:spcAft>
              <a:defRPr kumimoji="1" sz="2800" kern="1200">
                <a:solidFill>
                  <a:schemeClr val="tx1"/>
                </a:solidFill>
                <a:latin typeface="Tahoma" pitchFamily="34" charset="0"/>
                <a:ea typeface="+mn-ea"/>
                <a:cs typeface="+mn-cs"/>
              </a:defRPr>
            </a:lvl5pPr>
            <a:lvl6pPr marL="2286000" algn="l" defTabSz="914400" rtl="0" eaLnBrk="1" latinLnBrk="0" hangingPunct="1">
              <a:defRPr kumimoji="1" sz="2800" kern="1200">
                <a:solidFill>
                  <a:schemeClr val="tx1"/>
                </a:solidFill>
                <a:latin typeface="Tahoma" pitchFamily="34" charset="0"/>
                <a:ea typeface="+mn-ea"/>
                <a:cs typeface="+mn-cs"/>
              </a:defRPr>
            </a:lvl6pPr>
            <a:lvl7pPr marL="2743200" algn="l" defTabSz="914400" rtl="0" eaLnBrk="1" latinLnBrk="0" hangingPunct="1">
              <a:defRPr kumimoji="1" sz="2800" kern="1200">
                <a:solidFill>
                  <a:schemeClr val="tx1"/>
                </a:solidFill>
                <a:latin typeface="Tahoma" pitchFamily="34" charset="0"/>
                <a:ea typeface="+mn-ea"/>
                <a:cs typeface="+mn-cs"/>
              </a:defRPr>
            </a:lvl7pPr>
            <a:lvl8pPr marL="3200400" algn="l" defTabSz="914400" rtl="0" eaLnBrk="1" latinLnBrk="0" hangingPunct="1">
              <a:defRPr kumimoji="1" sz="2800" kern="1200">
                <a:solidFill>
                  <a:schemeClr val="tx1"/>
                </a:solidFill>
                <a:latin typeface="Tahoma" pitchFamily="34" charset="0"/>
                <a:ea typeface="+mn-ea"/>
                <a:cs typeface="+mn-cs"/>
              </a:defRPr>
            </a:lvl8pPr>
            <a:lvl9pPr marL="3657600" algn="l" defTabSz="914400" rtl="0" eaLnBrk="1" latinLnBrk="0" hangingPunct="1">
              <a:defRPr kumimoji="1" sz="2800" kern="1200">
                <a:solidFill>
                  <a:schemeClr val="tx1"/>
                </a:solidFill>
                <a:latin typeface="Tahoma" pitchFamily="34" charset="0"/>
                <a:ea typeface="+mn-ea"/>
                <a:cs typeface="+mn-cs"/>
              </a:defRPr>
            </a:lvl9pPr>
          </a:lstStyle>
          <a:p>
            <a:pPr algn="ctr"/>
            <a:r>
              <a:rPr lang="en-US" sz="4000" b="1" dirty="0" smtClean="0">
                <a:solidFill>
                  <a:srgbClr val="4933ED"/>
                </a:solidFill>
                <a:latin typeface="Cambria Math" pitchFamily="18" charset="0"/>
              </a:rPr>
              <a:t>Any Questions ???</a:t>
            </a:r>
            <a:endParaRPr lang="en-US" sz="3200" dirty="0">
              <a:solidFill>
                <a:srgbClr val="4933ED"/>
              </a:solidFill>
              <a:latin typeface="Cambria Math" pitchFamily="18" charset="0"/>
            </a:endParaRPr>
          </a:p>
        </p:txBody>
      </p:sp>
    </p:spTree>
    <p:extLst>
      <p:ext uri="{BB962C8B-B14F-4D97-AF65-F5344CB8AC3E}">
        <p14:creationId xmlns:p14="http://schemas.microsoft.com/office/powerpoint/2010/main" val="33162497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D0B7336DB0EF46B7F40ABC3848B483" ma:contentTypeVersion="2" ma:contentTypeDescription="Create a new document." ma:contentTypeScope="" ma:versionID="ebb9f7a8d360290e7d11fd7520da55ae">
  <xsd:schema xmlns:xsd="http://www.w3.org/2001/XMLSchema" xmlns:xs="http://www.w3.org/2001/XMLSchema" xmlns:p="http://schemas.microsoft.com/office/2006/metadata/properties" xmlns:ns2="814a9b96-91a8-4d08-9f6d-3905d344d88c" targetNamespace="http://schemas.microsoft.com/office/2006/metadata/properties" ma:root="true" ma:fieldsID="327d87020809f7fa98400ed42c600d9b" ns2:_="">
    <xsd:import namespace="814a9b96-91a8-4d08-9f6d-3905d344d88c"/>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4a9b96-91a8-4d08-9f6d-3905d344d88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69D7ABA-F664-4878-B0C7-8CD9CA444DCD}"/>
</file>

<file path=customXml/itemProps2.xml><?xml version="1.0" encoding="utf-8"?>
<ds:datastoreItem xmlns:ds="http://schemas.openxmlformats.org/officeDocument/2006/customXml" ds:itemID="{17B7C917-DE42-4CE9-A395-62856CC6ABD2}"/>
</file>

<file path=customXml/itemProps3.xml><?xml version="1.0" encoding="utf-8"?>
<ds:datastoreItem xmlns:ds="http://schemas.openxmlformats.org/officeDocument/2006/customXml" ds:itemID="{80A2B0DA-13C2-4EB4-810F-EB93B32E1EB0}"/>
</file>

<file path=docProps/app.xml><?xml version="1.0" encoding="utf-8"?>
<Properties xmlns="http://schemas.openxmlformats.org/officeDocument/2006/extended-properties" xmlns:vt="http://schemas.openxmlformats.org/officeDocument/2006/docPropsVTypes">
  <TotalTime>6116</TotalTime>
  <Words>1511</Words>
  <Application>Microsoft Office PowerPoint</Application>
  <PresentationFormat>Widescreen</PresentationFormat>
  <Paragraphs>190</Paragraphs>
  <Slides>24</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24</vt:i4>
      </vt:variant>
    </vt:vector>
  </HeadingPairs>
  <TitlesOfParts>
    <vt:vector size="37" baseType="lpstr">
      <vt:lpstr>Arial</vt:lpstr>
      <vt:lpstr>Bahnschrift Condensed</vt:lpstr>
      <vt:lpstr>Calibri</vt:lpstr>
      <vt:lpstr>Calibri Light</vt:lpstr>
      <vt:lpstr>Cambria Math</vt:lpstr>
      <vt:lpstr>Comic Sans MS</vt:lpstr>
      <vt:lpstr>Tahoma</vt:lpstr>
      <vt:lpstr>Times New Roman</vt:lpstr>
      <vt:lpstr>Trebuchet MS</vt:lpstr>
      <vt:lpstr>WenQuanYi Micro Hei</vt:lpstr>
      <vt:lpstr>Wingdings</vt:lpstr>
      <vt:lpstr>Wingdings 2</vt:lpstr>
      <vt:lpstr>Office Theme</vt:lpstr>
      <vt:lpstr>PowerPoint Presentation</vt:lpstr>
      <vt:lpstr>PowerPoint Presentation</vt:lpstr>
      <vt:lpstr> Introduction to Turbo Machines</vt:lpstr>
      <vt:lpstr> Introduction to Turbo Machines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Atul M.Elgandelwar</dc:creator>
  <cp:lastModifiedBy>Windows User</cp:lastModifiedBy>
  <cp:revision>250</cp:revision>
  <dcterms:created xsi:type="dcterms:W3CDTF">2019-12-20T07:07:34Z</dcterms:created>
  <dcterms:modified xsi:type="dcterms:W3CDTF">2020-07-23T11:05:35Z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0x01010033D0B7336DB0EF46B7F40ABC3848B483</vt:lpwstr>
  </property>
</Properties>
</file>